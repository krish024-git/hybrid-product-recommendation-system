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22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328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and introduce yourself and your project title.
Aurora AI is a hybrid recommendation engine built for online shopping.
It combines two machine learning approaches to suggest better products.
Briefly mention this presentation covers the problem, design, and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recommendation system predicts what a user will like.
It works by learning from data such as past purchases and ratings.
Give everyday examples — shopping sites, movies, and music apps.
This sets up why our project focuses on product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stores now list thousands of near-identical products.
Shoppers face decision fatigue and spend too much time searching.
Without personalization, results feel generic and irrelevant.
This directly leads to visitors leaving without buying — a high bounce 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goal is to personalize product recommendations for each user.
We also aim to reduce the time shoppers spend searching manually.
A better experience keeps users engaged and satisfied.
Together these objectives improve the overall shopping journey.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systems are used across many major industries.
E-commerce platforms use them to suggest relevant products.
Streaming video and music services use them to personalize content feeds.
This shows the technology is proven and valuable at large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Aurora AI is built with Python and the Flask web framework.
Data is stored in SQLite and processed using Pandas and NumPy.
Scikit-learn and the Surprise library power the recommendation models.
The interface uses HTML, Tailwind CSS, and JavaScript, hosted on GitHub.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is organized as a structured product catalog.
Each product has attributes such as category, brand, and description.
User ratings provide the signal used for collaborative filtering.
Text descriptions power content-based similarity matching.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request flows from the website into the Flask backend.
The backend calls the recommendation engine to process the request.
The engine runs TF-IDF and SVD models together as a hybrid approach.
The final output is a ranked list of recommended products.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begins when a user searches on the website.
The search query checks the database for matching products.
The machine learning model then generates recommendations.
These recommendations are displayed back to the user on the website.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Content-based filtering recommends items similar to what a user already likes.
Collaborative filtering recommends items liked by similar users.
Each approach has strengths, but also individual limitations.
Aurora AI combines both into a single hybrid recommendation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Content-based filtering looks at product attributes, not other users.
TF-IDF turns text descriptions into numeric feature vectors.
Cosine similarity finds products with the closest matching vectors.
Example: choosing an iPhone recommends other similar smartphones.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Collaborative filtering uses SVD to analyze the full user-rating matrix.
It finds users with similar rating patterns to the current shopper.
Products those similar users rated highly become recommendations.
This complements content-based filtering inside the hybrid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offers a full shopping experience from home to checkout.
Users can search, filter, and view personalized recommendations.
Product detail pages show analytics and related suggestions.
The interface is fully responsive across devices.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showed the hybrid model returns relevant, well-matched products.
Response times remained fast enough for a smooth shopping experience.
User feedback during testing was positive overall.
Insert your actual measured metrics here before your final viva.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Aurora AI improves personalization and reduces shopper search time.
The hybrid design balances the weaknesses of each individual method.
A key limitation is the cold-start problem for new users or products.
Model performance also depends on having enough rating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versions could add an AI chatbot and voice search.
A dedicated mobile app would extend reach to more shoppers.
Deep learning models could capture even richer user preferences.
Cloud deployment and real-time updates would prepare it for production.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Aurora AI shows a working hybrid recommendation system in practice.
It directly addresses decision fatigue and long search times.
The project combines solid ML foundations with a usable web interface.
It also lays the groundwork for future, production-ready expansion.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for their time and attention.
Invite questions about the design, models, or results.
Be ready to explain TF-IDF, SVD, and the hybrid approach in detail.
Offer to demo the live website if time and setup allow.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wip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8.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png"/><Relationship Id="rId9"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8.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8.png"/><Relationship Id="rId7"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8.png"/><Relationship Id="rId10" Type="http://schemas.openxmlformats.org/officeDocument/2006/relationships/image" Target="../media/image42.svg"/><Relationship Id="rId4" Type="http://schemas.openxmlformats.org/officeDocument/2006/relationships/image" Target="../media/image37.png"/><Relationship Id="rId9" Type="http://schemas.openxmlformats.org/officeDocument/2006/relationships/image" Target="../media/image41.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7.png"/><Relationship Id="rId2" Type="http://schemas.openxmlformats.org/officeDocument/2006/relationships/notesSlide" Target="../notesSlides/notesSlide8.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10.png"/><Relationship Id="rId15" Type="http://schemas.openxmlformats.org/officeDocument/2006/relationships/image" Target="../media/image4.png"/><Relationship Id="rId10" Type="http://schemas.openxmlformats.org/officeDocument/2006/relationships/image" Target="../media/image47.png"/><Relationship Id="rId4" Type="http://schemas.openxmlformats.org/officeDocument/2006/relationships/image" Target="../media/image18.png"/><Relationship Id="rId9" Type="http://schemas.openxmlformats.org/officeDocument/2006/relationships/image" Target="../media/image46.png"/><Relationship Id="rId1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0.png"/><Relationship Id="rId10" Type="http://schemas.openxmlformats.org/officeDocument/2006/relationships/image" Target="../media/image43.png"/><Relationship Id="rId4" Type="http://schemas.openxmlformats.org/officeDocument/2006/relationships/image" Target="../media/image18.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8.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35.png"/><Relationship Id="rId4" Type="http://schemas.openxmlformats.org/officeDocument/2006/relationships/image" Target="../media/image48.png"/></Relationships>
</file>

<file path=ppt/slides/_rels/slide1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8.png"/><Relationship Id="rId7" Type="http://schemas.openxmlformats.org/officeDocument/2006/relationships/image" Target="../media/image5.png"/><Relationship Id="rId12"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50.png"/><Relationship Id="rId10" Type="http://schemas.openxmlformats.org/officeDocument/2006/relationships/image" Target="../media/image58.png"/><Relationship Id="rId4" Type="http://schemas.openxmlformats.org/officeDocument/2006/relationships/image" Target="../media/image54.png"/><Relationship Id="rId9"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3.png"/><Relationship Id="rId4" Type="http://schemas.openxmlformats.org/officeDocument/2006/relationships/image" Target="../media/image62.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6.png"/><Relationship Id="rId4" Type="http://schemas.openxmlformats.org/officeDocument/2006/relationships/image" Target="../media/image65.png"/></Relationships>
</file>

<file path=ppt/slides/_rels/slide16.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8.png"/><Relationship Id="rId7"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24.png"/><Relationship Id="rId4" Type="http://schemas.openxmlformats.org/officeDocument/2006/relationships/image" Target="../media/image49.png"/><Relationship Id="rId9"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aurora/icons/bg_hero.png"/>
          <p:cNvPicPr>
            <a:picLocks noGrp="1" noRot="1" noChangeAspect="1" noMove="1" noResize="1" noEditPoints="1" noAdjustHandles="1" noChangeArrowheads="1" noChangeShapeType="1" noCrop="1"/>
          </p:cNvPicPr>
          <p:nvPr/>
        </p:nvPicPr>
        <p:blipFill>
          <a:blip r:embed="rId3"/>
          <a:stretch>
            <a:fillRect/>
          </a:stretch>
        </p:blipFill>
        <p:spPr>
          <a:xfrm>
            <a:off x="0" y="22627"/>
            <a:ext cx="12191695" cy="6858000"/>
          </a:xfrm>
          <a:prstGeom prst="rect">
            <a:avLst/>
          </a:prstGeom>
        </p:spPr>
      </p:pic>
      <p:sp>
        <p:nvSpPr>
          <p:cNvPr id="3" name="Text 0"/>
          <p:cNvSpPr/>
          <p:nvPr/>
        </p:nvSpPr>
        <p:spPr>
          <a:xfrm>
            <a:off x="640080" y="1417320"/>
            <a:ext cx="5486400" cy="320040"/>
          </a:xfrm>
          <a:prstGeom prst="rect">
            <a:avLst/>
          </a:prstGeom>
          <a:noFill/>
          <a:ln/>
        </p:spPr>
        <p:txBody>
          <a:bodyPr wrap="square" lIns="0" tIns="0" rIns="0" bIns="0" rtlCol="0" anchor="ctr"/>
          <a:lstStyle/>
          <a:p>
            <a:pPr marL="0" indent="0">
              <a:buNone/>
            </a:pPr>
            <a:endParaRPr lang="en-US" sz="1200" dirty="0"/>
          </a:p>
        </p:txBody>
      </p:sp>
      <p:sp>
        <p:nvSpPr>
          <p:cNvPr id="4" name="Text 1"/>
          <p:cNvSpPr/>
          <p:nvPr/>
        </p:nvSpPr>
        <p:spPr>
          <a:xfrm>
            <a:off x="658368" y="1422241"/>
            <a:ext cx="9601200" cy="1051560"/>
          </a:xfrm>
          <a:prstGeom prst="rect">
            <a:avLst/>
          </a:prstGeom>
          <a:noFill/>
          <a:ln/>
        </p:spPr>
        <p:txBody>
          <a:bodyPr wrap="square" lIns="0" tIns="0" rIns="0" bIns="0" rtlCol="0" anchor="ctr"/>
          <a:lstStyle/>
          <a:p>
            <a:pPr marL="0" indent="0">
              <a:buNone/>
            </a:pPr>
            <a:r>
              <a:rPr lang="en-US" sz="6000" b="1" dirty="0">
                <a:solidFill>
                  <a:srgbClr val="15229E"/>
                </a:solidFill>
                <a:latin typeface="Cambria" pitchFamily="34" charset="0"/>
                <a:ea typeface="Cambria" pitchFamily="34" charset="-122"/>
                <a:cs typeface="Cambria" pitchFamily="34" charset="-120"/>
              </a:rPr>
              <a:t>Aurora AI</a:t>
            </a:r>
            <a:endParaRPr lang="en-US" sz="6000" dirty="0"/>
          </a:p>
        </p:txBody>
      </p:sp>
      <p:sp>
        <p:nvSpPr>
          <p:cNvPr id="5" name="Text 2"/>
          <p:cNvSpPr/>
          <p:nvPr/>
        </p:nvSpPr>
        <p:spPr>
          <a:xfrm>
            <a:off x="640080" y="2646175"/>
            <a:ext cx="9875520" cy="822960"/>
          </a:xfrm>
          <a:prstGeom prst="rect">
            <a:avLst/>
          </a:prstGeom>
          <a:noFill/>
          <a:ln/>
        </p:spPr>
        <p:txBody>
          <a:bodyPr wrap="square" lIns="0" tIns="0" rIns="0" bIns="0" rtlCol="0" anchor="ctr"/>
          <a:lstStyle/>
          <a:p>
            <a:pPr marL="0" indent="0">
              <a:buNone/>
            </a:pPr>
            <a:r>
              <a:rPr lang="en-US" sz="3400" dirty="0">
                <a:solidFill>
                  <a:srgbClr val="7C3AED"/>
                </a:solidFill>
                <a:latin typeface="Cambria" pitchFamily="34" charset="0"/>
                <a:ea typeface="Cambria" pitchFamily="34" charset="-122"/>
                <a:cs typeface="Cambria" pitchFamily="34" charset="-120"/>
              </a:rPr>
              <a:t>Recommendation Engine</a:t>
            </a:r>
            <a:endParaRPr lang="en-US" sz="3400" dirty="0"/>
          </a:p>
        </p:txBody>
      </p:sp>
      <p:sp>
        <p:nvSpPr>
          <p:cNvPr id="6" name="Text 3"/>
          <p:cNvSpPr/>
          <p:nvPr/>
        </p:nvSpPr>
        <p:spPr>
          <a:xfrm>
            <a:off x="658368" y="3151974"/>
            <a:ext cx="7863840" cy="1054266"/>
          </a:xfrm>
          <a:prstGeom prst="rect">
            <a:avLst/>
          </a:prstGeom>
          <a:noFill/>
          <a:ln/>
        </p:spPr>
        <p:txBody>
          <a:bodyPr wrap="square" lIns="0" tIns="0" rIns="0" bIns="0" rtlCol="0" anchor="ctr"/>
          <a:lstStyle/>
          <a:p>
            <a:pPr marL="0" indent="0">
              <a:lnSpc>
                <a:spcPct val="125000"/>
              </a:lnSpc>
              <a:buNone/>
            </a:pPr>
            <a:r>
              <a:rPr lang="en-US" sz="1500" dirty="0">
                <a:solidFill>
                  <a:srgbClr val="64748B"/>
                </a:solidFill>
                <a:latin typeface="Calibri" pitchFamily="34" charset="0"/>
                <a:ea typeface="Calibri" pitchFamily="34" charset="-122"/>
                <a:cs typeface="Calibri" pitchFamily="34" charset="-120"/>
              </a:rPr>
              <a:t>A Hybrid Product Recommendation System combining Content-Based Filtering</a:t>
            </a:r>
            <a:endParaRPr lang="en-US" sz="1500" dirty="0"/>
          </a:p>
          <a:p>
            <a:pPr marL="0" indent="0">
              <a:lnSpc>
                <a:spcPct val="125000"/>
              </a:lnSpc>
              <a:buNone/>
            </a:pPr>
            <a:r>
              <a:rPr lang="en-US" sz="1500" dirty="0">
                <a:solidFill>
                  <a:srgbClr val="64748B"/>
                </a:solidFill>
                <a:latin typeface="Calibri" pitchFamily="34" charset="0"/>
                <a:ea typeface="Calibri" pitchFamily="34" charset="-122"/>
                <a:cs typeface="Calibri" pitchFamily="34" charset="-120"/>
              </a:rPr>
              <a:t>and Collaborative Filtering to deliver smarter, personalized shopping.</a:t>
            </a:r>
            <a:endParaRPr lang="en-US" sz="1500" dirty="0"/>
          </a:p>
        </p:txBody>
      </p:sp>
      <p:sp>
        <p:nvSpPr>
          <p:cNvPr id="7" name="Shape 4"/>
          <p:cNvSpPr/>
          <p:nvPr/>
        </p:nvSpPr>
        <p:spPr>
          <a:xfrm>
            <a:off x="640080" y="4892040"/>
            <a:ext cx="5120640" cy="1234440"/>
          </a:xfrm>
          <a:prstGeom prst="roundRect">
            <a:avLst>
              <a:gd name="adj" fmla="val 888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8" name="Shape 5"/>
          <p:cNvSpPr/>
          <p:nvPr/>
        </p:nvSpPr>
        <p:spPr>
          <a:xfrm>
            <a:off x="868680" y="5138928"/>
            <a:ext cx="502920" cy="502920"/>
          </a:xfrm>
          <a:prstGeom prst="ellipse">
            <a:avLst/>
          </a:prstGeom>
          <a:solidFill>
            <a:srgbClr val="E5F7FA"/>
          </a:solidFill>
          <a:ln/>
        </p:spPr>
        <p:txBody>
          <a:bodyPr/>
          <a:lstStyle/>
          <a:p>
            <a:endParaRPr lang="en-US"/>
          </a:p>
        </p:txBody>
      </p:sp>
      <p:pic>
        <p:nvPicPr>
          <p:cNvPr id="9" name="Image 1" descr="/home/claude/aurora/icons/grad_1E3FD6.png"/>
          <p:cNvPicPr>
            <a:picLocks noChangeAspect="1"/>
          </p:cNvPicPr>
          <p:nvPr/>
        </p:nvPicPr>
        <p:blipFill>
          <a:blip r:embed="rId4"/>
          <a:stretch>
            <a:fillRect/>
          </a:stretch>
        </p:blipFill>
        <p:spPr>
          <a:xfrm>
            <a:off x="981837" y="5252085"/>
            <a:ext cx="276606" cy="276606"/>
          </a:xfrm>
          <a:prstGeom prst="rect">
            <a:avLst/>
          </a:prstGeom>
        </p:spPr>
      </p:pic>
      <p:sp>
        <p:nvSpPr>
          <p:cNvPr id="10" name="Text 6"/>
          <p:cNvSpPr/>
          <p:nvPr/>
        </p:nvSpPr>
        <p:spPr>
          <a:xfrm>
            <a:off x="1508760" y="5074920"/>
            <a:ext cx="402336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Submitted by</a:t>
            </a:r>
            <a:endParaRPr lang="en-US" sz="1100" dirty="0"/>
          </a:p>
        </p:txBody>
      </p:sp>
      <p:sp>
        <p:nvSpPr>
          <p:cNvPr id="11" name="Text 7"/>
          <p:cNvSpPr/>
          <p:nvPr/>
        </p:nvSpPr>
        <p:spPr>
          <a:xfrm>
            <a:off x="1508760" y="5349240"/>
            <a:ext cx="40233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Krish Verma  |  MCA</a:t>
            </a:r>
            <a:endParaRPr lang="en-US" sz="1300" dirty="0"/>
          </a:p>
        </p:txBody>
      </p:sp>
      <p:sp>
        <p:nvSpPr>
          <p:cNvPr id="12" name="Text 8"/>
          <p:cNvSpPr/>
          <p:nvPr/>
        </p:nvSpPr>
        <p:spPr>
          <a:xfrm>
            <a:off x="1508760" y="5669280"/>
            <a:ext cx="402336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[L.P.U]</a:t>
            </a:r>
            <a:endParaRPr lang="en-US" sz="1200" dirty="0"/>
          </a:p>
        </p:txBody>
      </p:sp>
      <p:sp>
        <p:nvSpPr>
          <p:cNvPr id="13" name="Shape 9"/>
          <p:cNvSpPr/>
          <p:nvPr/>
        </p:nvSpPr>
        <p:spPr>
          <a:xfrm>
            <a:off x="9052560" y="1554480"/>
            <a:ext cx="1371600" cy="1371600"/>
          </a:xfrm>
          <a:prstGeom prst="ellipse">
            <a:avLst/>
          </a:prstGeom>
          <a:solidFill>
            <a:srgbClr val="1E3FD6"/>
          </a:solidFill>
          <a:ln/>
        </p:spPr>
        <p:txBody>
          <a:bodyPr/>
          <a:lstStyle/>
          <a:p>
            <a:endParaRPr lang="en-US"/>
          </a:p>
        </p:txBody>
      </p:sp>
      <p:pic>
        <p:nvPicPr>
          <p:cNvPr id="14" name="Image 2" descr="/home/claude/aurora/icons/ai_FFFFFF.png"/>
          <p:cNvPicPr>
            <a:picLocks noChangeAspect="1"/>
          </p:cNvPicPr>
          <p:nvPr/>
        </p:nvPicPr>
        <p:blipFill>
          <a:blip r:embed="rId5"/>
          <a:stretch>
            <a:fillRect/>
          </a:stretch>
        </p:blipFill>
        <p:spPr>
          <a:xfrm>
            <a:off x="9395460" y="1897380"/>
            <a:ext cx="685800" cy="685800"/>
          </a:xfrm>
          <a:prstGeom prst="rect">
            <a:avLst/>
          </a:prstGeom>
        </p:spPr>
      </p:pic>
      <p:sp>
        <p:nvSpPr>
          <p:cNvPr id="15" name="Shape 10"/>
          <p:cNvSpPr/>
          <p:nvPr/>
        </p:nvSpPr>
        <p:spPr>
          <a:xfrm>
            <a:off x="10104120" y="2331720"/>
            <a:ext cx="1051560" cy="1051560"/>
          </a:xfrm>
          <a:prstGeom prst="ellipse">
            <a:avLst/>
          </a:prstGeom>
          <a:solidFill>
            <a:srgbClr val="7C3AED"/>
          </a:solidFill>
          <a:ln/>
        </p:spPr>
        <p:txBody>
          <a:bodyPr/>
          <a:lstStyle/>
          <a:p>
            <a:endParaRPr lang="en-US"/>
          </a:p>
        </p:txBody>
      </p:sp>
      <p:pic>
        <p:nvPicPr>
          <p:cNvPr id="16" name="Image 3" descr="/home/claude/aurora/icons/cart_FFFFFF.png"/>
          <p:cNvPicPr>
            <a:picLocks noChangeAspect="1"/>
          </p:cNvPicPr>
          <p:nvPr/>
        </p:nvPicPr>
        <p:blipFill>
          <a:blip r:embed="rId6"/>
          <a:stretch>
            <a:fillRect/>
          </a:stretch>
        </p:blipFill>
        <p:spPr>
          <a:xfrm>
            <a:off x="10367010" y="2594610"/>
            <a:ext cx="525780" cy="525780"/>
          </a:xfrm>
          <a:prstGeom prst="rect">
            <a:avLst/>
          </a:prstGeom>
        </p:spPr>
      </p:pic>
      <p:sp>
        <p:nvSpPr>
          <p:cNvPr id="17" name="Shape 11"/>
          <p:cNvSpPr/>
          <p:nvPr/>
        </p:nvSpPr>
        <p:spPr>
          <a:xfrm>
            <a:off x="8549640" y="3063240"/>
            <a:ext cx="914400" cy="914400"/>
          </a:xfrm>
          <a:prstGeom prst="ellipse">
            <a:avLst/>
          </a:prstGeom>
          <a:solidFill>
            <a:srgbClr val="0891B2"/>
          </a:solidFill>
          <a:ln/>
        </p:spPr>
        <p:txBody>
          <a:bodyPr/>
          <a:lstStyle/>
          <a:p>
            <a:endParaRPr lang="en-US"/>
          </a:p>
        </p:txBody>
      </p:sp>
      <p:pic>
        <p:nvPicPr>
          <p:cNvPr id="18" name="Image 4" descr="/home/claude/aurora/icons/recommend_FFFFFF.png"/>
          <p:cNvPicPr>
            <a:picLocks noChangeAspect="1"/>
          </p:cNvPicPr>
          <p:nvPr/>
        </p:nvPicPr>
        <p:blipFill>
          <a:blip r:embed="rId7"/>
          <a:stretch>
            <a:fillRect/>
          </a:stretch>
        </p:blipFill>
        <p:spPr>
          <a:xfrm>
            <a:off x="8778240" y="3291840"/>
            <a:ext cx="457200" cy="457200"/>
          </a:xfrm>
          <a:prstGeom prst="rect">
            <a:avLst/>
          </a:prstGeom>
        </p:spPr>
      </p:pic>
      <p:sp>
        <p:nvSpPr>
          <p:cNvPr id="19" name="Shape 12"/>
          <p:cNvSpPr/>
          <p:nvPr/>
        </p:nvSpPr>
        <p:spPr>
          <a:xfrm>
            <a:off x="9784080" y="3794760"/>
            <a:ext cx="868680" cy="868680"/>
          </a:xfrm>
          <a:prstGeom prst="ellipse">
            <a:avLst/>
          </a:prstGeom>
          <a:solidFill>
            <a:srgbClr val="1E3FD6"/>
          </a:solidFill>
          <a:ln/>
        </p:spPr>
        <p:txBody>
          <a:bodyPr/>
          <a:lstStyle/>
          <a:p>
            <a:endParaRPr lang="en-US"/>
          </a:p>
        </p:txBody>
      </p:sp>
      <p:pic>
        <p:nvPicPr>
          <p:cNvPr id="20" name="Image 5" descr="/home/claude/aurora/icons/phone_FFFFFF.png"/>
          <p:cNvPicPr>
            <a:picLocks noChangeAspect="1"/>
          </p:cNvPicPr>
          <p:nvPr/>
        </p:nvPicPr>
        <p:blipFill>
          <a:blip r:embed="rId8"/>
          <a:stretch>
            <a:fillRect/>
          </a:stretch>
        </p:blipFill>
        <p:spPr>
          <a:xfrm>
            <a:off x="10001250" y="4011930"/>
            <a:ext cx="434340" cy="434340"/>
          </a:xfrm>
          <a:prstGeom prst="rect">
            <a:avLst/>
          </a:prstGeom>
        </p:spPr>
      </p:pic>
      <p:sp>
        <p:nvSpPr>
          <p:cNvPr id="21" name="Shape 13"/>
          <p:cNvSpPr/>
          <p:nvPr/>
        </p:nvSpPr>
        <p:spPr>
          <a:xfrm>
            <a:off x="8961120" y="4480560"/>
            <a:ext cx="777240" cy="777240"/>
          </a:xfrm>
          <a:prstGeom prst="ellipse">
            <a:avLst/>
          </a:prstGeom>
          <a:solidFill>
            <a:srgbClr val="7C3AED"/>
          </a:solidFill>
          <a:ln/>
        </p:spPr>
        <p:txBody>
          <a:bodyPr/>
          <a:lstStyle/>
          <a:p>
            <a:endParaRPr lang="en-US"/>
          </a:p>
        </p:txBody>
      </p:sp>
      <p:pic>
        <p:nvPicPr>
          <p:cNvPr id="22" name="Image 6" descr="/home/claude/aurora/icons/heart_FFFFFF.png"/>
          <p:cNvPicPr>
            <a:picLocks noChangeAspect="1"/>
          </p:cNvPicPr>
          <p:nvPr/>
        </p:nvPicPr>
        <p:blipFill>
          <a:blip r:embed="rId9"/>
          <a:stretch>
            <a:fillRect/>
          </a:stretch>
        </p:blipFill>
        <p:spPr>
          <a:xfrm>
            <a:off x="9155430" y="4674870"/>
            <a:ext cx="388620" cy="388620"/>
          </a:xfrm>
          <a:prstGeom prst="rect">
            <a:avLst/>
          </a:prstGeom>
        </p:spPr>
      </p:pic>
      <p:sp>
        <p:nvSpPr>
          <p:cNvPr id="23" name="Text 14"/>
          <p:cNvSpPr/>
          <p:nvPr/>
        </p:nvSpPr>
        <p:spPr>
          <a:xfrm>
            <a:off x="658368" y="6263640"/>
            <a:ext cx="7315200" cy="320040"/>
          </a:xfrm>
          <a:prstGeom prst="rect">
            <a:avLst/>
          </a:prstGeom>
          <a:noFill/>
          <a:ln/>
        </p:spPr>
        <p:txBody>
          <a:bodyPr wrap="square" lIns="0" tIns="0" rIns="0" bIns="0" rtlCol="0" anchor="ctr"/>
          <a:lstStyle/>
          <a:p>
            <a:pPr marL="0" indent="0">
              <a:buNone/>
            </a:pPr>
            <a:r>
              <a:rPr lang="en-US" sz="1200" i="1" dirty="0">
                <a:solidFill>
                  <a:srgbClr val="0891B2"/>
                </a:solidFill>
                <a:latin typeface="Calibri" pitchFamily="34" charset="0"/>
                <a:ea typeface="Calibri" pitchFamily="34" charset="-122"/>
                <a:cs typeface="Calibri" pitchFamily="34" charset="-120"/>
              </a:rPr>
              <a:t>Hybrid  ·  Personalized  ·  Intelligent</a:t>
            </a:r>
            <a:endParaRPr lang="en-US" sz="1200" dirty="0"/>
          </a:p>
        </p:txBody>
      </p:sp>
      <p:sp>
        <p:nvSpPr>
          <p:cNvPr id="24" name="Text 1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01</a:t>
            </a:r>
            <a:endParaRPr lang="en-US" sz="1000" dirty="0"/>
          </a:p>
        </p:txBody>
      </p:sp>
      <p:sp>
        <p:nvSpPr>
          <p:cNvPr id="26" name="TextBox 25">
            <a:extLst>
              <a:ext uri="{FF2B5EF4-FFF2-40B4-BE49-F238E27FC236}">
                <a16:creationId xmlns:a16="http://schemas.microsoft.com/office/drawing/2014/main" id="{58FD49A7-AF4E-DE93-41EC-29401D71BBD6}"/>
              </a:ext>
            </a:extLst>
          </p:cNvPr>
          <p:cNvSpPr txBox="1"/>
          <p:nvPr/>
        </p:nvSpPr>
        <p:spPr>
          <a:xfrm>
            <a:off x="525780" y="2311941"/>
            <a:ext cx="7264116" cy="523220"/>
          </a:xfrm>
          <a:prstGeom prst="rect">
            <a:avLst/>
          </a:prstGeom>
          <a:noFill/>
        </p:spPr>
        <p:txBody>
          <a:bodyPr wrap="square">
            <a:spAutoFit/>
          </a:bodyPr>
          <a:lstStyle/>
          <a:p>
            <a:r>
              <a:rPr lang="en-US" sz="2800" b="1" dirty="0">
                <a:solidFill>
                  <a:srgbClr val="15229E"/>
                </a:solidFill>
                <a:latin typeface="Cambria" panose="02040503050406030204" pitchFamily="18" charset="0"/>
                <a:ea typeface="Cambria" panose="02040503050406030204" pitchFamily="18" charset="0"/>
              </a:rPr>
              <a:t>Hybrid Product Recommendation System</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INTRODUCTION</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What is a Recommendation System?</a:t>
            </a:r>
            <a:endParaRPr lang="en-US" sz="3400" dirty="0"/>
          </a:p>
        </p:txBody>
      </p:sp>
      <p:sp>
        <p:nvSpPr>
          <p:cNvPr id="5" name="Text 2"/>
          <p:cNvSpPr/>
          <p:nvPr/>
        </p:nvSpPr>
        <p:spPr>
          <a:xfrm>
            <a:off x="640080" y="1691640"/>
            <a:ext cx="6309360" cy="1188720"/>
          </a:xfrm>
          <a:prstGeom prst="rect">
            <a:avLst/>
          </a:prstGeom>
          <a:noFill/>
          <a:ln/>
        </p:spPr>
        <p:txBody>
          <a:bodyPr wrap="square" lIns="0" tIns="0" rIns="0" bIns="0" rtlCol="0" anchor="ctr"/>
          <a:lstStyle/>
          <a:p>
            <a:pPr marL="0" indent="0">
              <a:lnSpc>
                <a:spcPct val="130000"/>
              </a:lnSpc>
              <a:buNone/>
            </a:pPr>
            <a:r>
              <a:rPr lang="en-US" sz="1450" dirty="0">
                <a:solidFill>
                  <a:srgbClr val="1E293B"/>
                </a:solidFill>
                <a:latin typeface="Calibri" pitchFamily="34" charset="0"/>
                <a:ea typeface="Calibri" pitchFamily="34" charset="-122"/>
                <a:cs typeface="Calibri" pitchFamily="34" charset="-120"/>
              </a:rPr>
              <a:t>A recommendation system is a software tool that studies user behaviour and product</a:t>
            </a:r>
            <a:endParaRPr lang="en-US" sz="1450" dirty="0"/>
          </a:p>
          <a:p>
            <a:pPr marL="0" indent="0">
              <a:lnSpc>
                <a:spcPct val="130000"/>
              </a:lnSpc>
              <a:buNone/>
            </a:pPr>
            <a:r>
              <a:rPr lang="en-US" sz="1450" dirty="0">
                <a:solidFill>
                  <a:srgbClr val="1E293B"/>
                </a:solidFill>
                <a:latin typeface="Calibri" pitchFamily="34" charset="0"/>
                <a:ea typeface="Calibri" pitchFamily="34" charset="-122"/>
                <a:cs typeface="Calibri" pitchFamily="34" charset="-120"/>
              </a:rPr>
              <a:t>data to suggest items a customer is most likely to want — the same technology</a:t>
            </a:r>
            <a:endParaRPr lang="en-US" sz="1450" dirty="0"/>
          </a:p>
          <a:p>
            <a:pPr marL="0" indent="0">
              <a:lnSpc>
                <a:spcPct val="130000"/>
              </a:lnSpc>
              <a:buNone/>
            </a:pPr>
            <a:r>
              <a:rPr lang="en-US" sz="1450" dirty="0">
                <a:solidFill>
                  <a:srgbClr val="1E293B"/>
                </a:solidFill>
                <a:latin typeface="Calibri" pitchFamily="34" charset="0"/>
                <a:ea typeface="Calibri" pitchFamily="34" charset="-122"/>
                <a:cs typeface="Calibri" pitchFamily="34" charset="-120"/>
              </a:rPr>
              <a:t>behind “Customers who bought this also bought…” on major shopping platforms.</a:t>
            </a:r>
            <a:endParaRPr lang="en-US" sz="1450" dirty="0"/>
          </a:p>
        </p:txBody>
      </p:sp>
      <p:sp>
        <p:nvSpPr>
          <p:cNvPr id="6" name="Shape 3"/>
          <p:cNvSpPr/>
          <p:nvPr/>
        </p:nvSpPr>
        <p:spPr>
          <a:xfrm>
            <a:off x="640080" y="3108960"/>
            <a:ext cx="1920240" cy="1371600"/>
          </a:xfrm>
          <a:prstGeom prst="roundRect">
            <a:avLst>
              <a:gd name="adj" fmla="val 80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7" name="Shape 4"/>
          <p:cNvSpPr/>
          <p:nvPr/>
        </p:nvSpPr>
        <p:spPr>
          <a:xfrm>
            <a:off x="1280160" y="3291840"/>
            <a:ext cx="640080" cy="640080"/>
          </a:xfrm>
          <a:prstGeom prst="ellipse">
            <a:avLst/>
          </a:prstGeom>
          <a:solidFill>
            <a:srgbClr val="E5F7FA"/>
          </a:solidFill>
          <a:ln/>
        </p:spPr>
        <p:txBody>
          <a:bodyPr/>
          <a:lstStyle/>
          <a:p>
            <a:endParaRPr lang="en-US"/>
          </a:p>
        </p:txBody>
      </p:sp>
      <p:pic>
        <p:nvPicPr>
          <p:cNvPr id="8" name="Image 1" descr="/home/claude/aurora/icons/database_1E3FD6.png"/>
          <p:cNvPicPr>
            <a:picLocks noChangeAspect="1"/>
          </p:cNvPicPr>
          <p:nvPr/>
        </p:nvPicPr>
        <p:blipFill>
          <a:blip r:embed="rId4"/>
          <a:stretch>
            <a:fillRect/>
          </a:stretch>
        </p:blipFill>
        <p:spPr>
          <a:xfrm>
            <a:off x="1424178" y="3435858"/>
            <a:ext cx="352044" cy="352044"/>
          </a:xfrm>
          <a:prstGeom prst="rect">
            <a:avLst/>
          </a:prstGeom>
        </p:spPr>
      </p:pic>
      <p:sp>
        <p:nvSpPr>
          <p:cNvPr id="9" name="Text 5"/>
          <p:cNvSpPr/>
          <p:nvPr/>
        </p:nvSpPr>
        <p:spPr>
          <a:xfrm>
            <a:off x="731520" y="4069080"/>
            <a:ext cx="1737360" cy="365760"/>
          </a:xfrm>
          <a:prstGeom prst="rect">
            <a:avLst/>
          </a:prstGeom>
          <a:noFill/>
          <a:ln/>
        </p:spPr>
        <p:txBody>
          <a:bodyPr wrap="square" lIns="0" tIns="0" rIns="0" bIns="0"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User &amp; Product Data</a:t>
            </a:r>
            <a:endParaRPr lang="en-US" sz="1150" dirty="0"/>
          </a:p>
        </p:txBody>
      </p:sp>
      <p:pic>
        <p:nvPicPr>
          <p:cNvPr id="10" name="Image 2" descr="/home/claude/aurora/icons/arrowRight_64748B.png"/>
          <p:cNvPicPr>
            <a:picLocks noChangeAspect="1"/>
          </p:cNvPicPr>
          <p:nvPr/>
        </p:nvPicPr>
        <p:blipFill>
          <a:blip r:embed="rId5"/>
          <a:stretch>
            <a:fillRect/>
          </a:stretch>
        </p:blipFill>
        <p:spPr>
          <a:xfrm>
            <a:off x="2487168" y="3611880"/>
            <a:ext cx="320040" cy="320040"/>
          </a:xfrm>
          <a:prstGeom prst="rect">
            <a:avLst/>
          </a:prstGeom>
        </p:spPr>
      </p:pic>
      <p:sp>
        <p:nvSpPr>
          <p:cNvPr id="11" name="Shape 6"/>
          <p:cNvSpPr/>
          <p:nvPr/>
        </p:nvSpPr>
        <p:spPr>
          <a:xfrm>
            <a:off x="2834640" y="3108960"/>
            <a:ext cx="1920240" cy="1371600"/>
          </a:xfrm>
          <a:prstGeom prst="roundRect">
            <a:avLst>
              <a:gd name="adj" fmla="val 80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2" name="Shape 7"/>
          <p:cNvSpPr/>
          <p:nvPr/>
        </p:nvSpPr>
        <p:spPr>
          <a:xfrm>
            <a:off x="3474720" y="3291840"/>
            <a:ext cx="640080" cy="640080"/>
          </a:xfrm>
          <a:prstGeom prst="ellipse">
            <a:avLst/>
          </a:prstGeom>
          <a:solidFill>
            <a:srgbClr val="E5F7FA"/>
          </a:solidFill>
          <a:ln/>
        </p:spPr>
        <p:txBody>
          <a:bodyPr/>
          <a:lstStyle/>
          <a:p>
            <a:endParaRPr lang="en-US"/>
          </a:p>
        </p:txBody>
      </p:sp>
      <p:pic>
        <p:nvPicPr>
          <p:cNvPr id="13" name="Image 3" descr="/home/claude/aurora/icons/ml_1E3FD6.png"/>
          <p:cNvPicPr>
            <a:picLocks noChangeAspect="1"/>
          </p:cNvPicPr>
          <p:nvPr/>
        </p:nvPicPr>
        <p:blipFill>
          <a:blip r:embed="rId6"/>
          <a:stretch>
            <a:fillRect/>
          </a:stretch>
        </p:blipFill>
        <p:spPr>
          <a:xfrm>
            <a:off x="3618738" y="3435858"/>
            <a:ext cx="352044" cy="352044"/>
          </a:xfrm>
          <a:prstGeom prst="rect">
            <a:avLst/>
          </a:prstGeom>
        </p:spPr>
      </p:pic>
      <p:sp>
        <p:nvSpPr>
          <p:cNvPr id="14" name="Text 8"/>
          <p:cNvSpPr/>
          <p:nvPr/>
        </p:nvSpPr>
        <p:spPr>
          <a:xfrm>
            <a:off x="2926080" y="4069080"/>
            <a:ext cx="1737360" cy="365760"/>
          </a:xfrm>
          <a:prstGeom prst="rect">
            <a:avLst/>
          </a:prstGeom>
          <a:noFill/>
          <a:ln/>
        </p:spPr>
        <p:txBody>
          <a:bodyPr wrap="square" lIns="0" tIns="0" rIns="0" bIns="0"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Learning Algorithm</a:t>
            </a:r>
            <a:endParaRPr lang="en-US" sz="1150" dirty="0"/>
          </a:p>
        </p:txBody>
      </p:sp>
      <p:pic>
        <p:nvPicPr>
          <p:cNvPr id="15" name="Image 4" descr="/home/claude/aurora/icons/arrowRight_64748B.png"/>
          <p:cNvPicPr>
            <a:picLocks noChangeAspect="1"/>
          </p:cNvPicPr>
          <p:nvPr/>
        </p:nvPicPr>
        <p:blipFill>
          <a:blip r:embed="rId5"/>
          <a:stretch>
            <a:fillRect/>
          </a:stretch>
        </p:blipFill>
        <p:spPr>
          <a:xfrm>
            <a:off x="4681728" y="3611880"/>
            <a:ext cx="320040" cy="320040"/>
          </a:xfrm>
          <a:prstGeom prst="rect">
            <a:avLst/>
          </a:prstGeom>
        </p:spPr>
      </p:pic>
      <p:sp>
        <p:nvSpPr>
          <p:cNvPr id="16" name="Shape 9"/>
          <p:cNvSpPr/>
          <p:nvPr/>
        </p:nvSpPr>
        <p:spPr>
          <a:xfrm>
            <a:off x="5029200" y="3108960"/>
            <a:ext cx="1920240" cy="1371600"/>
          </a:xfrm>
          <a:prstGeom prst="roundRect">
            <a:avLst>
              <a:gd name="adj" fmla="val 80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7" name="Shape 10"/>
          <p:cNvSpPr/>
          <p:nvPr/>
        </p:nvSpPr>
        <p:spPr>
          <a:xfrm>
            <a:off x="5669280" y="3291840"/>
            <a:ext cx="640080" cy="640080"/>
          </a:xfrm>
          <a:prstGeom prst="ellipse">
            <a:avLst/>
          </a:prstGeom>
          <a:solidFill>
            <a:srgbClr val="E5F7FA"/>
          </a:solidFill>
          <a:ln/>
        </p:spPr>
        <p:txBody>
          <a:bodyPr/>
          <a:lstStyle/>
          <a:p>
            <a:endParaRPr lang="en-US"/>
          </a:p>
        </p:txBody>
      </p:sp>
      <p:pic>
        <p:nvPicPr>
          <p:cNvPr id="18" name="Image 5" descr="/home/claude/aurora/icons/recommend_1E3FD6.png"/>
          <p:cNvPicPr>
            <a:picLocks noChangeAspect="1"/>
          </p:cNvPicPr>
          <p:nvPr/>
        </p:nvPicPr>
        <p:blipFill>
          <a:blip r:embed="rId7"/>
          <a:stretch>
            <a:fillRect/>
          </a:stretch>
        </p:blipFill>
        <p:spPr>
          <a:xfrm>
            <a:off x="5813298" y="3435858"/>
            <a:ext cx="352044" cy="352044"/>
          </a:xfrm>
          <a:prstGeom prst="rect">
            <a:avLst/>
          </a:prstGeom>
        </p:spPr>
      </p:pic>
      <p:sp>
        <p:nvSpPr>
          <p:cNvPr id="19" name="Text 11"/>
          <p:cNvSpPr/>
          <p:nvPr/>
        </p:nvSpPr>
        <p:spPr>
          <a:xfrm>
            <a:off x="5120640" y="4069080"/>
            <a:ext cx="1737360" cy="365760"/>
          </a:xfrm>
          <a:prstGeom prst="rect">
            <a:avLst/>
          </a:prstGeom>
          <a:noFill/>
          <a:ln/>
        </p:spPr>
        <p:txBody>
          <a:bodyPr wrap="square" lIns="0" tIns="0" rIns="0" bIns="0"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Personalized Suggestions</a:t>
            </a:r>
            <a:endParaRPr lang="en-US" sz="1150" dirty="0"/>
          </a:p>
        </p:txBody>
      </p:sp>
      <p:sp>
        <p:nvSpPr>
          <p:cNvPr id="20" name="Shape 12"/>
          <p:cNvSpPr/>
          <p:nvPr/>
        </p:nvSpPr>
        <p:spPr>
          <a:xfrm>
            <a:off x="7315200" y="1691640"/>
            <a:ext cx="4251960" cy="3977640"/>
          </a:xfrm>
          <a:prstGeom prst="roundRect">
            <a:avLst>
              <a:gd name="adj" fmla="val 2759"/>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1" name="Text 13"/>
          <p:cNvSpPr/>
          <p:nvPr/>
        </p:nvSpPr>
        <p:spPr>
          <a:xfrm>
            <a:off x="7589520" y="1920240"/>
            <a:ext cx="3749040" cy="320040"/>
          </a:xfrm>
          <a:prstGeom prst="rect">
            <a:avLst/>
          </a:prstGeom>
          <a:noFill/>
          <a:ln/>
        </p:spPr>
        <p:txBody>
          <a:bodyPr wrap="square" lIns="0" tIns="0" rIns="0" bIns="0" rtlCol="0" anchor="ctr"/>
          <a:lstStyle/>
          <a:p>
            <a:pPr marL="0" indent="0">
              <a:buNone/>
            </a:pPr>
            <a:r>
              <a:rPr lang="en-US" sz="1300" b="1" dirty="0">
                <a:solidFill>
                  <a:srgbClr val="15229E"/>
                </a:solidFill>
                <a:latin typeface="Calibri" pitchFamily="34" charset="0"/>
                <a:ea typeface="Calibri" pitchFamily="34" charset="-122"/>
                <a:cs typeface="Calibri" pitchFamily="34" charset="-120"/>
              </a:rPr>
              <a:t>Where you already see it</a:t>
            </a:r>
            <a:endParaRPr lang="en-US" sz="1300" dirty="0"/>
          </a:p>
        </p:txBody>
      </p:sp>
      <p:sp>
        <p:nvSpPr>
          <p:cNvPr id="22" name="Shape 14"/>
          <p:cNvSpPr/>
          <p:nvPr/>
        </p:nvSpPr>
        <p:spPr>
          <a:xfrm>
            <a:off x="7589520" y="2423160"/>
            <a:ext cx="502920" cy="502920"/>
          </a:xfrm>
          <a:prstGeom prst="ellipse">
            <a:avLst/>
          </a:prstGeom>
          <a:solidFill>
            <a:srgbClr val="FFFFFF"/>
          </a:solidFill>
          <a:ln/>
        </p:spPr>
        <p:txBody>
          <a:bodyPr/>
          <a:lstStyle/>
          <a:p>
            <a:endParaRPr lang="en-US"/>
          </a:p>
        </p:txBody>
      </p:sp>
      <p:pic>
        <p:nvPicPr>
          <p:cNvPr id="23" name="Image 6" descr="/home/claude/aurora/icons/store_7C3AED.png"/>
          <p:cNvPicPr>
            <a:picLocks noChangeAspect="1"/>
          </p:cNvPicPr>
          <p:nvPr/>
        </p:nvPicPr>
        <p:blipFill>
          <a:blip r:embed="rId8"/>
          <a:stretch>
            <a:fillRect/>
          </a:stretch>
        </p:blipFill>
        <p:spPr>
          <a:xfrm>
            <a:off x="7702677" y="2536317"/>
            <a:ext cx="276606" cy="276606"/>
          </a:xfrm>
          <a:prstGeom prst="rect">
            <a:avLst/>
          </a:prstGeom>
        </p:spPr>
      </p:pic>
      <p:sp>
        <p:nvSpPr>
          <p:cNvPr id="24" name="Text 15"/>
          <p:cNvSpPr/>
          <p:nvPr/>
        </p:nvSpPr>
        <p:spPr>
          <a:xfrm>
            <a:off x="8229600" y="2450592"/>
            <a:ext cx="32004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Product suggestions while shopping</a:t>
            </a:r>
            <a:endParaRPr lang="en-US" sz="1250" dirty="0"/>
          </a:p>
        </p:txBody>
      </p:sp>
      <p:sp>
        <p:nvSpPr>
          <p:cNvPr id="25" name="Shape 16"/>
          <p:cNvSpPr/>
          <p:nvPr/>
        </p:nvSpPr>
        <p:spPr>
          <a:xfrm>
            <a:off x="7589520" y="3200400"/>
            <a:ext cx="502920" cy="502920"/>
          </a:xfrm>
          <a:prstGeom prst="ellipse">
            <a:avLst/>
          </a:prstGeom>
          <a:solidFill>
            <a:srgbClr val="FFFFFF"/>
          </a:solidFill>
          <a:ln/>
        </p:spPr>
        <p:txBody>
          <a:bodyPr/>
          <a:lstStyle/>
          <a:p>
            <a:endParaRPr lang="en-US"/>
          </a:p>
        </p:txBody>
      </p:sp>
      <p:pic>
        <p:nvPicPr>
          <p:cNvPr id="26" name="Image 7" descr="/home/claude/aurora/icons/movie_7C3AED.png"/>
          <p:cNvPicPr>
            <a:picLocks noChangeAspect="1"/>
          </p:cNvPicPr>
          <p:nvPr/>
        </p:nvPicPr>
        <p:blipFill>
          <a:blip r:embed="rId9"/>
          <a:stretch>
            <a:fillRect/>
          </a:stretch>
        </p:blipFill>
        <p:spPr>
          <a:xfrm>
            <a:off x="7702677" y="3313557"/>
            <a:ext cx="276606" cy="276606"/>
          </a:xfrm>
          <a:prstGeom prst="rect">
            <a:avLst/>
          </a:prstGeom>
        </p:spPr>
      </p:pic>
      <p:sp>
        <p:nvSpPr>
          <p:cNvPr id="27" name="Text 17"/>
          <p:cNvSpPr/>
          <p:nvPr/>
        </p:nvSpPr>
        <p:spPr>
          <a:xfrm>
            <a:off x="8229600" y="3227832"/>
            <a:ext cx="32004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Movies &amp; shows you might enjoy</a:t>
            </a:r>
            <a:endParaRPr lang="en-US" sz="1250" dirty="0"/>
          </a:p>
        </p:txBody>
      </p:sp>
      <p:sp>
        <p:nvSpPr>
          <p:cNvPr id="28" name="Shape 18"/>
          <p:cNvSpPr/>
          <p:nvPr/>
        </p:nvSpPr>
        <p:spPr>
          <a:xfrm>
            <a:off x="7589520" y="3977640"/>
            <a:ext cx="502920" cy="502920"/>
          </a:xfrm>
          <a:prstGeom prst="ellipse">
            <a:avLst/>
          </a:prstGeom>
          <a:solidFill>
            <a:srgbClr val="FFFFFF"/>
          </a:solidFill>
          <a:ln/>
        </p:spPr>
        <p:txBody>
          <a:bodyPr/>
          <a:lstStyle/>
          <a:p>
            <a:endParaRPr lang="en-US"/>
          </a:p>
        </p:txBody>
      </p:sp>
      <p:pic>
        <p:nvPicPr>
          <p:cNvPr id="29" name="Image 8" descr="/home/claude/aurora/icons/music_7C3AED.png"/>
          <p:cNvPicPr>
            <a:picLocks noChangeAspect="1"/>
          </p:cNvPicPr>
          <p:nvPr/>
        </p:nvPicPr>
        <p:blipFill>
          <a:blip r:embed="rId10"/>
          <a:stretch>
            <a:fillRect/>
          </a:stretch>
        </p:blipFill>
        <p:spPr>
          <a:xfrm>
            <a:off x="7702677" y="4090797"/>
            <a:ext cx="276606" cy="276606"/>
          </a:xfrm>
          <a:prstGeom prst="rect">
            <a:avLst/>
          </a:prstGeom>
        </p:spPr>
      </p:pic>
      <p:sp>
        <p:nvSpPr>
          <p:cNvPr id="30" name="Text 19"/>
          <p:cNvSpPr/>
          <p:nvPr/>
        </p:nvSpPr>
        <p:spPr>
          <a:xfrm>
            <a:off x="8229600" y="4005072"/>
            <a:ext cx="32004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Songs and playlists picked for you</a:t>
            </a:r>
            <a:endParaRPr lang="en-US" sz="1250" dirty="0"/>
          </a:p>
        </p:txBody>
      </p:sp>
      <p:sp>
        <p:nvSpPr>
          <p:cNvPr id="31" name="Shape 20"/>
          <p:cNvSpPr/>
          <p:nvPr/>
        </p:nvSpPr>
        <p:spPr>
          <a:xfrm>
            <a:off x="7589520" y="4754880"/>
            <a:ext cx="502920" cy="502920"/>
          </a:xfrm>
          <a:prstGeom prst="ellipse">
            <a:avLst/>
          </a:prstGeom>
          <a:solidFill>
            <a:srgbClr val="FFFFFF"/>
          </a:solidFill>
          <a:ln/>
        </p:spPr>
        <p:txBody>
          <a:bodyPr/>
          <a:lstStyle/>
          <a:p>
            <a:endParaRPr lang="en-US"/>
          </a:p>
        </p:txBody>
      </p:sp>
      <p:pic>
        <p:nvPicPr>
          <p:cNvPr id="32" name="Image 9" descr="/home/claude/aurora/icons/recommend_7C3AED.png"/>
          <p:cNvPicPr>
            <a:picLocks noChangeAspect="1"/>
          </p:cNvPicPr>
          <p:nvPr/>
        </p:nvPicPr>
        <p:blipFill>
          <a:blip r:embed="rId7"/>
          <a:stretch>
            <a:fillRect/>
          </a:stretch>
        </p:blipFill>
        <p:spPr>
          <a:xfrm>
            <a:off x="7702677" y="4868037"/>
            <a:ext cx="276606" cy="276606"/>
          </a:xfrm>
          <a:prstGeom prst="rect">
            <a:avLst/>
          </a:prstGeom>
        </p:spPr>
      </p:pic>
      <p:sp>
        <p:nvSpPr>
          <p:cNvPr id="33" name="Text 21"/>
          <p:cNvSpPr/>
          <p:nvPr/>
        </p:nvSpPr>
        <p:spPr>
          <a:xfrm>
            <a:off x="8229600" y="4782312"/>
            <a:ext cx="3200400" cy="457200"/>
          </a:xfrm>
          <a:prstGeom prst="rect">
            <a:avLst/>
          </a:prstGeom>
          <a:noFill/>
          <a:ln/>
        </p:spPr>
        <p:txBody>
          <a:bodyPr wrap="square" lIns="0" tIns="0" rIns="0" bIns="0" rtlCol="0" anchor="ctr"/>
          <a:lstStyle/>
          <a:p>
            <a:pPr marL="0" indent="0">
              <a:buNone/>
            </a:pPr>
            <a:r>
              <a:rPr lang="en-US" sz="1250" dirty="0">
                <a:solidFill>
                  <a:srgbClr val="1E293B"/>
                </a:solidFill>
                <a:latin typeface="Calibri" pitchFamily="34" charset="0"/>
                <a:ea typeface="Calibri" pitchFamily="34" charset="-122"/>
                <a:cs typeface="Calibri" pitchFamily="34" charset="-120"/>
              </a:rPr>
              <a:t>Ads and content personalized to you</a:t>
            </a:r>
            <a:endParaRPr lang="en-US" sz="1250" dirty="0"/>
          </a:p>
        </p:txBody>
      </p:sp>
      <p:sp>
        <p:nvSpPr>
          <p:cNvPr id="34" name="Text 2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PROBLEM STATEMENT</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Why Online Shopping Needs Smarter Guidance</a:t>
            </a:r>
            <a:endParaRPr lang="en-US" sz="3400" dirty="0"/>
          </a:p>
        </p:txBody>
      </p:sp>
      <p:sp>
        <p:nvSpPr>
          <p:cNvPr id="5" name="Shape 2"/>
          <p:cNvSpPr/>
          <p:nvPr/>
        </p:nvSpPr>
        <p:spPr>
          <a:xfrm>
            <a:off x="1414524" y="1783080"/>
            <a:ext cx="2121408" cy="3063240"/>
          </a:xfrm>
          <a:prstGeom prst="roundRect">
            <a:avLst>
              <a:gd name="adj" fmla="val 517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2132328" y="2057400"/>
            <a:ext cx="685800" cy="685800"/>
          </a:xfrm>
          <a:prstGeom prst="ellipse">
            <a:avLst/>
          </a:prstGeom>
          <a:solidFill>
            <a:srgbClr val="E5F7FA"/>
          </a:solidFill>
          <a:ln/>
        </p:spPr>
        <p:txBody>
          <a:bodyPr/>
          <a:lstStyle/>
          <a:p>
            <a:endParaRPr lang="en-US"/>
          </a:p>
        </p:txBody>
      </p:sp>
      <p:pic>
        <p:nvPicPr>
          <p:cNvPr id="7" name="Image 1" descr="/home/claude/aurora/icons/fatigue_1E3FD6.png"/>
          <p:cNvPicPr>
            <a:picLocks noChangeAspect="1"/>
          </p:cNvPicPr>
          <p:nvPr/>
        </p:nvPicPr>
        <p:blipFill>
          <a:blip r:embed="rId4"/>
          <a:stretch>
            <a:fillRect/>
          </a:stretch>
        </p:blipFill>
        <p:spPr>
          <a:xfrm>
            <a:off x="2286633" y="2211705"/>
            <a:ext cx="377190" cy="377190"/>
          </a:xfrm>
          <a:prstGeom prst="rect">
            <a:avLst/>
          </a:prstGeom>
        </p:spPr>
      </p:pic>
      <p:sp>
        <p:nvSpPr>
          <p:cNvPr id="8" name="Text 4"/>
          <p:cNvSpPr/>
          <p:nvPr/>
        </p:nvSpPr>
        <p:spPr>
          <a:xfrm>
            <a:off x="1551684" y="2880360"/>
            <a:ext cx="1847088"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Cambria" pitchFamily="34" charset="0"/>
                <a:ea typeface="Cambria" pitchFamily="34" charset="-122"/>
                <a:cs typeface="Cambria" pitchFamily="34" charset="-120"/>
              </a:rPr>
              <a:t>Decision Fatigue</a:t>
            </a:r>
            <a:endParaRPr lang="en-US" sz="1400" dirty="0"/>
          </a:p>
        </p:txBody>
      </p:sp>
      <p:sp>
        <p:nvSpPr>
          <p:cNvPr id="9" name="Text 5"/>
          <p:cNvSpPr/>
          <p:nvPr/>
        </p:nvSpPr>
        <p:spPr>
          <a:xfrm>
            <a:off x="1597404" y="3383280"/>
            <a:ext cx="1755648" cy="12801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Too many similar choices leave shoppers overwhelmed and unable to decide.</a:t>
            </a:r>
            <a:endParaRPr lang="en-US" sz="1050" dirty="0"/>
          </a:p>
        </p:txBody>
      </p:sp>
      <p:sp>
        <p:nvSpPr>
          <p:cNvPr id="10" name="Shape 6"/>
          <p:cNvSpPr/>
          <p:nvPr/>
        </p:nvSpPr>
        <p:spPr>
          <a:xfrm>
            <a:off x="3700524" y="1783080"/>
            <a:ext cx="2121408" cy="3063240"/>
          </a:xfrm>
          <a:prstGeom prst="roundRect">
            <a:avLst>
              <a:gd name="adj" fmla="val 517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1" name="Shape 7"/>
          <p:cNvSpPr/>
          <p:nvPr/>
        </p:nvSpPr>
        <p:spPr>
          <a:xfrm>
            <a:off x="4418328" y="2057400"/>
            <a:ext cx="685800" cy="685800"/>
          </a:xfrm>
          <a:prstGeom prst="ellipse">
            <a:avLst/>
          </a:prstGeom>
          <a:solidFill>
            <a:srgbClr val="E5F7FA"/>
          </a:solidFill>
          <a:ln/>
        </p:spPr>
        <p:txBody>
          <a:bodyPr/>
          <a:lstStyle/>
          <a:p>
            <a:endParaRPr lang="en-US"/>
          </a:p>
        </p:txBody>
      </p:sp>
      <p:pic>
        <p:nvPicPr>
          <p:cNvPr id="12" name="Image 2" descr="/home/claude/aurora/icons/products_7C3AED.png"/>
          <p:cNvPicPr>
            <a:picLocks noChangeAspect="1"/>
          </p:cNvPicPr>
          <p:nvPr/>
        </p:nvPicPr>
        <p:blipFill>
          <a:blip r:embed="rId5"/>
          <a:stretch>
            <a:fillRect/>
          </a:stretch>
        </p:blipFill>
        <p:spPr>
          <a:xfrm>
            <a:off x="4572633" y="2211705"/>
            <a:ext cx="377190" cy="377190"/>
          </a:xfrm>
          <a:prstGeom prst="rect">
            <a:avLst/>
          </a:prstGeom>
        </p:spPr>
      </p:pic>
      <p:sp>
        <p:nvSpPr>
          <p:cNvPr id="13" name="Text 8"/>
          <p:cNvSpPr/>
          <p:nvPr/>
        </p:nvSpPr>
        <p:spPr>
          <a:xfrm>
            <a:off x="3837684" y="2880360"/>
            <a:ext cx="1847088"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Cambria" pitchFamily="34" charset="0"/>
                <a:ea typeface="Cambria" pitchFamily="34" charset="-122"/>
                <a:cs typeface="Cambria" pitchFamily="34" charset="-120"/>
              </a:rPr>
              <a:t>Thousands of Products</a:t>
            </a:r>
            <a:endParaRPr lang="en-US" sz="1400" dirty="0"/>
          </a:p>
        </p:txBody>
      </p:sp>
      <p:sp>
        <p:nvSpPr>
          <p:cNvPr id="14" name="Text 9"/>
          <p:cNvSpPr/>
          <p:nvPr/>
        </p:nvSpPr>
        <p:spPr>
          <a:xfrm>
            <a:off x="3883404" y="3383280"/>
            <a:ext cx="1755648" cy="12801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Catalogs are enormous, making it hard to find genuinely relevant items.</a:t>
            </a:r>
            <a:endParaRPr lang="en-US" sz="1050" dirty="0"/>
          </a:p>
        </p:txBody>
      </p:sp>
      <p:sp>
        <p:nvSpPr>
          <p:cNvPr id="15" name="Shape 10"/>
          <p:cNvSpPr/>
          <p:nvPr/>
        </p:nvSpPr>
        <p:spPr>
          <a:xfrm>
            <a:off x="6027506" y="1746691"/>
            <a:ext cx="2121408" cy="3063240"/>
          </a:xfrm>
          <a:prstGeom prst="roundRect">
            <a:avLst>
              <a:gd name="adj" fmla="val 517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dirty="0"/>
          </a:p>
        </p:txBody>
      </p:sp>
      <p:sp>
        <p:nvSpPr>
          <p:cNvPr id="16" name="Shape 11"/>
          <p:cNvSpPr/>
          <p:nvPr/>
        </p:nvSpPr>
        <p:spPr>
          <a:xfrm>
            <a:off x="6704328" y="2057400"/>
            <a:ext cx="685800" cy="685800"/>
          </a:xfrm>
          <a:prstGeom prst="ellipse">
            <a:avLst/>
          </a:prstGeom>
          <a:solidFill>
            <a:srgbClr val="E5F7FA"/>
          </a:solidFill>
          <a:ln/>
        </p:spPr>
        <p:txBody>
          <a:bodyPr/>
          <a:lstStyle/>
          <a:p>
            <a:endParaRPr lang="en-US"/>
          </a:p>
        </p:txBody>
      </p:sp>
      <p:pic>
        <p:nvPicPr>
          <p:cNvPr id="17" name="Image 3" descr="/home/claude/aurora/icons/time_0891B2.png"/>
          <p:cNvPicPr>
            <a:picLocks noChangeAspect="1"/>
          </p:cNvPicPr>
          <p:nvPr/>
        </p:nvPicPr>
        <p:blipFill>
          <a:blip r:embed="rId6"/>
          <a:stretch>
            <a:fillRect/>
          </a:stretch>
        </p:blipFill>
        <p:spPr>
          <a:xfrm>
            <a:off x="6858633" y="2211705"/>
            <a:ext cx="377190" cy="377190"/>
          </a:xfrm>
          <a:prstGeom prst="rect">
            <a:avLst/>
          </a:prstGeom>
        </p:spPr>
      </p:pic>
      <p:sp>
        <p:nvSpPr>
          <p:cNvPr id="18" name="Text 12"/>
          <p:cNvSpPr/>
          <p:nvPr/>
        </p:nvSpPr>
        <p:spPr>
          <a:xfrm>
            <a:off x="6123684" y="2880360"/>
            <a:ext cx="1847088"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Cambria" pitchFamily="34" charset="0"/>
                <a:ea typeface="Cambria" pitchFamily="34" charset="-122"/>
                <a:cs typeface="Cambria" pitchFamily="34" charset="-120"/>
              </a:rPr>
              <a:t>Time-Consuming Search</a:t>
            </a:r>
            <a:endParaRPr lang="en-US" sz="1400" dirty="0"/>
          </a:p>
        </p:txBody>
      </p:sp>
      <p:sp>
        <p:nvSpPr>
          <p:cNvPr id="19" name="Text 13"/>
          <p:cNvSpPr/>
          <p:nvPr/>
        </p:nvSpPr>
        <p:spPr>
          <a:xfrm>
            <a:off x="6169404" y="3383280"/>
            <a:ext cx="1755648" cy="12801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Manual browsing and filtering wastes valuable shopper time.</a:t>
            </a:r>
            <a:endParaRPr lang="en-US" sz="1050" dirty="0"/>
          </a:p>
        </p:txBody>
      </p:sp>
      <p:sp>
        <p:nvSpPr>
          <p:cNvPr id="20" name="Shape 14"/>
          <p:cNvSpPr/>
          <p:nvPr/>
        </p:nvSpPr>
        <p:spPr>
          <a:xfrm>
            <a:off x="8353822" y="1767681"/>
            <a:ext cx="2121408" cy="3063240"/>
          </a:xfrm>
          <a:prstGeom prst="roundRect">
            <a:avLst>
              <a:gd name="adj" fmla="val 517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1" name="Shape 15"/>
          <p:cNvSpPr/>
          <p:nvPr/>
        </p:nvSpPr>
        <p:spPr>
          <a:xfrm>
            <a:off x="9071626" y="2042001"/>
            <a:ext cx="685800" cy="685800"/>
          </a:xfrm>
          <a:prstGeom prst="ellipse">
            <a:avLst/>
          </a:prstGeom>
          <a:solidFill>
            <a:srgbClr val="E5F7FA"/>
          </a:solidFill>
          <a:ln/>
        </p:spPr>
        <p:txBody>
          <a:bodyPr/>
          <a:lstStyle/>
          <a:p>
            <a:endParaRPr lang="en-US"/>
          </a:p>
        </p:txBody>
      </p:sp>
      <p:pic>
        <p:nvPicPr>
          <p:cNvPr id="22" name="Image 4" descr="/home/claude/aurora/icons/personalize_1E3FD6.png"/>
          <p:cNvPicPr>
            <a:picLocks noChangeAspect="1"/>
          </p:cNvPicPr>
          <p:nvPr/>
        </p:nvPicPr>
        <p:blipFill>
          <a:blip r:embed="rId7"/>
          <a:stretch>
            <a:fillRect/>
          </a:stretch>
        </p:blipFill>
        <p:spPr>
          <a:xfrm>
            <a:off x="9225931" y="2196306"/>
            <a:ext cx="377190" cy="377190"/>
          </a:xfrm>
          <a:prstGeom prst="rect">
            <a:avLst/>
          </a:prstGeom>
        </p:spPr>
      </p:pic>
      <p:sp>
        <p:nvSpPr>
          <p:cNvPr id="23" name="Text 16"/>
          <p:cNvSpPr/>
          <p:nvPr/>
        </p:nvSpPr>
        <p:spPr>
          <a:xfrm>
            <a:off x="8490982" y="2864961"/>
            <a:ext cx="1847088" cy="502920"/>
          </a:xfrm>
          <a:prstGeom prst="rect">
            <a:avLst/>
          </a:prstGeom>
          <a:noFill/>
          <a:ln/>
        </p:spPr>
        <p:txBody>
          <a:bodyPr wrap="square" lIns="0" tIns="0" rIns="0" bIns="0" rtlCol="0" anchor="ctr"/>
          <a:lstStyle/>
          <a:p>
            <a:pPr marL="0" indent="0" algn="ctr">
              <a:buNone/>
            </a:pPr>
            <a:r>
              <a:rPr lang="en-US" sz="1400" b="1" dirty="0">
                <a:solidFill>
                  <a:srgbClr val="1E293B"/>
                </a:solidFill>
                <a:latin typeface="Cambria" pitchFamily="34" charset="0"/>
                <a:ea typeface="Cambria" pitchFamily="34" charset="-122"/>
                <a:cs typeface="Cambria" pitchFamily="34" charset="-120"/>
              </a:rPr>
              <a:t>No Personalization</a:t>
            </a:r>
            <a:endParaRPr lang="en-US" sz="1400" dirty="0"/>
          </a:p>
        </p:txBody>
      </p:sp>
      <p:sp>
        <p:nvSpPr>
          <p:cNvPr id="24" name="Text 17"/>
          <p:cNvSpPr/>
          <p:nvPr/>
        </p:nvSpPr>
        <p:spPr>
          <a:xfrm>
            <a:off x="8536702" y="3367881"/>
            <a:ext cx="1755648" cy="12801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Generic listings ignore individual taste and past behaviour.</a:t>
            </a:r>
            <a:endParaRPr lang="en-US" sz="1050" dirty="0"/>
          </a:p>
        </p:txBody>
      </p:sp>
      <p:pic>
        <p:nvPicPr>
          <p:cNvPr id="27" name="Image 5" descr="/home/claude/aurora/icons/bounce_7C3AED.png"/>
          <p:cNvPicPr>
            <a:picLocks noChangeAspect="1"/>
          </p:cNvPicPr>
          <p:nvPr/>
        </p:nvPicPr>
        <p:blipFill>
          <a:blip r:embed="rId8"/>
          <a:stretch>
            <a:fillRect/>
          </a:stretch>
        </p:blipFill>
        <p:spPr>
          <a:xfrm>
            <a:off x="10737487" y="2196306"/>
            <a:ext cx="377190" cy="377190"/>
          </a:xfrm>
          <a:prstGeom prst="rect">
            <a:avLst/>
          </a:prstGeom>
        </p:spPr>
      </p:pic>
      <p:sp>
        <p:nvSpPr>
          <p:cNvPr id="28" name="Text 20"/>
          <p:cNvSpPr/>
          <p:nvPr/>
        </p:nvSpPr>
        <p:spPr>
          <a:xfrm>
            <a:off x="10002538" y="2864961"/>
            <a:ext cx="1847088" cy="502920"/>
          </a:xfrm>
          <a:prstGeom prst="rect">
            <a:avLst/>
          </a:prstGeom>
          <a:noFill/>
          <a:ln/>
        </p:spPr>
        <p:txBody>
          <a:bodyPr wrap="square" lIns="0" tIns="0" rIns="0" bIns="0" rtlCol="0" anchor="ctr"/>
          <a:lstStyle/>
          <a:p>
            <a:pPr marL="0" indent="0" algn="ctr">
              <a:buNone/>
            </a:pPr>
            <a:endParaRPr lang="en-US" sz="1400" dirty="0"/>
          </a:p>
        </p:txBody>
      </p:sp>
      <p:sp>
        <p:nvSpPr>
          <p:cNvPr id="29" name="Text 21"/>
          <p:cNvSpPr/>
          <p:nvPr/>
        </p:nvSpPr>
        <p:spPr>
          <a:xfrm>
            <a:off x="10048258" y="3367881"/>
            <a:ext cx="1755648" cy="1280160"/>
          </a:xfrm>
          <a:prstGeom prst="rect">
            <a:avLst/>
          </a:prstGeom>
          <a:noFill/>
          <a:ln/>
        </p:spPr>
        <p:txBody>
          <a:bodyPr wrap="square" lIns="0" tIns="0" rIns="0" bIns="0" rtlCol="0" anchor="ctr"/>
          <a:lstStyle/>
          <a:p>
            <a:pPr marL="0" indent="0" algn="ctr">
              <a:lnSpc>
                <a:spcPct val="120000"/>
              </a:lnSpc>
              <a:buNone/>
            </a:pPr>
            <a:endParaRPr lang="en-US" sz="1050" dirty="0"/>
          </a:p>
        </p:txBody>
      </p:sp>
      <p:sp>
        <p:nvSpPr>
          <p:cNvPr id="30" name="Text 2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pic>
        <p:nvPicPr>
          <p:cNvPr id="32" name="Graphic 31" descr="Continuous Improvement with solid fill">
            <a:extLst>
              <a:ext uri="{FF2B5EF4-FFF2-40B4-BE49-F238E27FC236}">
                <a16:creationId xmlns:a16="http://schemas.microsoft.com/office/drawing/2014/main" id="{6ABA4951-77CD-C48B-23DE-1D939C1E69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18328" y="2093976"/>
            <a:ext cx="649224" cy="649224"/>
          </a:xfrm>
          <a:prstGeom prst="rect">
            <a:avLst/>
          </a:prstGeom>
        </p:spPr>
      </p:pic>
      <p:pic>
        <p:nvPicPr>
          <p:cNvPr id="36" name="Graphic 35" descr="Store with solid fill">
            <a:extLst>
              <a:ext uri="{FF2B5EF4-FFF2-40B4-BE49-F238E27FC236}">
                <a16:creationId xmlns:a16="http://schemas.microsoft.com/office/drawing/2014/main" id="{A9439A26-8F7D-3AD6-D94B-DFF47B1546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196124" y="2142658"/>
            <a:ext cx="600542" cy="600542"/>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PROJECT OBJECTIVES</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What Aurora AI Sets Out to Achieve</a:t>
            </a:r>
            <a:endParaRPr lang="en-US" sz="3400" dirty="0"/>
          </a:p>
        </p:txBody>
      </p:sp>
      <p:sp>
        <p:nvSpPr>
          <p:cNvPr id="5" name="Shape 2"/>
          <p:cNvSpPr/>
          <p:nvPr/>
        </p:nvSpPr>
        <p:spPr>
          <a:xfrm>
            <a:off x="640080" y="1828800"/>
            <a:ext cx="2606040" cy="3566160"/>
          </a:xfrm>
          <a:prstGeom prst="roundRect">
            <a:avLst>
              <a:gd name="adj" fmla="val 4211"/>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914400" y="2148840"/>
            <a:ext cx="777240" cy="777240"/>
          </a:xfrm>
          <a:prstGeom prst="ellipse">
            <a:avLst/>
          </a:prstGeom>
          <a:solidFill>
            <a:srgbClr val="E5F7FA"/>
          </a:solidFill>
          <a:ln/>
        </p:spPr>
        <p:txBody>
          <a:bodyPr/>
          <a:lstStyle/>
          <a:p>
            <a:endParaRPr lang="en-US"/>
          </a:p>
        </p:txBody>
      </p:sp>
      <p:pic>
        <p:nvPicPr>
          <p:cNvPr id="7" name="Image 1" descr="/home/claude/aurora/icons/target_1E3FD6.png"/>
          <p:cNvPicPr>
            <a:picLocks noChangeAspect="1"/>
          </p:cNvPicPr>
          <p:nvPr/>
        </p:nvPicPr>
        <p:blipFill>
          <a:blip r:embed="rId4"/>
          <a:stretch>
            <a:fillRect/>
          </a:stretch>
        </p:blipFill>
        <p:spPr>
          <a:xfrm>
            <a:off x="1089279" y="2323719"/>
            <a:ext cx="427482" cy="427482"/>
          </a:xfrm>
          <a:prstGeom prst="rect">
            <a:avLst/>
          </a:prstGeom>
        </p:spPr>
      </p:pic>
      <p:sp>
        <p:nvSpPr>
          <p:cNvPr id="8" name="Text 4"/>
          <p:cNvSpPr/>
          <p:nvPr/>
        </p:nvSpPr>
        <p:spPr>
          <a:xfrm>
            <a:off x="2423160" y="2103120"/>
            <a:ext cx="640080" cy="457200"/>
          </a:xfrm>
          <a:prstGeom prst="rect">
            <a:avLst/>
          </a:prstGeom>
          <a:noFill/>
          <a:ln/>
        </p:spPr>
        <p:txBody>
          <a:bodyPr wrap="square" lIns="0" tIns="0" rIns="0" bIns="0" rtlCol="0" anchor="ctr"/>
          <a:lstStyle/>
          <a:p>
            <a:pPr marL="0" indent="0" algn="r">
              <a:buNone/>
            </a:pPr>
            <a:r>
              <a:rPr lang="en-US" sz="2200" b="1" dirty="0">
                <a:solidFill>
                  <a:srgbClr val="C7D2FE"/>
                </a:solidFill>
                <a:latin typeface="Cambria" pitchFamily="34" charset="0"/>
                <a:ea typeface="Cambria" pitchFamily="34" charset="-122"/>
                <a:cs typeface="Cambria" pitchFamily="34" charset="-120"/>
              </a:rPr>
              <a:t>01</a:t>
            </a:r>
            <a:endParaRPr lang="en-US" sz="2200" dirty="0"/>
          </a:p>
        </p:txBody>
      </p:sp>
      <p:sp>
        <p:nvSpPr>
          <p:cNvPr id="9" name="Text 5"/>
          <p:cNvSpPr/>
          <p:nvPr/>
        </p:nvSpPr>
        <p:spPr>
          <a:xfrm>
            <a:off x="914400" y="3154680"/>
            <a:ext cx="2057400" cy="822960"/>
          </a:xfrm>
          <a:prstGeom prst="rect">
            <a:avLst/>
          </a:prstGeom>
          <a:noFill/>
          <a:ln/>
        </p:spPr>
        <p:txBody>
          <a:bodyPr wrap="square" lIns="0" tIns="0" rIns="0" bIns="0" rtlCol="0" anchor="ctr"/>
          <a:lstStyle/>
          <a:p>
            <a:pPr marL="0" indent="0">
              <a:lnSpc>
                <a:spcPct val="105000"/>
              </a:lnSpc>
              <a:buNone/>
            </a:pPr>
            <a:r>
              <a:rPr lang="en-US" sz="1500" b="1" dirty="0">
                <a:solidFill>
                  <a:srgbClr val="1E293B"/>
                </a:solidFill>
                <a:latin typeface="Cambria" pitchFamily="34" charset="0"/>
                <a:ea typeface="Cambria" pitchFamily="34" charset="-122"/>
                <a:cs typeface="Cambria" pitchFamily="34" charset="-120"/>
              </a:rPr>
              <a:t>Personalized Recommendation</a:t>
            </a:r>
            <a:endParaRPr lang="en-US" sz="1500" dirty="0"/>
          </a:p>
        </p:txBody>
      </p:sp>
      <p:sp>
        <p:nvSpPr>
          <p:cNvPr id="10" name="Text 6"/>
          <p:cNvSpPr/>
          <p:nvPr/>
        </p:nvSpPr>
        <p:spPr>
          <a:xfrm>
            <a:off x="914400" y="3977640"/>
            <a:ext cx="2057400" cy="1280160"/>
          </a:xfrm>
          <a:prstGeom prst="rect">
            <a:avLst/>
          </a:prstGeom>
          <a:noFill/>
          <a:ln/>
        </p:spPr>
        <p:txBody>
          <a:bodyPr wrap="square" lIns="0" tIns="0" rIns="0" bIns="0" rtlCol="0" anchor="ctr"/>
          <a:lstStyle/>
          <a:p>
            <a:pPr marL="0" indent="0">
              <a:lnSpc>
                <a:spcPct val="125000"/>
              </a:lnSpc>
              <a:buNone/>
            </a:pPr>
            <a:r>
              <a:rPr lang="en-US" sz="1100" dirty="0">
                <a:solidFill>
                  <a:srgbClr val="64748B"/>
                </a:solidFill>
                <a:latin typeface="Calibri" pitchFamily="34" charset="0"/>
                <a:ea typeface="Calibri" pitchFamily="34" charset="-122"/>
                <a:cs typeface="Calibri" pitchFamily="34" charset="-120"/>
              </a:rPr>
              <a:t>Suggest products tailored to each user’s taste and browsing history.</a:t>
            </a:r>
            <a:endParaRPr lang="en-US" sz="1100" dirty="0"/>
          </a:p>
        </p:txBody>
      </p:sp>
      <p:sp>
        <p:nvSpPr>
          <p:cNvPr id="11" name="Shape 7"/>
          <p:cNvSpPr/>
          <p:nvPr/>
        </p:nvSpPr>
        <p:spPr>
          <a:xfrm>
            <a:off x="3502152" y="1828800"/>
            <a:ext cx="2606040" cy="3566160"/>
          </a:xfrm>
          <a:prstGeom prst="roundRect">
            <a:avLst>
              <a:gd name="adj" fmla="val 4211"/>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2" name="Shape 8"/>
          <p:cNvSpPr/>
          <p:nvPr/>
        </p:nvSpPr>
        <p:spPr>
          <a:xfrm>
            <a:off x="3776472" y="2148840"/>
            <a:ext cx="777240" cy="777240"/>
          </a:xfrm>
          <a:prstGeom prst="ellipse">
            <a:avLst/>
          </a:prstGeom>
          <a:solidFill>
            <a:srgbClr val="FFFFFF"/>
          </a:solidFill>
          <a:ln/>
        </p:spPr>
        <p:txBody>
          <a:bodyPr/>
          <a:lstStyle/>
          <a:p>
            <a:endParaRPr lang="en-US"/>
          </a:p>
        </p:txBody>
      </p:sp>
      <p:pic>
        <p:nvPicPr>
          <p:cNvPr id="13" name="Image 2" descr="/home/claude/aurora/icons/speed_7C3AED.png"/>
          <p:cNvPicPr>
            <a:picLocks noChangeAspect="1"/>
          </p:cNvPicPr>
          <p:nvPr/>
        </p:nvPicPr>
        <p:blipFill>
          <a:blip r:embed="rId5"/>
          <a:stretch>
            <a:fillRect/>
          </a:stretch>
        </p:blipFill>
        <p:spPr>
          <a:xfrm>
            <a:off x="3951351" y="2323719"/>
            <a:ext cx="427482" cy="427482"/>
          </a:xfrm>
          <a:prstGeom prst="rect">
            <a:avLst/>
          </a:prstGeom>
        </p:spPr>
      </p:pic>
      <p:sp>
        <p:nvSpPr>
          <p:cNvPr id="14" name="Text 9"/>
          <p:cNvSpPr/>
          <p:nvPr/>
        </p:nvSpPr>
        <p:spPr>
          <a:xfrm>
            <a:off x="5285232" y="2103120"/>
            <a:ext cx="640080" cy="457200"/>
          </a:xfrm>
          <a:prstGeom prst="rect">
            <a:avLst/>
          </a:prstGeom>
          <a:noFill/>
          <a:ln/>
        </p:spPr>
        <p:txBody>
          <a:bodyPr wrap="square" lIns="0" tIns="0" rIns="0" bIns="0" rtlCol="0" anchor="ctr"/>
          <a:lstStyle/>
          <a:p>
            <a:pPr marL="0" indent="0" algn="r">
              <a:buNone/>
            </a:pPr>
            <a:r>
              <a:rPr lang="en-US" sz="2200" b="1" dirty="0">
                <a:solidFill>
                  <a:srgbClr val="C7D2FE"/>
                </a:solidFill>
                <a:latin typeface="Cambria" pitchFamily="34" charset="0"/>
                <a:ea typeface="Cambria" pitchFamily="34" charset="-122"/>
                <a:cs typeface="Cambria" pitchFamily="34" charset="-120"/>
              </a:rPr>
              <a:t>02</a:t>
            </a:r>
            <a:endParaRPr lang="en-US" sz="2200" dirty="0"/>
          </a:p>
        </p:txBody>
      </p:sp>
      <p:sp>
        <p:nvSpPr>
          <p:cNvPr id="15" name="Text 10"/>
          <p:cNvSpPr/>
          <p:nvPr/>
        </p:nvSpPr>
        <p:spPr>
          <a:xfrm>
            <a:off x="3776472" y="3154680"/>
            <a:ext cx="2057400" cy="822960"/>
          </a:xfrm>
          <a:prstGeom prst="rect">
            <a:avLst/>
          </a:prstGeom>
          <a:noFill/>
          <a:ln/>
        </p:spPr>
        <p:txBody>
          <a:bodyPr wrap="square" lIns="0" tIns="0" rIns="0" bIns="0" rtlCol="0" anchor="ctr"/>
          <a:lstStyle/>
          <a:p>
            <a:pPr marL="0" indent="0">
              <a:lnSpc>
                <a:spcPct val="105000"/>
              </a:lnSpc>
              <a:buNone/>
            </a:pPr>
            <a:r>
              <a:rPr lang="en-US" sz="1500" b="1" dirty="0">
                <a:solidFill>
                  <a:srgbClr val="1E293B"/>
                </a:solidFill>
                <a:latin typeface="Cambria" pitchFamily="34" charset="0"/>
                <a:ea typeface="Cambria" pitchFamily="34" charset="-122"/>
                <a:cs typeface="Cambria" pitchFamily="34" charset="-120"/>
              </a:rPr>
              <a:t>Reduce Search Time</a:t>
            </a:r>
            <a:endParaRPr lang="en-US" sz="1500" dirty="0"/>
          </a:p>
        </p:txBody>
      </p:sp>
      <p:sp>
        <p:nvSpPr>
          <p:cNvPr id="16" name="Text 11"/>
          <p:cNvSpPr/>
          <p:nvPr/>
        </p:nvSpPr>
        <p:spPr>
          <a:xfrm>
            <a:off x="3776472" y="3977640"/>
            <a:ext cx="2057400" cy="1280160"/>
          </a:xfrm>
          <a:prstGeom prst="rect">
            <a:avLst/>
          </a:prstGeom>
          <a:noFill/>
          <a:ln/>
        </p:spPr>
        <p:txBody>
          <a:bodyPr wrap="square" lIns="0" tIns="0" rIns="0" bIns="0" rtlCol="0" anchor="ctr"/>
          <a:lstStyle/>
          <a:p>
            <a:pPr marL="0" indent="0">
              <a:lnSpc>
                <a:spcPct val="125000"/>
              </a:lnSpc>
              <a:buNone/>
            </a:pPr>
            <a:r>
              <a:rPr lang="en-US" sz="1100" dirty="0">
                <a:solidFill>
                  <a:srgbClr val="64748B"/>
                </a:solidFill>
                <a:latin typeface="Calibri" pitchFamily="34" charset="0"/>
                <a:ea typeface="Calibri" pitchFamily="34" charset="-122"/>
                <a:cs typeface="Calibri" pitchFamily="34" charset="-120"/>
              </a:rPr>
              <a:t>Help shoppers find relevant items faster, with fewer clicks.</a:t>
            </a:r>
            <a:endParaRPr lang="en-US" sz="1100" dirty="0"/>
          </a:p>
        </p:txBody>
      </p:sp>
      <p:sp>
        <p:nvSpPr>
          <p:cNvPr id="17" name="Shape 12"/>
          <p:cNvSpPr/>
          <p:nvPr/>
        </p:nvSpPr>
        <p:spPr>
          <a:xfrm>
            <a:off x="6364224" y="1828800"/>
            <a:ext cx="2606040" cy="3566160"/>
          </a:xfrm>
          <a:prstGeom prst="roundRect">
            <a:avLst>
              <a:gd name="adj" fmla="val 4211"/>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8" name="Shape 13"/>
          <p:cNvSpPr/>
          <p:nvPr/>
        </p:nvSpPr>
        <p:spPr>
          <a:xfrm>
            <a:off x="6638544" y="2148840"/>
            <a:ext cx="777240" cy="777240"/>
          </a:xfrm>
          <a:prstGeom prst="ellipse">
            <a:avLst/>
          </a:prstGeom>
          <a:solidFill>
            <a:srgbClr val="E5F7FA"/>
          </a:solidFill>
          <a:ln/>
        </p:spPr>
        <p:txBody>
          <a:bodyPr/>
          <a:lstStyle/>
          <a:p>
            <a:endParaRPr lang="en-US"/>
          </a:p>
        </p:txBody>
      </p:sp>
      <p:pic>
        <p:nvPicPr>
          <p:cNvPr id="19" name="Image 3" descr="/home/claude/aurora/icons/experience_1E3FD6.png"/>
          <p:cNvPicPr>
            <a:picLocks noChangeAspect="1"/>
          </p:cNvPicPr>
          <p:nvPr/>
        </p:nvPicPr>
        <p:blipFill>
          <a:blip r:embed="rId6"/>
          <a:stretch>
            <a:fillRect/>
          </a:stretch>
        </p:blipFill>
        <p:spPr>
          <a:xfrm>
            <a:off x="6813423" y="2323719"/>
            <a:ext cx="427482" cy="427482"/>
          </a:xfrm>
          <a:prstGeom prst="rect">
            <a:avLst/>
          </a:prstGeom>
        </p:spPr>
      </p:pic>
      <p:sp>
        <p:nvSpPr>
          <p:cNvPr id="20" name="Text 14"/>
          <p:cNvSpPr/>
          <p:nvPr/>
        </p:nvSpPr>
        <p:spPr>
          <a:xfrm>
            <a:off x="8147304" y="2103120"/>
            <a:ext cx="640080" cy="457200"/>
          </a:xfrm>
          <a:prstGeom prst="rect">
            <a:avLst/>
          </a:prstGeom>
          <a:noFill/>
          <a:ln/>
        </p:spPr>
        <p:txBody>
          <a:bodyPr wrap="square" lIns="0" tIns="0" rIns="0" bIns="0" rtlCol="0" anchor="ctr"/>
          <a:lstStyle/>
          <a:p>
            <a:pPr marL="0" indent="0" algn="r">
              <a:buNone/>
            </a:pPr>
            <a:r>
              <a:rPr lang="en-US" sz="2200" b="1" dirty="0">
                <a:solidFill>
                  <a:srgbClr val="C7D2FE"/>
                </a:solidFill>
                <a:latin typeface="Cambria" pitchFamily="34" charset="0"/>
                <a:ea typeface="Cambria" pitchFamily="34" charset="-122"/>
                <a:cs typeface="Cambria" pitchFamily="34" charset="-120"/>
              </a:rPr>
              <a:t>03</a:t>
            </a:r>
            <a:endParaRPr lang="en-US" sz="2200" dirty="0"/>
          </a:p>
        </p:txBody>
      </p:sp>
      <p:sp>
        <p:nvSpPr>
          <p:cNvPr id="21" name="Text 15"/>
          <p:cNvSpPr/>
          <p:nvPr/>
        </p:nvSpPr>
        <p:spPr>
          <a:xfrm>
            <a:off x="6638544" y="3154680"/>
            <a:ext cx="2057400" cy="822960"/>
          </a:xfrm>
          <a:prstGeom prst="rect">
            <a:avLst/>
          </a:prstGeom>
          <a:noFill/>
          <a:ln/>
        </p:spPr>
        <p:txBody>
          <a:bodyPr wrap="square" lIns="0" tIns="0" rIns="0" bIns="0" rtlCol="0" anchor="ctr"/>
          <a:lstStyle/>
          <a:p>
            <a:pPr marL="0" indent="0">
              <a:lnSpc>
                <a:spcPct val="105000"/>
              </a:lnSpc>
              <a:buNone/>
            </a:pPr>
            <a:r>
              <a:rPr lang="en-US" sz="1500" b="1" dirty="0">
                <a:solidFill>
                  <a:srgbClr val="1E293B"/>
                </a:solidFill>
                <a:latin typeface="Cambria" pitchFamily="34" charset="0"/>
                <a:ea typeface="Cambria" pitchFamily="34" charset="-122"/>
                <a:cs typeface="Cambria" pitchFamily="34" charset="-120"/>
              </a:rPr>
              <a:t>Better User Experience</a:t>
            </a:r>
            <a:endParaRPr lang="en-US" sz="1500" dirty="0"/>
          </a:p>
        </p:txBody>
      </p:sp>
      <p:sp>
        <p:nvSpPr>
          <p:cNvPr id="22" name="Text 16"/>
          <p:cNvSpPr/>
          <p:nvPr/>
        </p:nvSpPr>
        <p:spPr>
          <a:xfrm>
            <a:off x="6638544" y="3977640"/>
            <a:ext cx="2057400" cy="1280160"/>
          </a:xfrm>
          <a:prstGeom prst="rect">
            <a:avLst/>
          </a:prstGeom>
          <a:noFill/>
          <a:ln/>
        </p:spPr>
        <p:txBody>
          <a:bodyPr wrap="square" lIns="0" tIns="0" rIns="0" bIns="0" rtlCol="0" anchor="ctr"/>
          <a:lstStyle/>
          <a:p>
            <a:pPr marL="0" indent="0">
              <a:lnSpc>
                <a:spcPct val="125000"/>
              </a:lnSpc>
              <a:buNone/>
            </a:pPr>
            <a:r>
              <a:rPr lang="en-US" sz="1100" dirty="0">
                <a:solidFill>
                  <a:srgbClr val="64748B"/>
                </a:solidFill>
                <a:latin typeface="Calibri" pitchFamily="34" charset="0"/>
                <a:ea typeface="Calibri" pitchFamily="34" charset="-122"/>
                <a:cs typeface="Calibri" pitchFamily="34" charset="-120"/>
              </a:rPr>
              <a:t>Make browsing feel intuitive, relevant, and enjoyable.</a:t>
            </a:r>
            <a:endParaRPr lang="en-US" sz="1100" dirty="0"/>
          </a:p>
        </p:txBody>
      </p:sp>
      <p:sp>
        <p:nvSpPr>
          <p:cNvPr id="23" name="Shape 17"/>
          <p:cNvSpPr/>
          <p:nvPr/>
        </p:nvSpPr>
        <p:spPr>
          <a:xfrm>
            <a:off x="9226296" y="1828800"/>
            <a:ext cx="2606040" cy="3566160"/>
          </a:xfrm>
          <a:prstGeom prst="roundRect">
            <a:avLst>
              <a:gd name="adj" fmla="val 4211"/>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4" name="Shape 18"/>
          <p:cNvSpPr/>
          <p:nvPr/>
        </p:nvSpPr>
        <p:spPr>
          <a:xfrm>
            <a:off x="9500616" y="2148840"/>
            <a:ext cx="777240" cy="777240"/>
          </a:xfrm>
          <a:prstGeom prst="ellipse">
            <a:avLst/>
          </a:prstGeom>
          <a:solidFill>
            <a:srgbClr val="FFFFFF"/>
          </a:solidFill>
          <a:ln/>
        </p:spPr>
        <p:txBody>
          <a:bodyPr/>
          <a:lstStyle/>
          <a:p>
            <a:endParaRPr lang="en-US"/>
          </a:p>
        </p:txBody>
      </p:sp>
      <p:pic>
        <p:nvPicPr>
          <p:cNvPr id="25" name="Image 4" descr="/home/claude/aurora/icons/cart_7C3AED.png"/>
          <p:cNvPicPr>
            <a:picLocks noChangeAspect="1"/>
          </p:cNvPicPr>
          <p:nvPr/>
        </p:nvPicPr>
        <p:blipFill>
          <a:blip r:embed="rId7"/>
          <a:stretch>
            <a:fillRect/>
          </a:stretch>
        </p:blipFill>
        <p:spPr>
          <a:xfrm>
            <a:off x="9675495" y="2323719"/>
            <a:ext cx="427482" cy="427482"/>
          </a:xfrm>
          <a:prstGeom prst="rect">
            <a:avLst/>
          </a:prstGeom>
        </p:spPr>
      </p:pic>
      <p:sp>
        <p:nvSpPr>
          <p:cNvPr id="26" name="Text 19"/>
          <p:cNvSpPr/>
          <p:nvPr/>
        </p:nvSpPr>
        <p:spPr>
          <a:xfrm>
            <a:off x="11009376" y="2103120"/>
            <a:ext cx="640080" cy="457200"/>
          </a:xfrm>
          <a:prstGeom prst="rect">
            <a:avLst/>
          </a:prstGeom>
          <a:noFill/>
          <a:ln/>
        </p:spPr>
        <p:txBody>
          <a:bodyPr wrap="square" lIns="0" tIns="0" rIns="0" bIns="0" rtlCol="0" anchor="ctr"/>
          <a:lstStyle/>
          <a:p>
            <a:pPr marL="0" indent="0" algn="r">
              <a:buNone/>
            </a:pPr>
            <a:r>
              <a:rPr lang="en-US" sz="2200" b="1" dirty="0">
                <a:solidFill>
                  <a:srgbClr val="C7D2FE"/>
                </a:solidFill>
                <a:latin typeface="Cambria" pitchFamily="34" charset="0"/>
                <a:ea typeface="Cambria" pitchFamily="34" charset="-122"/>
                <a:cs typeface="Cambria" pitchFamily="34" charset="-120"/>
              </a:rPr>
              <a:t>04</a:t>
            </a:r>
            <a:endParaRPr lang="en-US" sz="2200" dirty="0"/>
          </a:p>
        </p:txBody>
      </p:sp>
      <p:sp>
        <p:nvSpPr>
          <p:cNvPr id="27" name="Text 20"/>
          <p:cNvSpPr/>
          <p:nvPr/>
        </p:nvSpPr>
        <p:spPr>
          <a:xfrm>
            <a:off x="9500616" y="3154680"/>
            <a:ext cx="2057400" cy="822960"/>
          </a:xfrm>
          <a:prstGeom prst="rect">
            <a:avLst/>
          </a:prstGeom>
          <a:noFill/>
          <a:ln/>
        </p:spPr>
        <p:txBody>
          <a:bodyPr wrap="square" lIns="0" tIns="0" rIns="0" bIns="0" rtlCol="0" anchor="ctr"/>
          <a:lstStyle/>
          <a:p>
            <a:pPr marL="0" indent="0">
              <a:lnSpc>
                <a:spcPct val="105000"/>
              </a:lnSpc>
              <a:buNone/>
            </a:pPr>
            <a:r>
              <a:rPr lang="en-US" sz="1500" b="1" dirty="0">
                <a:solidFill>
                  <a:srgbClr val="1E293B"/>
                </a:solidFill>
                <a:latin typeface="Cambria" pitchFamily="34" charset="0"/>
                <a:ea typeface="Cambria" pitchFamily="34" charset="-122"/>
                <a:cs typeface="Cambria" pitchFamily="34" charset="-120"/>
              </a:rPr>
              <a:t>Improve Shopping Experience</a:t>
            </a:r>
            <a:endParaRPr lang="en-US" sz="1500" dirty="0"/>
          </a:p>
        </p:txBody>
      </p:sp>
      <p:sp>
        <p:nvSpPr>
          <p:cNvPr id="28" name="Text 21"/>
          <p:cNvSpPr/>
          <p:nvPr/>
        </p:nvSpPr>
        <p:spPr>
          <a:xfrm>
            <a:off x="9500616" y="3977640"/>
            <a:ext cx="2057400" cy="1280160"/>
          </a:xfrm>
          <a:prstGeom prst="rect">
            <a:avLst/>
          </a:prstGeom>
          <a:noFill/>
          <a:ln/>
        </p:spPr>
        <p:txBody>
          <a:bodyPr wrap="square" lIns="0" tIns="0" rIns="0" bIns="0" rtlCol="0" anchor="ctr"/>
          <a:lstStyle/>
          <a:p>
            <a:pPr marL="0" indent="0">
              <a:lnSpc>
                <a:spcPct val="125000"/>
              </a:lnSpc>
              <a:buNone/>
            </a:pPr>
            <a:r>
              <a:rPr lang="en-US" sz="1100" dirty="0">
                <a:solidFill>
                  <a:srgbClr val="64748B"/>
                </a:solidFill>
                <a:latin typeface="Calibri" pitchFamily="34" charset="0"/>
                <a:ea typeface="Calibri" pitchFamily="34" charset="-122"/>
                <a:cs typeface="Calibri" pitchFamily="34" charset="-120"/>
              </a:rPr>
              <a:t>Increase engagement and conversion through smarter suggestions.</a:t>
            </a:r>
            <a:endParaRPr lang="en-US" sz="1100" dirty="0"/>
          </a:p>
        </p:txBody>
      </p:sp>
      <p:sp>
        <p:nvSpPr>
          <p:cNvPr id="29" name="Text 2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INDUSTRY CONTEXT</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Why Recommendation Systems? Real-World Use</a:t>
            </a:r>
            <a:endParaRPr lang="en-US" sz="3400" dirty="0"/>
          </a:p>
        </p:txBody>
      </p:sp>
      <p:sp>
        <p:nvSpPr>
          <p:cNvPr id="5" name="Text 2"/>
          <p:cNvSpPr/>
          <p:nvPr/>
        </p:nvSpPr>
        <p:spPr>
          <a:xfrm>
            <a:off x="640080" y="1645920"/>
            <a:ext cx="7772400" cy="731520"/>
          </a:xfrm>
          <a:prstGeom prst="rect">
            <a:avLst/>
          </a:prstGeom>
          <a:noFill/>
          <a:ln/>
        </p:spPr>
        <p:txBody>
          <a:bodyPr wrap="square" lIns="0" tIns="0" rIns="0" bIns="0" rtlCol="0" anchor="ctr"/>
          <a:lstStyle/>
          <a:p>
            <a:pPr marL="0" indent="0">
              <a:lnSpc>
                <a:spcPct val="125000"/>
              </a:lnSpc>
              <a:buNone/>
            </a:pPr>
            <a:r>
              <a:rPr lang="en-US" sz="1350" dirty="0">
                <a:solidFill>
                  <a:srgbClr val="64748B"/>
                </a:solidFill>
                <a:latin typeface="Calibri" pitchFamily="34" charset="0"/>
                <a:ea typeface="Calibri" pitchFamily="34" charset="-122"/>
                <a:cs typeface="Calibri" pitchFamily="34" charset="-120"/>
              </a:rPr>
              <a:t>Recommendation engines power engagement and revenue across the industries</a:t>
            </a:r>
            <a:endParaRPr lang="en-US" sz="1350" dirty="0"/>
          </a:p>
          <a:p>
            <a:pPr marL="0" indent="0">
              <a:lnSpc>
                <a:spcPct val="125000"/>
              </a:lnSpc>
              <a:buNone/>
            </a:pPr>
            <a:r>
              <a:rPr lang="en-US" sz="1350" dirty="0">
                <a:solidFill>
                  <a:srgbClr val="64748B"/>
                </a:solidFill>
                <a:latin typeface="Calibri" pitchFamily="34" charset="0"/>
                <a:ea typeface="Calibri" pitchFamily="34" charset="-122"/>
                <a:cs typeface="Calibri" pitchFamily="34" charset="-120"/>
              </a:rPr>
              <a:t>shoppers use every day — proof that this technology is a proven, high-impact field.</a:t>
            </a:r>
            <a:endParaRPr lang="en-US" sz="1350" dirty="0"/>
          </a:p>
        </p:txBody>
      </p:sp>
      <p:sp>
        <p:nvSpPr>
          <p:cNvPr id="6" name="Shape 3"/>
          <p:cNvSpPr/>
          <p:nvPr/>
        </p:nvSpPr>
        <p:spPr>
          <a:xfrm>
            <a:off x="640080" y="2514600"/>
            <a:ext cx="2606040" cy="3200400"/>
          </a:xfrm>
          <a:prstGeom prst="roundRect">
            <a:avLst>
              <a:gd name="adj" fmla="val 4211"/>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7" name="Shape 4"/>
          <p:cNvSpPr/>
          <p:nvPr/>
        </p:nvSpPr>
        <p:spPr>
          <a:xfrm>
            <a:off x="1531620" y="2834640"/>
            <a:ext cx="822960" cy="822960"/>
          </a:xfrm>
          <a:prstGeom prst="ellipse">
            <a:avLst/>
          </a:prstGeom>
          <a:solidFill>
            <a:srgbClr val="1E3FD6"/>
          </a:solidFill>
          <a:ln/>
        </p:spPr>
        <p:txBody>
          <a:bodyPr/>
          <a:lstStyle/>
          <a:p>
            <a:endParaRPr lang="en-US"/>
          </a:p>
        </p:txBody>
      </p:sp>
      <p:pic>
        <p:nvPicPr>
          <p:cNvPr id="8" name="Image 1" descr="/home/claude/aurora/icons/shopping_FFFFFF.png"/>
          <p:cNvPicPr>
            <a:picLocks noChangeAspect="1"/>
          </p:cNvPicPr>
          <p:nvPr/>
        </p:nvPicPr>
        <p:blipFill>
          <a:blip r:embed="rId4"/>
          <a:stretch>
            <a:fillRect/>
          </a:stretch>
        </p:blipFill>
        <p:spPr>
          <a:xfrm>
            <a:off x="1737360" y="3040380"/>
            <a:ext cx="411480" cy="411480"/>
          </a:xfrm>
          <a:prstGeom prst="rect">
            <a:avLst/>
          </a:prstGeom>
        </p:spPr>
      </p:pic>
      <p:sp>
        <p:nvSpPr>
          <p:cNvPr id="9" name="Text 5"/>
          <p:cNvSpPr/>
          <p:nvPr/>
        </p:nvSpPr>
        <p:spPr>
          <a:xfrm>
            <a:off x="777240" y="3840480"/>
            <a:ext cx="2331720" cy="54864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E-Commerce Platforms</a:t>
            </a:r>
            <a:endParaRPr lang="en-US" sz="1300" dirty="0"/>
          </a:p>
        </p:txBody>
      </p:sp>
      <p:sp>
        <p:nvSpPr>
          <p:cNvPr id="10" name="Text 6"/>
          <p:cNvSpPr/>
          <p:nvPr/>
        </p:nvSpPr>
        <p:spPr>
          <a:xfrm>
            <a:off x="822960" y="4389120"/>
            <a:ext cx="2240280" cy="1234440"/>
          </a:xfrm>
          <a:prstGeom prst="rect">
            <a:avLst/>
          </a:prstGeom>
          <a:noFill/>
          <a:ln/>
        </p:spPr>
        <p:txBody>
          <a:bodyPr wrap="square" lIns="0" tIns="0" rIns="0" bIns="0" rtlCol="0" anchor="ctr"/>
          <a:lstStyle/>
          <a:p>
            <a:pPr marL="0" indent="0" algn="ctr">
              <a:lnSpc>
                <a:spcPct val="120000"/>
              </a:lnSpc>
              <a:buNone/>
            </a:pPr>
            <a:r>
              <a:rPr lang="en-US" sz="1000" dirty="0">
                <a:solidFill>
                  <a:srgbClr val="64748B"/>
                </a:solidFill>
                <a:latin typeface="Calibri" pitchFamily="34" charset="0"/>
                <a:ea typeface="Calibri" pitchFamily="34" charset="-122"/>
                <a:cs typeface="Calibri" pitchFamily="34" charset="-120"/>
              </a:rPr>
              <a:t>Product suggestions like “you may also like” drive a large share of online sales.</a:t>
            </a:r>
            <a:endParaRPr lang="en-US" sz="1000" dirty="0"/>
          </a:p>
        </p:txBody>
      </p:sp>
      <p:sp>
        <p:nvSpPr>
          <p:cNvPr id="11" name="Shape 7"/>
          <p:cNvSpPr/>
          <p:nvPr/>
        </p:nvSpPr>
        <p:spPr>
          <a:xfrm>
            <a:off x="3502152" y="2514600"/>
            <a:ext cx="2606040" cy="3200400"/>
          </a:xfrm>
          <a:prstGeom prst="roundRect">
            <a:avLst>
              <a:gd name="adj" fmla="val 4211"/>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2" name="Shape 8"/>
          <p:cNvSpPr/>
          <p:nvPr/>
        </p:nvSpPr>
        <p:spPr>
          <a:xfrm>
            <a:off x="4393692" y="2834640"/>
            <a:ext cx="822960" cy="822960"/>
          </a:xfrm>
          <a:prstGeom prst="ellipse">
            <a:avLst/>
          </a:prstGeom>
          <a:solidFill>
            <a:srgbClr val="1E3FD6"/>
          </a:solidFill>
          <a:ln/>
        </p:spPr>
        <p:txBody>
          <a:bodyPr/>
          <a:lstStyle/>
          <a:p>
            <a:endParaRPr lang="en-US"/>
          </a:p>
        </p:txBody>
      </p:sp>
      <p:pic>
        <p:nvPicPr>
          <p:cNvPr id="13" name="Image 2" descr="/home/claude/aurora/icons/movie_FFFFFF.png"/>
          <p:cNvPicPr>
            <a:picLocks noChangeAspect="1"/>
          </p:cNvPicPr>
          <p:nvPr/>
        </p:nvPicPr>
        <p:blipFill>
          <a:blip r:embed="rId5"/>
          <a:stretch>
            <a:fillRect/>
          </a:stretch>
        </p:blipFill>
        <p:spPr>
          <a:xfrm>
            <a:off x="4599432" y="3040380"/>
            <a:ext cx="411480" cy="411480"/>
          </a:xfrm>
          <a:prstGeom prst="rect">
            <a:avLst/>
          </a:prstGeom>
        </p:spPr>
      </p:pic>
      <p:sp>
        <p:nvSpPr>
          <p:cNvPr id="14" name="Text 9"/>
          <p:cNvSpPr/>
          <p:nvPr/>
        </p:nvSpPr>
        <p:spPr>
          <a:xfrm>
            <a:off x="3639312" y="3840480"/>
            <a:ext cx="2331720" cy="54864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Streaming Video</a:t>
            </a:r>
            <a:endParaRPr lang="en-US" sz="1300" dirty="0"/>
          </a:p>
        </p:txBody>
      </p:sp>
      <p:sp>
        <p:nvSpPr>
          <p:cNvPr id="15" name="Text 10"/>
          <p:cNvSpPr/>
          <p:nvPr/>
        </p:nvSpPr>
        <p:spPr>
          <a:xfrm>
            <a:off x="3685032" y="4389120"/>
            <a:ext cx="2240280" cy="1234440"/>
          </a:xfrm>
          <a:prstGeom prst="rect">
            <a:avLst/>
          </a:prstGeom>
          <a:noFill/>
          <a:ln/>
        </p:spPr>
        <p:txBody>
          <a:bodyPr wrap="square" lIns="0" tIns="0" rIns="0" bIns="0" rtlCol="0" anchor="ctr"/>
          <a:lstStyle/>
          <a:p>
            <a:pPr marL="0" indent="0" algn="ctr">
              <a:lnSpc>
                <a:spcPct val="120000"/>
              </a:lnSpc>
              <a:buNone/>
            </a:pPr>
            <a:r>
              <a:rPr lang="en-US" sz="1000" dirty="0">
                <a:solidFill>
                  <a:srgbClr val="64748B"/>
                </a:solidFill>
                <a:latin typeface="Calibri" pitchFamily="34" charset="0"/>
                <a:ea typeface="Calibri" pitchFamily="34" charset="-122"/>
                <a:cs typeface="Calibri" pitchFamily="34" charset="-120"/>
              </a:rPr>
              <a:t>Personalized rows of shows and movies keep viewers watching longer.</a:t>
            </a:r>
            <a:endParaRPr lang="en-US" sz="1000" dirty="0"/>
          </a:p>
        </p:txBody>
      </p:sp>
      <p:sp>
        <p:nvSpPr>
          <p:cNvPr id="16" name="Shape 11"/>
          <p:cNvSpPr/>
          <p:nvPr/>
        </p:nvSpPr>
        <p:spPr>
          <a:xfrm>
            <a:off x="6364224" y="2514600"/>
            <a:ext cx="2606040" cy="3200400"/>
          </a:xfrm>
          <a:prstGeom prst="roundRect">
            <a:avLst>
              <a:gd name="adj" fmla="val 4211"/>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7" name="Shape 12"/>
          <p:cNvSpPr/>
          <p:nvPr/>
        </p:nvSpPr>
        <p:spPr>
          <a:xfrm>
            <a:off x="7255764" y="2834640"/>
            <a:ext cx="822960" cy="822960"/>
          </a:xfrm>
          <a:prstGeom prst="ellipse">
            <a:avLst/>
          </a:prstGeom>
          <a:solidFill>
            <a:srgbClr val="1E3FD6"/>
          </a:solidFill>
          <a:ln/>
        </p:spPr>
        <p:txBody>
          <a:bodyPr/>
          <a:lstStyle/>
          <a:p>
            <a:endParaRPr lang="en-US"/>
          </a:p>
        </p:txBody>
      </p:sp>
      <p:pic>
        <p:nvPicPr>
          <p:cNvPr id="18" name="Image 3" descr="/home/claude/aurora/icons/music_FFFFFF.png"/>
          <p:cNvPicPr>
            <a:picLocks noChangeAspect="1"/>
          </p:cNvPicPr>
          <p:nvPr/>
        </p:nvPicPr>
        <p:blipFill>
          <a:blip r:embed="rId6"/>
          <a:stretch>
            <a:fillRect/>
          </a:stretch>
        </p:blipFill>
        <p:spPr>
          <a:xfrm>
            <a:off x="7461504" y="3040380"/>
            <a:ext cx="411480" cy="411480"/>
          </a:xfrm>
          <a:prstGeom prst="rect">
            <a:avLst/>
          </a:prstGeom>
        </p:spPr>
      </p:pic>
      <p:sp>
        <p:nvSpPr>
          <p:cNvPr id="19" name="Text 13"/>
          <p:cNvSpPr/>
          <p:nvPr/>
        </p:nvSpPr>
        <p:spPr>
          <a:xfrm>
            <a:off x="6501384" y="3840480"/>
            <a:ext cx="2331720" cy="54864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Music Streaming</a:t>
            </a:r>
            <a:endParaRPr lang="en-US" sz="1300" dirty="0"/>
          </a:p>
        </p:txBody>
      </p:sp>
      <p:sp>
        <p:nvSpPr>
          <p:cNvPr id="20" name="Text 14"/>
          <p:cNvSpPr/>
          <p:nvPr/>
        </p:nvSpPr>
        <p:spPr>
          <a:xfrm>
            <a:off x="6547104" y="4389120"/>
            <a:ext cx="2240280" cy="1234440"/>
          </a:xfrm>
          <a:prstGeom prst="rect">
            <a:avLst/>
          </a:prstGeom>
          <a:noFill/>
          <a:ln/>
        </p:spPr>
        <p:txBody>
          <a:bodyPr wrap="square" lIns="0" tIns="0" rIns="0" bIns="0" rtlCol="0" anchor="ctr"/>
          <a:lstStyle/>
          <a:p>
            <a:pPr marL="0" indent="0" algn="ctr">
              <a:lnSpc>
                <a:spcPct val="120000"/>
              </a:lnSpc>
              <a:buNone/>
            </a:pPr>
            <a:r>
              <a:rPr lang="en-US" sz="1000" dirty="0">
                <a:solidFill>
                  <a:srgbClr val="64748B"/>
                </a:solidFill>
                <a:latin typeface="Calibri" pitchFamily="34" charset="0"/>
                <a:ea typeface="Calibri" pitchFamily="34" charset="-122"/>
                <a:cs typeface="Calibri" pitchFamily="34" charset="-120"/>
              </a:rPr>
              <a:t>Curated playlists and “discover” feeds are built entirely on recommendations.</a:t>
            </a:r>
            <a:endParaRPr lang="en-US" sz="1000" dirty="0"/>
          </a:p>
        </p:txBody>
      </p:sp>
      <p:sp>
        <p:nvSpPr>
          <p:cNvPr id="21" name="Shape 15"/>
          <p:cNvSpPr/>
          <p:nvPr/>
        </p:nvSpPr>
        <p:spPr>
          <a:xfrm>
            <a:off x="9226296" y="2514600"/>
            <a:ext cx="2606040" cy="3200400"/>
          </a:xfrm>
          <a:prstGeom prst="roundRect">
            <a:avLst>
              <a:gd name="adj" fmla="val 4211"/>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2" name="Shape 16"/>
          <p:cNvSpPr/>
          <p:nvPr/>
        </p:nvSpPr>
        <p:spPr>
          <a:xfrm>
            <a:off x="10117836" y="2834640"/>
            <a:ext cx="822960" cy="822960"/>
          </a:xfrm>
          <a:prstGeom prst="ellipse">
            <a:avLst/>
          </a:prstGeom>
          <a:solidFill>
            <a:srgbClr val="1E3FD6"/>
          </a:solidFill>
          <a:ln/>
        </p:spPr>
        <p:txBody>
          <a:bodyPr/>
          <a:lstStyle/>
          <a:p>
            <a:endParaRPr lang="en-US"/>
          </a:p>
        </p:txBody>
      </p:sp>
      <p:pic>
        <p:nvPicPr>
          <p:cNvPr id="23" name="Image 4" descr="/home/claude/aurora/icons/store_FFFFFF.png"/>
          <p:cNvPicPr>
            <a:picLocks noChangeAspect="1"/>
          </p:cNvPicPr>
          <p:nvPr/>
        </p:nvPicPr>
        <p:blipFill>
          <a:blip r:embed="rId7"/>
          <a:stretch>
            <a:fillRect/>
          </a:stretch>
        </p:blipFill>
        <p:spPr>
          <a:xfrm>
            <a:off x="10323576" y="3040380"/>
            <a:ext cx="411480" cy="411480"/>
          </a:xfrm>
          <a:prstGeom prst="rect">
            <a:avLst/>
          </a:prstGeom>
        </p:spPr>
      </p:pic>
      <p:sp>
        <p:nvSpPr>
          <p:cNvPr id="24" name="Text 17"/>
          <p:cNvSpPr/>
          <p:nvPr/>
        </p:nvSpPr>
        <p:spPr>
          <a:xfrm>
            <a:off x="9363456" y="3840480"/>
            <a:ext cx="2331720" cy="548640"/>
          </a:xfrm>
          <a:prstGeom prst="rect">
            <a:avLst/>
          </a:prstGeom>
          <a:noFill/>
          <a:ln/>
        </p:spPr>
        <p:txBody>
          <a:bodyPr wrap="square" lIns="0" tIns="0" rIns="0" bIns="0" rtlCol="0" anchor="ctr"/>
          <a:lstStyle/>
          <a:p>
            <a:pPr marL="0" indent="0" algn="ctr">
              <a:buNone/>
            </a:pPr>
            <a:r>
              <a:rPr lang="en-US" sz="1300" b="1" dirty="0">
                <a:solidFill>
                  <a:srgbClr val="1E293B"/>
                </a:solidFill>
                <a:latin typeface="Cambria" pitchFamily="34" charset="0"/>
                <a:ea typeface="Cambria" pitchFamily="34" charset="-122"/>
                <a:cs typeface="Cambria" pitchFamily="34" charset="-120"/>
              </a:rPr>
              <a:t>Online Marketplaces</a:t>
            </a:r>
            <a:endParaRPr lang="en-US" sz="1300" dirty="0"/>
          </a:p>
        </p:txBody>
      </p:sp>
      <p:sp>
        <p:nvSpPr>
          <p:cNvPr id="25" name="Text 18"/>
          <p:cNvSpPr/>
          <p:nvPr/>
        </p:nvSpPr>
        <p:spPr>
          <a:xfrm>
            <a:off x="9409176" y="4389120"/>
            <a:ext cx="2240280" cy="1234440"/>
          </a:xfrm>
          <a:prstGeom prst="rect">
            <a:avLst/>
          </a:prstGeom>
          <a:noFill/>
          <a:ln/>
        </p:spPr>
        <p:txBody>
          <a:bodyPr wrap="square" lIns="0" tIns="0" rIns="0" bIns="0" rtlCol="0" anchor="ctr"/>
          <a:lstStyle/>
          <a:p>
            <a:pPr marL="0" indent="0" algn="ctr">
              <a:lnSpc>
                <a:spcPct val="120000"/>
              </a:lnSpc>
              <a:buNone/>
            </a:pPr>
            <a:r>
              <a:rPr lang="en-US" sz="1000" dirty="0">
                <a:solidFill>
                  <a:srgbClr val="64748B"/>
                </a:solidFill>
                <a:latin typeface="Calibri" pitchFamily="34" charset="0"/>
                <a:ea typeface="Calibri" pitchFamily="34" charset="-122"/>
                <a:cs typeface="Calibri" pitchFamily="34" charset="-120"/>
              </a:rPr>
              <a:t>Ranking and search results are personalized per shopper for higher conversion.</a:t>
            </a:r>
            <a:endParaRPr lang="en-US" sz="1000" dirty="0"/>
          </a:p>
        </p:txBody>
      </p:sp>
      <p:sp>
        <p:nvSpPr>
          <p:cNvPr id="26" name="Text 19"/>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TECHNOLOGY STACK</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Technologies Used</a:t>
            </a:r>
            <a:endParaRPr lang="en-US" sz="3400" dirty="0"/>
          </a:p>
        </p:txBody>
      </p:sp>
      <p:sp>
        <p:nvSpPr>
          <p:cNvPr id="5" name="Shape 2"/>
          <p:cNvSpPr/>
          <p:nvPr/>
        </p:nvSpPr>
        <p:spPr>
          <a:xfrm>
            <a:off x="640080" y="1874520"/>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1234440" y="2057400"/>
            <a:ext cx="566928" cy="566928"/>
          </a:xfrm>
          <a:prstGeom prst="ellipse">
            <a:avLst/>
          </a:prstGeom>
          <a:solidFill>
            <a:srgbClr val="E5F7FA"/>
          </a:solidFill>
          <a:ln/>
        </p:spPr>
        <p:txBody>
          <a:bodyPr/>
          <a:lstStyle/>
          <a:p>
            <a:endParaRPr lang="en-US"/>
          </a:p>
        </p:txBody>
      </p:sp>
      <p:pic>
        <p:nvPicPr>
          <p:cNvPr id="7" name="Image 1" descr="/home/claude/aurora/icons/python_1E3FD6.png"/>
          <p:cNvPicPr>
            <a:picLocks noChangeAspect="1"/>
          </p:cNvPicPr>
          <p:nvPr/>
        </p:nvPicPr>
        <p:blipFill>
          <a:blip r:embed="rId4"/>
          <a:stretch>
            <a:fillRect/>
          </a:stretch>
        </p:blipFill>
        <p:spPr>
          <a:xfrm>
            <a:off x="1361999" y="2184959"/>
            <a:ext cx="311810" cy="311810"/>
          </a:xfrm>
          <a:prstGeom prst="rect">
            <a:avLst/>
          </a:prstGeom>
        </p:spPr>
      </p:pic>
      <p:sp>
        <p:nvSpPr>
          <p:cNvPr id="8" name="Text 4"/>
          <p:cNvSpPr/>
          <p:nvPr/>
        </p:nvSpPr>
        <p:spPr>
          <a:xfrm>
            <a:off x="685800" y="2770632"/>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Python</a:t>
            </a:r>
            <a:endParaRPr lang="en-US" sz="1050" dirty="0"/>
          </a:p>
        </p:txBody>
      </p:sp>
      <p:sp>
        <p:nvSpPr>
          <p:cNvPr id="9" name="Shape 5"/>
          <p:cNvSpPr/>
          <p:nvPr/>
        </p:nvSpPr>
        <p:spPr>
          <a:xfrm>
            <a:off x="2487168" y="1874520"/>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0" name="Shape 6"/>
          <p:cNvSpPr/>
          <p:nvPr/>
        </p:nvSpPr>
        <p:spPr>
          <a:xfrm>
            <a:off x="3081528" y="2057400"/>
            <a:ext cx="566928" cy="566928"/>
          </a:xfrm>
          <a:prstGeom prst="ellipse">
            <a:avLst/>
          </a:prstGeom>
          <a:solidFill>
            <a:srgbClr val="E5F7FA"/>
          </a:solidFill>
          <a:ln/>
        </p:spPr>
        <p:txBody>
          <a:bodyPr/>
          <a:lstStyle/>
          <a:p>
            <a:endParaRPr lang="en-US"/>
          </a:p>
        </p:txBody>
      </p:sp>
      <p:pic>
        <p:nvPicPr>
          <p:cNvPr id="11" name="Image 2" descr="/home/claude/aurora/icons/flask_1E293B.png"/>
          <p:cNvPicPr>
            <a:picLocks noChangeAspect="1"/>
          </p:cNvPicPr>
          <p:nvPr/>
        </p:nvPicPr>
        <p:blipFill>
          <a:blip r:embed="rId5"/>
          <a:stretch>
            <a:fillRect/>
          </a:stretch>
        </p:blipFill>
        <p:spPr>
          <a:xfrm>
            <a:off x="3209087" y="2184959"/>
            <a:ext cx="311810" cy="311810"/>
          </a:xfrm>
          <a:prstGeom prst="rect">
            <a:avLst/>
          </a:prstGeom>
        </p:spPr>
      </p:pic>
      <p:sp>
        <p:nvSpPr>
          <p:cNvPr id="12" name="Text 7"/>
          <p:cNvSpPr/>
          <p:nvPr/>
        </p:nvSpPr>
        <p:spPr>
          <a:xfrm>
            <a:off x="2532888" y="2770632"/>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Flask</a:t>
            </a:r>
            <a:endParaRPr lang="en-US" sz="1050" dirty="0"/>
          </a:p>
        </p:txBody>
      </p:sp>
      <p:sp>
        <p:nvSpPr>
          <p:cNvPr id="13" name="Shape 8"/>
          <p:cNvSpPr/>
          <p:nvPr/>
        </p:nvSpPr>
        <p:spPr>
          <a:xfrm>
            <a:off x="4334256" y="1874520"/>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4" name="Shape 9"/>
          <p:cNvSpPr/>
          <p:nvPr/>
        </p:nvSpPr>
        <p:spPr>
          <a:xfrm>
            <a:off x="4928616" y="2057400"/>
            <a:ext cx="566928" cy="566928"/>
          </a:xfrm>
          <a:prstGeom prst="ellipse">
            <a:avLst/>
          </a:prstGeom>
          <a:solidFill>
            <a:srgbClr val="E5F7FA"/>
          </a:solidFill>
          <a:ln/>
        </p:spPr>
        <p:txBody>
          <a:bodyPr/>
          <a:lstStyle/>
          <a:p>
            <a:endParaRPr lang="en-US"/>
          </a:p>
        </p:txBody>
      </p:sp>
      <p:pic>
        <p:nvPicPr>
          <p:cNvPr id="15" name="Image 3" descr="/home/claude/aurora/icons/sqlite_0891B2.png"/>
          <p:cNvPicPr>
            <a:picLocks noChangeAspect="1"/>
          </p:cNvPicPr>
          <p:nvPr/>
        </p:nvPicPr>
        <p:blipFill>
          <a:blip r:embed="rId6"/>
          <a:stretch>
            <a:fillRect/>
          </a:stretch>
        </p:blipFill>
        <p:spPr>
          <a:xfrm>
            <a:off x="5056175" y="2184959"/>
            <a:ext cx="311810" cy="311810"/>
          </a:xfrm>
          <a:prstGeom prst="rect">
            <a:avLst/>
          </a:prstGeom>
        </p:spPr>
      </p:pic>
      <p:sp>
        <p:nvSpPr>
          <p:cNvPr id="16" name="Text 10"/>
          <p:cNvSpPr/>
          <p:nvPr/>
        </p:nvSpPr>
        <p:spPr>
          <a:xfrm>
            <a:off x="4379976" y="2770632"/>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SQLite</a:t>
            </a:r>
            <a:endParaRPr lang="en-US" sz="1050" dirty="0"/>
          </a:p>
        </p:txBody>
      </p:sp>
      <p:sp>
        <p:nvSpPr>
          <p:cNvPr id="17" name="Shape 11"/>
          <p:cNvSpPr/>
          <p:nvPr/>
        </p:nvSpPr>
        <p:spPr>
          <a:xfrm>
            <a:off x="6181344" y="1874520"/>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8" name="Shape 12"/>
          <p:cNvSpPr/>
          <p:nvPr/>
        </p:nvSpPr>
        <p:spPr>
          <a:xfrm>
            <a:off x="6775704" y="2057400"/>
            <a:ext cx="566928" cy="566928"/>
          </a:xfrm>
          <a:prstGeom prst="ellipse">
            <a:avLst/>
          </a:prstGeom>
          <a:solidFill>
            <a:srgbClr val="E5F7FA"/>
          </a:solidFill>
          <a:ln/>
        </p:spPr>
        <p:txBody>
          <a:bodyPr/>
          <a:lstStyle/>
          <a:p>
            <a:endParaRPr lang="en-US"/>
          </a:p>
        </p:txBody>
      </p:sp>
      <p:pic>
        <p:nvPicPr>
          <p:cNvPr id="19" name="Image 4" descr="/home/claude/aurora/icons/html5_7C3AED.png"/>
          <p:cNvPicPr>
            <a:picLocks noChangeAspect="1"/>
          </p:cNvPicPr>
          <p:nvPr/>
        </p:nvPicPr>
        <p:blipFill>
          <a:blip r:embed="rId7"/>
          <a:stretch>
            <a:fillRect/>
          </a:stretch>
        </p:blipFill>
        <p:spPr>
          <a:xfrm>
            <a:off x="6903263" y="2184959"/>
            <a:ext cx="311810" cy="311810"/>
          </a:xfrm>
          <a:prstGeom prst="rect">
            <a:avLst/>
          </a:prstGeom>
        </p:spPr>
      </p:pic>
      <p:sp>
        <p:nvSpPr>
          <p:cNvPr id="20" name="Text 13"/>
          <p:cNvSpPr/>
          <p:nvPr/>
        </p:nvSpPr>
        <p:spPr>
          <a:xfrm>
            <a:off x="6227064" y="2770632"/>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HTML5</a:t>
            </a:r>
            <a:endParaRPr lang="en-US" sz="1050" dirty="0"/>
          </a:p>
        </p:txBody>
      </p:sp>
      <p:sp>
        <p:nvSpPr>
          <p:cNvPr id="21" name="Shape 14"/>
          <p:cNvSpPr/>
          <p:nvPr/>
        </p:nvSpPr>
        <p:spPr>
          <a:xfrm>
            <a:off x="8028432" y="1874520"/>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2" name="Shape 15"/>
          <p:cNvSpPr/>
          <p:nvPr/>
        </p:nvSpPr>
        <p:spPr>
          <a:xfrm>
            <a:off x="8622792" y="2057400"/>
            <a:ext cx="566928" cy="566928"/>
          </a:xfrm>
          <a:prstGeom prst="ellipse">
            <a:avLst/>
          </a:prstGeom>
          <a:solidFill>
            <a:srgbClr val="E5F7FA"/>
          </a:solidFill>
          <a:ln/>
        </p:spPr>
        <p:txBody>
          <a:bodyPr/>
          <a:lstStyle/>
          <a:p>
            <a:endParaRPr lang="en-US"/>
          </a:p>
        </p:txBody>
      </p:sp>
      <p:pic>
        <p:nvPicPr>
          <p:cNvPr id="23" name="Image 5" descr="/home/claude/aurora/icons/tailwind_0891B2.png"/>
          <p:cNvPicPr>
            <a:picLocks noChangeAspect="1"/>
          </p:cNvPicPr>
          <p:nvPr/>
        </p:nvPicPr>
        <p:blipFill>
          <a:blip r:embed="rId8"/>
          <a:stretch>
            <a:fillRect/>
          </a:stretch>
        </p:blipFill>
        <p:spPr>
          <a:xfrm>
            <a:off x="8750351" y="2184959"/>
            <a:ext cx="311810" cy="311810"/>
          </a:xfrm>
          <a:prstGeom prst="rect">
            <a:avLst/>
          </a:prstGeom>
        </p:spPr>
      </p:pic>
      <p:sp>
        <p:nvSpPr>
          <p:cNvPr id="24" name="Text 16"/>
          <p:cNvSpPr/>
          <p:nvPr/>
        </p:nvSpPr>
        <p:spPr>
          <a:xfrm>
            <a:off x="8074152" y="2770632"/>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Tailwind CSS</a:t>
            </a:r>
            <a:endParaRPr lang="en-US" sz="1050" dirty="0"/>
          </a:p>
        </p:txBody>
      </p:sp>
      <p:sp>
        <p:nvSpPr>
          <p:cNvPr id="25" name="Shape 17"/>
          <p:cNvSpPr/>
          <p:nvPr/>
        </p:nvSpPr>
        <p:spPr>
          <a:xfrm>
            <a:off x="9875520" y="1874520"/>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6" name="Shape 18"/>
          <p:cNvSpPr/>
          <p:nvPr/>
        </p:nvSpPr>
        <p:spPr>
          <a:xfrm>
            <a:off x="10469880" y="2057400"/>
            <a:ext cx="566928" cy="566928"/>
          </a:xfrm>
          <a:prstGeom prst="ellipse">
            <a:avLst/>
          </a:prstGeom>
          <a:solidFill>
            <a:srgbClr val="E5F7FA"/>
          </a:solidFill>
          <a:ln/>
        </p:spPr>
        <p:txBody>
          <a:bodyPr/>
          <a:lstStyle/>
          <a:p>
            <a:endParaRPr lang="en-US"/>
          </a:p>
        </p:txBody>
      </p:sp>
      <p:pic>
        <p:nvPicPr>
          <p:cNvPr id="27" name="Image 6" descr="/home/claude/aurora/icons/javascript_1E3FD6.png"/>
          <p:cNvPicPr>
            <a:picLocks noChangeAspect="1"/>
          </p:cNvPicPr>
          <p:nvPr/>
        </p:nvPicPr>
        <p:blipFill>
          <a:blip r:embed="rId9"/>
          <a:stretch>
            <a:fillRect/>
          </a:stretch>
        </p:blipFill>
        <p:spPr>
          <a:xfrm>
            <a:off x="10597439" y="2184959"/>
            <a:ext cx="311810" cy="311810"/>
          </a:xfrm>
          <a:prstGeom prst="rect">
            <a:avLst/>
          </a:prstGeom>
        </p:spPr>
      </p:pic>
      <p:sp>
        <p:nvSpPr>
          <p:cNvPr id="28" name="Text 19"/>
          <p:cNvSpPr/>
          <p:nvPr/>
        </p:nvSpPr>
        <p:spPr>
          <a:xfrm>
            <a:off x="9921240" y="2770632"/>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JavaScript</a:t>
            </a:r>
            <a:endParaRPr lang="en-US" sz="1050" dirty="0"/>
          </a:p>
        </p:txBody>
      </p:sp>
      <p:sp>
        <p:nvSpPr>
          <p:cNvPr id="29" name="Shape 20"/>
          <p:cNvSpPr/>
          <p:nvPr/>
        </p:nvSpPr>
        <p:spPr>
          <a:xfrm>
            <a:off x="640080" y="3493008"/>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0" name="Shape 21"/>
          <p:cNvSpPr/>
          <p:nvPr/>
        </p:nvSpPr>
        <p:spPr>
          <a:xfrm>
            <a:off x="1234440" y="3675888"/>
            <a:ext cx="566928" cy="566928"/>
          </a:xfrm>
          <a:prstGeom prst="ellipse">
            <a:avLst/>
          </a:prstGeom>
          <a:solidFill>
            <a:srgbClr val="E5F7FA"/>
          </a:solidFill>
          <a:ln/>
        </p:spPr>
        <p:txBody>
          <a:bodyPr/>
          <a:lstStyle/>
          <a:p>
            <a:endParaRPr lang="en-US"/>
          </a:p>
        </p:txBody>
      </p:sp>
      <p:pic>
        <p:nvPicPr>
          <p:cNvPr id="31" name="Image 7" descr="/home/claude/aurora/icons/pandas_7C3AED.png"/>
          <p:cNvPicPr>
            <a:picLocks noChangeAspect="1"/>
          </p:cNvPicPr>
          <p:nvPr/>
        </p:nvPicPr>
        <p:blipFill>
          <a:blip r:embed="rId10"/>
          <a:stretch>
            <a:fillRect/>
          </a:stretch>
        </p:blipFill>
        <p:spPr>
          <a:xfrm>
            <a:off x="1361999" y="3803447"/>
            <a:ext cx="311810" cy="311810"/>
          </a:xfrm>
          <a:prstGeom prst="rect">
            <a:avLst/>
          </a:prstGeom>
        </p:spPr>
      </p:pic>
      <p:sp>
        <p:nvSpPr>
          <p:cNvPr id="32" name="Text 22"/>
          <p:cNvSpPr/>
          <p:nvPr/>
        </p:nvSpPr>
        <p:spPr>
          <a:xfrm>
            <a:off x="685800" y="4389120"/>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Pandas</a:t>
            </a:r>
            <a:endParaRPr lang="en-US" sz="1050" dirty="0"/>
          </a:p>
        </p:txBody>
      </p:sp>
      <p:sp>
        <p:nvSpPr>
          <p:cNvPr id="33" name="Shape 23"/>
          <p:cNvSpPr/>
          <p:nvPr/>
        </p:nvSpPr>
        <p:spPr>
          <a:xfrm>
            <a:off x="2487168" y="3493008"/>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4" name="Shape 24"/>
          <p:cNvSpPr/>
          <p:nvPr/>
        </p:nvSpPr>
        <p:spPr>
          <a:xfrm>
            <a:off x="3081528" y="3675888"/>
            <a:ext cx="566928" cy="566928"/>
          </a:xfrm>
          <a:prstGeom prst="ellipse">
            <a:avLst/>
          </a:prstGeom>
          <a:solidFill>
            <a:srgbClr val="E5F7FA"/>
          </a:solidFill>
          <a:ln/>
        </p:spPr>
        <p:txBody>
          <a:bodyPr/>
          <a:lstStyle/>
          <a:p>
            <a:endParaRPr lang="en-US"/>
          </a:p>
        </p:txBody>
      </p:sp>
      <p:pic>
        <p:nvPicPr>
          <p:cNvPr id="35" name="Image 8" descr="/home/claude/aurora/icons/numpy_1E3FD6.png"/>
          <p:cNvPicPr>
            <a:picLocks noChangeAspect="1"/>
          </p:cNvPicPr>
          <p:nvPr/>
        </p:nvPicPr>
        <p:blipFill>
          <a:blip r:embed="rId11"/>
          <a:stretch>
            <a:fillRect/>
          </a:stretch>
        </p:blipFill>
        <p:spPr>
          <a:xfrm>
            <a:off x="3209087" y="3803447"/>
            <a:ext cx="311810" cy="311810"/>
          </a:xfrm>
          <a:prstGeom prst="rect">
            <a:avLst/>
          </a:prstGeom>
        </p:spPr>
      </p:pic>
      <p:sp>
        <p:nvSpPr>
          <p:cNvPr id="36" name="Text 25"/>
          <p:cNvSpPr/>
          <p:nvPr/>
        </p:nvSpPr>
        <p:spPr>
          <a:xfrm>
            <a:off x="2532888" y="4389120"/>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NumPy</a:t>
            </a:r>
            <a:endParaRPr lang="en-US" sz="1050" dirty="0"/>
          </a:p>
        </p:txBody>
      </p:sp>
      <p:sp>
        <p:nvSpPr>
          <p:cNvPr id="37" name="Shape 26"/>
          <p:cNvSpPr/>
          <p:nvPr/>
        </p:nvSpPr>
        <p:spPr>
          <a:xfrm>
            <a:off x="4334256" y="3493008"/>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8" name="Shape 27"/>
          <p:cNvSpPr/>
          <p:nvPr/>
        </p:nvSpPr>
        <p:spPr>
          <a:xfrm>
            <a:off x="4928616" y="3675888"/>
            <a:ext cx="566928" cy="566928"/>
          </a:xfrm>
          <a:prstGeom prst="ellipse">
            <a:avLst/>
          </a:prstGeom>
          <a:solidFill>
            <a:srgbClr val="E5F7FA"/>
          </a:solidFill>
          <a:ln/>
        </p:spPr>
        <p:txBody>
          <a:bodyPr/>
          <a:lstStyle/>
          <a:p>
            <a:endParaRPr lang="en-US"/>
          </a:p>
        </p:txBody>
      </p:sp>
      <p:pic>
        <p:nvPicPr>
          <p:cNvPr id="39" name="Image 9" descr="/home/claude/aurora/icons/sklearn_0891B2.png"/>
          <p:cNvPicPr>
            <a:picLocks noChangeAspect="1"/>
          </p:cNvPicPr>
          <p:nvPr/>
        </p:nvPicPr>
        <p:blipFill>
          <a:blip r:embed="rId12"/>
          <a:stretch>
            <a:fillRect/>
          </a:stretch>
        </p:blipFill>
        <p:spPr>
          <a:xfrm>
            <a:off x="5056175" y="3803447"/>
            <a:ext cx="311810" cy="311810"/>
          </a:xfrm>
          <a:prstGeom prst="rect">
            <a:avLst/>
          </a:prstGeom>
        </p:spPr>
      </p:pic>
      <p:sp>
        <p:nvSpPr>
          <p:cNvPr id="40" name="Text 28"/>
          <p:cNvSpPr/>
          <p:nvPr/>
        </p:nvSpPr>
        <p:spPr>
          <a:xfrm>
            <a:off x="4379976" y="4389120"/>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Scikit-learn</a:t>
            </a:r>
            <a:endParaRPr lang="en-US" sz="1050" dirty="0"/>
          </a:p>
        </p:txBody>
      </p:sp>
      <p:sp>
        <p:nvSpPr>
          <p:cNvPr id="41" name="Shape 29"/>
          <p:cNvSpPr/>
          <p:nvPr/>
        </p:nvSpPr>
        <p:spPr>
          <a:xfrm>
            <a:off x="6181344" y="3493008"/>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42" name="Shape 30"/>
          <p:cNvSpPr/>
          <p:nvPr/>
        </p:nvSpPr>
        <p:spPr>
          <a:xfrm>
            <a:off x="6775704" y="3675888"/>
            <a:ext cx="566928" cy="566928"/>
          </a:xfrm>
          <a:prstGeom prst="ellipse">
            <a:avLst/>
          </a:prstGeom>
          <a:solidFill>
            <a:srgbClr val="E5F7FA"/>
          </a:solidFill>
          <a:ln/>
        </p:spPr>
        <p:txBody>
          <a:bodyPr/>
          <a:lstStyle/>
          <a:p>
            <a:endParaRPr lang="en-US"/>
          </a:p>
        </p:txBody>
      </p:sp>
      <p:pic>
        <p:nvPicPr>
          <p:cNvPr id="43" name="Image 10" descr="/home/claude/aurora/icons/surprise_7C3AED.png"/>
          <p:cNvPicPr>
            <a:picLocks noChangeAspect="1"/>
          </p:cNvPicPr>
          <p:nvPr/>
        </p:nvPicPr>
        <p:blipFill>
          <a:blip r:embed="rId13"/>
          <a:stretch>
            <a:fillRect/>
          </a:stretch>
        </p:blipFill>
        <p:spPr>
          <a:xfrm>
            <a:off x="6903263" y="3803447"/>
            <a:ext cx="311810" cy="311810"/>
          </a:xfrm>
          <a:prstGeom prst="rect">
            <a:avLst/>
          </a:prstGeom>
        </p:spPr>
      </p:pic>
      <p:sp>
        <p:nvSpPr>
          <p:cNvPr id="44" name="Text 31"/>
          <p:cNvSpPr/>
          <p:nvPr/>
        </p:nvSpPr>
        <p:spPr>
          <a:xfrm>
            <a:off x="6227064" y="4389120"/>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Surprise Library</a:t>
            </a:r>
            <a:endParaRPr lang="en-US" sz="1050" dirty="0"/>
          </a:p>
        </p:txBody>
      </p:sp>
      <p:sp>
        <p:nvSpPr>
          <p:cNvPr id="45" name="Shape 32"/>
          <p:cNvSpPr/>
          <p:nvPr/>
        </p:nvSpPr>
        <p:spPr>
          <a:xfrm>
            <a:off x="8028432" y="3493008"/>
            <a:ext cx="1755648" cy="1417320"/>
          </a:xfrm>
          <a:prstGeom prst="roundRect">
            <a:avLst>
              <a:gd name="adj" fmla="val 645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46" name="Shape 33"/>
          <p:cNvSpPr/>
          <p:nvPr/>
        </p:nvSpPr>
        <p:spPr>
          <a:xfrm>
            <a:off x="8622792" y="3675888"/>
            <a:ext cx="566928" cy="566928"/>
          </a:xfrm>
          <a:prstGeom prst="ellipse">
            <a:avLst/>
          </a:prstGeom>
          <a:solidFill>
            <a:srgbClr val="E5F7FA"/>
          </a:solidFill>
          <a:ln/>
        </p:spPr>
        <p:txBody>
          <a:bodyPr/>
          <a:lstStyle/>
          <a:p>
            <a:endParaRPr lang="en-US"/>
          </a:p>
        </p:txBody>
      </p:sp>
      <p:pic>
        <p:nvPicPr>
          <p:cNvPr id="47" name="Image 11" descr="/home/claude/aurora/icons/github_1E293B.png"/>
          <p:cNvPicPr>
            <a:picLocks noChangeAspect="1"/>
          </p:cNvPicPr>
          <p:nvPr/>
        </p:nvPicPr>
        <p:blipFill>
          <a:blip r:embed="rId14"/>
          <a:stretch>
            <a:fillRect/>
          </a:stretch>
        </p:blipFill>
        <p:spPr>
          <a:xfrm>
            <a:off x="8750351" y="3803447"/>
            <a:ext cx="311810" cy="311810"/>
          </a:xfrm>
          <a:prstGeom prst="rect">
            <a:avLst/>
          </a:prstGeom>
        </p:spPr>
      </p:pic>
      <p:sp>
        <p:nvSpPr>
          <p:cNvPr id="48" name="Text 34"/>
          <p:cNvSpPr/>
          <p:nvPr/>
        </p:nvSpPr>
        <p:spPr>
          <a:xfrm>
            <a:off x="8074152" y="4389120"/>
            <a:ext cx="1664208" cy="41148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GitHub</a:t>
            </a:r>
            <a:endParaRPr lang="en-US" sz="1050" dirty="0"/>
          </a:p>
        </p:txBody>
      </p:sp>
      <p:sp>
        <p:nvSpPr>
          <p:cNvPr id="49" name="Text 35"/>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18662"/>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DATA FOUNDATION</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Dataset Overview</a:t>
            </a:r>
            <a:endParaRPr lang="en-US" sz="3400" dirty="0"/>
          </a:p>
        </p:txBody>
      </p:sp>
      <p:sp>
        <p:nvSpPr>
          <p:cNvPr id="5" name="Text 2"/>
          <p:cNvSpPr/>
          <p:nvPr/>
        </p:nvSpPr>
        <p:spPr>
          <a:xfrm>
            <a:off x="640080" y="1645920"/>
            <a:ext cx="8229600" cy="640080"/>
          </a:xfrm>
          <a:prstGeom prst="rect">
            <a:avLst/>
          </a:prstGeom>
          <a:noFill/>
          <a:ln/>
        </p:spPr>
        <p:txBody>
          <a:bodyPr wrap="square" lIns="0" tIns="0" rIns="0" bIns="0" rtlCol="0" anchor="ctr"/>
          <a:lstStyle/>
          <a:p>
            <a:pPr marL="0" indent="0">
              <a:lnSpc>
                <a:spcPct val="125000"/>
              </a:lnSpc>
              <a:buNone/>
            </a:pPr>
            <a:r>
              <a:rPr lang="en-US" sz="1350" dirty="0">
                <a:solidFill>
                  <a:srgbClr val="64748B"/>
                </a:solidFill>
                <a:latin typeface="Calibri" pitchFamily="34" charset="0"/>
                <a:ea typeface="Calibri" pitchFamily="34" charset="-122"/>
                <a:cs typeface="Calibri" pitchFamily="34" charset="-120"/>
              </a:rPr>
              <a:t>The product catalog is structured into the following core fields, forming the</a:t>
            </a:r>
            <a:endParaRPr lang="en-US" sz="1350" dirty="0"/>
          </a:p>
          <a:p>
            <a:pPr marL="0" indent="0">
              <a:lnSpc>
                <a:spcPct val="125000"/>
              </a:lnSpc>
              <a:buNone/>
            </a:pPr>
            <a:r>
              <a:rPr lang="en-US" sz="1350" dirty="0">
                <a:solidFill>
                  <a:srgbClr val="64748B"/>
                </a:solidFill>
                <a:latin typeface="Calibri" pitchFamily="34" charset="0"/>
                <a:ea typeface="Calibri" pitchFamily="34" charset="-122"/>
                <a:cs typeface="Calibri" pitchFamily="34" charset="-120"/>
              </a:rPr>
              <a:t>foundation for both content-based and collaborative recommendation models.</a:t>
            </a:r>
            <a:endParaRPr lang="en-US" sz="1350" dirty="0"/>
          </a:p>
        </p:txBody>
      </p:sp>
      <p:sp>
        <p:nvSpPr>
          <p:cNvPr id="6" name="Shape 3"/>
          <p:cNvSpPr/>
          <p:nvPr/>
        </p:nvSpPr>
        <p:spPr>
          <a:xfrm>
            <a:off x="640080" y="2514600"/>
            <a:ext cx="3566160" cy="1417320"/>
          </a:xfrm>
          <a:prstGeom prst="roundRect">
            <a:avLst>
              <a:gd name="adj" fmla="val 774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7" name="Shape 4"/>
          <p:cNvSpPr/>
          <p:nvPr/>
        </p:nvSpPr>
        <p:spPr>
          <a:xfrm>
            <a:off x="868680" y="2880360"/>
            <a:ext cx="685800" cy="685800"/>
          </a:xfrm>
          <a:prstGeom prst="ellipse">
            <a:avLst/>
          </a:prstGeom>
          <a:solidFill>
            <a:srgbClr val="E5F7FA"/>
          </a:solidFill>
          <a:ln/>
        </p:spPr>
        <p:txBody>
          <a:bodyPr/>
          <a:lstStyle/>
          <a:p>
            <a:endParaRPr lang="en-US"/>
          </a:p>
        </p:txBody>
      </p:sp>
      <p:pic>
        <p:nvPicPr>
          <p:cNvPr id="8" name="Image 1" descr="/home/claude/aurora/icons/rows_1E3FD6.png"/>
          <p:cNvPicPr>
            <a:picLocks noChangeAspect="1"/>
          </p:cNvPicPr>
          <p:nvPr/>
        </p:nvPicPr>
        <p:blipFill>
          <a:blip r:embed="rId4"/>
          <a:stretch>
            <a:fillRect/>
          </a:stretch>
        </p:blipFill>
        <p:spPr>
          <a:xfrm>
            <a:off x="1040130" y="3051810"/>
            <a:ext cx="342900" cy="342900"/>
          </a:xfrm>
          <a:prstGeom prst="rect">
            <a:avLst/>
          </a:prstGeom>
        </p:spPr>
      </p:pic>
      <p:sp>
        <p:nvSpPr>
          <p:cNvPr id="9" name="Text 5"/>
          <p:cNvSpPr/>
          <p:nvPr/>
        </p:nvSpPr>
        <p:spPr>
          <a:xfrm>
            <a:off x="1691640" y="2715768"/>
            <a:ext cx="2331720" cy="365760"/>
          </a:xfrm>
          <a:prstGeom prst="rect">
            <a:avLst/>
          </a:prstGeom>
          <a:noFill/>
          <a:ln/>
        </p:spPr>
        <p:txBody>
          <a:bodyPr wrap="square" lIns="0" tIns="0" rIns="0" bIns="0"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Rows</a:t>
            </a:r>
            <a:endParaRPr lang="en-US" sz="1400" dirty="0"/>
          </a:p>
        </p:txBody>
      </p:sp>
      <p:sp>
        <p:nvSpPr>
          <p:cNvPr id="10" name="Text 6"/>
          <p:cNvSpPr/>
          <p:nvPr/>
        </p:nvSpPr>
        <p:spPr>
          <a:xfrm>
            <a:off x="1691640" y="3081528"/>
            <a:ext cx="233172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Each row represents one unique product listing in the catalog.</a:t>
            </a:r>
            <a:endParaRPr lang="en-US" sz="1050" dirty="0"/>
          </a:p>
        </p:txBody>
      </p:sp>
      <p:sp>
        <p:nvSpPr>
          <p:cNvPr id="11" name="Shape 7"/>
          <p:cNvSpPr/>
          <p:nvPr/>
        </p:nvSpPr>
        <p:spPr>
          <a:xfrm>
            <a:off x="4434840" y="2514600"/>
            <a:ext cx="3566160" cy="1417320"/>
          </a:xfrm>
          <a:prstGeom prst="roundRect">
            <a:avLst>
              <a:gd name="adj" fmla="val 774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2" name="Shape 8"/>
          <p:cNvSpPr/>
          <p:nvPr/>
        </p:nvSpPr>
        <p:spPr>
          <a:xfrm>
            <a:off x="4654926" y="2856100"/>
            <a:ext cx="685800" cy="685800"/>
          </a:xfrm>
          <a:prstGeom prst="ellipse">
            <a:avLst/>
          </a:prstGeom>
          <a:solidFill>
            <a:srgbClr val="E5F7FA"/>
          </a:solidFill>
          <a:ln/>
        </p:spPr>
        <p:txBody>
          <a:bodyPr/>
          <a:lstStyle/>
          <a:p>
            <a:endParaRPr lang="en-US"/>
          </a:p>
        </p:txBody>
      </p:sp>
      <p:pic>
        <p:nvPicPr>
          <p:cNvPr id="13" name="Image 2" descr="/home/claude/aurora/icons/columns_1E3FD6.png"/>
          <p:cNvPicPr>
            <a:picLocks noChangeAspect="1"/>
          </p:cNvPicPr>
          <p:nvPr/>
        </p:nvPicPr>
        <p:blipFill>
          <a:blip r:embed="rId5"/>
          <a:stretch>
            <a:fillRect/>
          </a:stretch>
        </p:blipFill>
        <p:spPr>
          <a:xfrm>
            <a:off x="4949190" y="3188970"/>
            <a:ext cx="342900" cy="342900"/>
          </a:xfrm>
          <a:prstGeom prst="rect">
            <a:avLst/>
          </a:prstGeom>
        </p:spPr>
      </p:pic>
      <p:sp>
        <p:nvSpPr>
          <p:cNvPr id="14" name="Text 9"/>
          <p:cNvSpPr/>
          <p:nvPr/>
        </p:nvSpPr>
        <p:spPr>
          <a:xfrm>
            <a:off x="5486400" y="2715768"/>
            <a:ext cx="2331720" cy="365760"/>
          </a:xfrm>
          <a:prstGeom prst="rect">
            <a:avLst/>
          </a:prstGeom>
          <a:noFill/>
          <a:ln/>
        </p:spPr>
        <p:txBody>
          <a:bodyPr wrap="square" lIns="0" tIns="0" rIns="0" bIns="0"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Columns</a:t>
            </a:r>
            <a:endParaRPr lang="en-US" sz="1400" dirty="0"/>
          </a:p>
        </p:txBody>
      </p:sp>
      <p:sp>
        <p:nvSpPr>
          <p:cNvPr id="15" name="Text 10"/>
          <p:cNvSpPr/>
          <p:nvPr/>
        </p:nvSpPr>
        <p:spPr>
          <a:xfrm>
            <a:off x="5486400" y="3081528"/>
            <a:ext cx="233172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Structured attributes describing every product record.</a:t>
            </a:r>
            <a:endParaRPr lang="en-US" sz="1050" dirty="0"/>
          </a:p>
        </p:txBody>
      </p:sp>
      <p:sp>
        <p:nvSpPr>
          <p:cNvPr id="16" name="Shape 11"/>
          <p:cNvSpPr/>
          <p:nvPr/>
        </p:nvSpPr>
        <p:spPr>
          <a:xfrm>
            <a:off x="8229600" y="2514600"/>
            <a:ext cx="3566160" cy="1417320"/>
          </a:xfrm>
          <a:prstGeom prst="roundRect">
            <a:avLst>
              <a:gd name="adj" fmla="val 774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7" name="Shape 12"/>
          <p:cNvSpPr/>
          <p:nvPr/>
        </p:nvSpPr>
        <p:spPr>
          <a:xfrm>
            <a:off x="8458200" y="2880360"/>
            <a:ext cx="685800" cy="685800"/>
          </a:xfrm>
          <a:prstGeom prst="ellipse">
            <a:avLst/>
          </a:prstGeom>
          <a:solidFill>
            <a:srgbClr val="E5F7FA"/>
          </a:solidFill>
          <a:ln/>
        </p:spPr>
        <p:txBody>
          <a:bodyPr/>
          <a:lstStyle/>
          <a:p>
            <a:endParaRPr lang="en-US"/>
          </a:p>
        </p:txBody>
      </p:sp>
      <p:pic>
        <p:nvPicPr>
          <p:cNvPr id="18" name="Image 3" descr="/home/claude/aurora/icons/ratings_1E3FD6.png"/>
          <p:cNvPicPr>
            <a:picLocks noChangeAspect="1"/>
          </p:cNvPicPr>
          <p:nvPr/>
        </p:nvPicPr>
        <p:blipFill>
          <a:blip r:embed="rId6"/>
          <a:stretch>
            <a:fillRect/>
          </a:stretch>
        </p:blipFill>
        <p:spPr>
          <a:xfrm>
            <a:off x="8629650" y="3051810"/>
            <a:ext cx="342900" cy="342900"/>
          </a:xfrm>
          <a:prstGeom prst="rect">
            <a:avLst/>
          </a:prstGeom>
        </p:spPr>
      </p:pic>
      <p:sp>
        <p:nvSpPr>
          <p:cNvPr id="19" name="Text 13"/>
          <p:cNvSpPr/>
          <p:nvPr/>
        </p:nvSpPr>
        <p:spPr>
          <a:xfrm>
            <a:off x="9281160" y="2715768"/>
            <a:ext cx="2331720" cy="365760"/>
          </a:xfrm>
          <a:prstGeom prst="rect">
            <a:avLst/>
          </a:prstGeom>
          <a:noFill/>
          <a:ln/>
        </p:spPr>
        <p:txBody>
          <a:bodyPr wrap="square" lIns="0" tIns="0" rIns="0" bIns="0"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Ratings</a:t>
            </a:r>
            <a:endParaRPr lang="en-US" sz="1400" dirty="0"/>
          </a:p>
        </p:txBody>
      </p:sp>
      <p:sp>
        <p:nvSpPr>
          <p:cNvPr id="20" name="Text 14"/>
          <p:cNvSpPr/>
          <p:nvPr/>
        </p:nvSpPr>
        <p:spPr>
          <a:xfrm>
            <a:off x="9281160" y="3081528"/>
            <a:ext cx="233172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User-given scores that reflect satisfaction and quality.</a:t>
            </a:r>
            <a:endParaRPr lang="en-US" sz="1050" dirty="0"/>
          </a:p>
        </p:txBody>
      </p:sp>
      <p:sp>
        <p:nvSpPr>
          <p:cNvPr id="21" name="Shape 15"/>
          <p:cNvSpPr/>
          <p:nvPr/>
        </p:nvSpPr>
        <p:spPr>
          <a:xfrm>
            <a:off x="640080" y="4160520"/>
            <a:ext cx="3566160" cy="1417320"/>
          </a:xfrm>
          <a:prstGeom prst="roundRect">
            <a:avLst>
              <a:gd name="adj" fmla="val 774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2" name="Shape 16"/>
          <p:cNvSpPr/>
          <p:nvPr/>
        </p:nvSpPr>
        <p:spPr>
          <a:xfrm>
            <a:off x="868680" y="4526280"/>
            <a:ext cx="685800" cy="685800"/>
          </a:xfrm>
          <a:prstGeom prst="ellipse">
            <a:avLst/>
          </a:prstGeom>
          <a:solidFill>
            <a:srgbClr val="E5F7FA"/>
          </a:solidFill>
          <a:ln/>
        </p:spPr>
        <p:txBody>
          <a:bodyPr/>
          <a:lstStyle/>
          <a:p>
            <a:endParaRPr lang="en-US"/>
          </a:p>
        </p:txBody>
      </p:sp>
      <p:pic>
        <p:nvPicPr>
          <p:cNvPr id="23" name="Image 4" descr="/home/claude/aurora/icons/categories_1E3FD6.png"/>
          <p:cNvPicPr>
            <a:picLocks noChangeAspect="1"/>
          </p:cNvPicPr>
          <p:nvPr/>
        </p:nvPicPr>
        <p:blipFill>
          <a:blip r:embed="rId7"/>
          <a:stretch>
            <a:fillRect/>
          </a:stretch>
        </p:blipFill>
        <p:spPr>
          <a:xfrm>
            <a:off x="1040130" y="4697730"/>
            <a:ext cx="342900" cy="342900"/>
          </a:xfrm>
          <a:prstGeom prst="rect">
            <a:avLst/>
          </a:prstGeom>
        </p:spPr>
      </p:pic>
      <p:sp>
        <p:nvSpPr>
          <p:cNvPr id="24" name="Text 17"/>
          <p:cNvSpPr/>
          <p:nvPr/>
        </p:nvSpPr>
        <p:spPr>
          <a:xfrm>
            <a:off x="1691640" y="4361688"/>
            <a:ext cx="2331720" cy="365760"/>
          </a:xfrm>
          <a:prstGeom prst="rect">
            <a:avLst/>
          </a:prstGeom>
          <a:noFill/>
          <a:ln/>
        </p:spPr>
        <p:txBody>
          <a:bodyPr wrap="square" lIns="0" tIns="0" rIns="0" bIns="0"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Categories</a:t>
            </a:r>
            <a:endParaRPr lang="en-US" sz="1400" dirty="0"/>
          </a:p>
        </p:txBody>
      </p:sp>
      <p:sp>
        <p:nvSpPr>
          <p:cNvPr id="25" name="Text 18"/>
          <p:cNvSpPr/>
          <p:nvPr/>
        </p:nvSpPr>
        <p:spPr>
          <a:xfrm>
            <a:off x="1691640" y="4727448"/>
            <a:ext cx="233172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Product groupings used for filtering and similarity.</a:t>
            </a:r>
            <a:endParaRPr lang="en-US" sz="1050" dirty="0"/>
          </a:p>
        </p:txBody>
      </p:sp>
      <p:sp>
        <p:nvSpPr>
          <p:cNvPr id="26" name="Shape 19"/>
          <p:cNvSpPr/>
          <p:nvPr/>
        </p:nvSpPr>
        <p:spPr>
          <a:xfrm>
            <a:off x="4434840" y="4160520"/>
            <a:ext cx="3566160" cy="1417320"/>
          </a:xfrm>
          <a:prstGeom prst="roundRect">
            <a:avLst>
              <a:gd name="adj" fmla="val 774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7" name="Shape 20"/>
          <p:cNvSpPr/>
          <p:nvPr/>
        </p:nvSpPr>
        <p:spPr>
          <a:xfrm>
            <a:off x="4663440" y="4526280"/>
            <a:ext cx="685800" cy="685800"/>
          </a:xfrm>
          <a:prstGeom prst="ellipse">
            <a:avLst/>
          </a:prstGeom>
          <a:solidFill>
            <a:srgbClr val="E5F7FA"/>
          </a:solidFill>
          <a:ln/>
        </p:spPr>
        <p:txBody>
          <a:bodyPr/>
          <a:lstStyle/>
          <a:p>
            <a:endParaRPr lang="en-US"/>
          </a:p>
        </p:txBody>
      </p:sp>
      <p:pic>
        <p:nvPicPr>
          <p:cNvPr id="28" name="Image 5" descr="/home/claude/aurora/icons/brand_1E3FD6.png"/>
          <p:cNvPicPr>
            <a:picLocks noChangeAspect="1"/>
          </p:cNvPicPr>
          <p:nvPr/>
        </p:nvPicPr>
        <p:blipFill>
          <a:blip r:embed="rId8"/>
          <a:stretch>
            <a:fillRect/>
          </a:stretch>
        </p:blipFill>
        <p:spPr>
          <a:xfrm>
            <a:off x="4834890" y="4697730"/>
            <a:ext cx="342900" cy="342900"/>
          </a:xfrm>
          <a:prstGeom prst="rect">
            <a:avLst/>
          </a:prstGeom>
        </p:spPr>
      </p:pic>
      <p:sp>
        <p:nvSpPr>
          <p:cNvPr id="29" name="Text 21"/>
          <p:cNvSpPr/>
          <p:nvPr/>
        </p:nvSpPr>
        <p:spPr>
          <a:xfrm>
            <a:off x="5486400" y="4361688"/>
            <a:ext cx="2331720" cy="365760"/>
          </a:xfrm>
          <a:prstGeom prst="rect">
            <a:avLst/>
          </a:prstGeom>
          <a:noFill/>
          <a:ln/>
        </p:spPr>
        <p:txBody>
          <a:bodyPr wrap="square" lIns="0" tIns="0" rIns="0" bIns="0"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Brand</a:t>
            </a:r>
            <a:endParaRPr lang="en-US" sz="1400" dirty="0"/>
          </a:p>
        </p:txBody>
      </p:sp>
      <p:sp>
        <p:nvSpPr>
          <p:cNvPr id="30" name="Text 22"/>
          <p:cNvSpPr/>
          <p:nvPr/>
        </p:nvSpPr>
        <p:spPr>
          <a:xfrm>
            <a:off x="5486400" y="4727448"/>
            <a:ext cx="233172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Manufacturer or seller identity for each product.</a:t>
            </a:r>
            <a:endParaRPr lang="en-US" sz="1050" dirty="0"/>
          </a:p>
        </p:txBody>
      </p:sp>
      <p:sp>
        <p:nvSpPr>
          <p:cNvPr id="31" name="Shape 23"/>
          <p:cNvSpPr/>
          <p:nvPr/>
        </p:nvSpPr>
        <p:spPr>
          <a:xfrm>
            <a:off x="8229600" y="4160520"/>
            <a:ext cx="3566160" cy="1417320"/>
          </a:xfrm>
          <a:prstGeom prst="roundRect">
            <a:avLst>
              <a:gd name="adj" fmla="val 7742"/>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2" name="Shape 24"/>
          <p:cNvSpPr/>
          <p:nvPr/>
        </p:nvSpPr>
        <p:spPr>
          <a:xfrm>
            <a:off x="8458200" y="4526280"/>
            <a:ext cx="685800" cy="685800"/>
          </a:xfrm>
          <a:prstGeom prst="ellipse">
            <a:avLst/>
          </a:prstGeom>
          <a:solidFill>
            <a:srgbClr val="E5F7FA"/>
          </a:solidFill>
          <a:ln/>
        </p:spPr>
        <p:txBody>
          <a:bodyPr/>
          <a:lstStyle/>
          <a:p>
            <a:endParaRPr lang="en-US"/>
          </a:p>
        </p:txBody>
      </p:sp>
      <p:pic>
        <p:nvPicPr>
          <p:cNvPr id="33" name="Image 6" descr="/home/claude/aurora/icons/description_1E3FD6.png"/>
          <p:cNvPicPr>
            <a:picLocks noChangeAspect="1"/>
          </p:cNvPicPr>
          <p:nvPr/>
        </p:nvPicPr>
        <p:blipFill>
          <a:blip r:embed="rId9"/>
          <a:stretch>
            <a:fillRect/>
          </a:stretch>
        </p:blipFill>
        <p:spPr>
          <a:xfrm>
            <a:off x="8629650" y="4697730"/>
            <a:ext cx="342900" cy="342900"/>
          </a:xfrm>
          <a:prstGeom prst="rect">
            <a:avLst/>
          </a:prstGeom>
        </p:spPr>
      </p:pic>
      <p:sp>
        <p:nvSpPr>
          <p:cNvPr id="34" name="Text 25"/>
          <p:cNvSpPr/>
          <p:nvPr/>
        </p:nvSpPr>
        <p:spPr>
          <a:xfrm>
            <a:off x="9281160" y="4361688"/>
            <a:ext cx="2331720" cy="365760"/>
          </a:xfrm>
          <a:prstGeom prst="rect">
            <a:avLst/>
          </a:prstGeom>
          <a:noFill/>
          <a:ln/>
        </p:spPr>
        <p:txBody>
          <a:bodyPr wrap="square" lIns="0" tIns="0" rIns="0" bIns="0" rtlCol="0" anchor="ctr"/>
          <a:lstStyle/>
          <a:p>
            <a:pPr marL="0" indent="0">
              <a:buNone/>
            </a:pPr>
            <a:r>
              <a:rPr lang="en-US" sz="1400" b="1" dirty="0">
                <a:solidFill>
                  <a:srgbClr val="1E293B"/>
                </a:solidFill>
                <a:latin typeface="Cambria" pitchFamily="34" charset="0"/>
                <a:ea typeface="Cambria" pitchFamily="34" charset="-122"/>
                <a:cs typeface="Cambria" pitchFamily="34" charset="-120"/>
              </a:rPr>
              <a:t>Description</a:t>
            </a:r>
            <a:endParaRPr lang="en-US" sz="1400" dirty="0"/>
          </a:p>
        </p:txBody>
      </p:sp>
      <p:sp>
        <p:nvSpPr>
          <p:cNvPr id="35" name="Text 26"/>
          <p:cNvSpPr/>
          <p:nvPr/>
        </p:nvSpPr>
        <p:spPr>
          <a:xfrm>
            <a:off x="9281160" y="4727448"/>
            <a:ext cx="233172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Free-text details used for content-based similarity.</a:t>
            </a:r>
            <a:endParaRPr lang="en-US" sz="1050" dirty="0"/>
          </a:p>
        </p:txBody>
      </p:sp>
      <p:sp>
        <p:nvSpPr>
          <p:cNvPr id="36" name="Text 2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pic>
        <p:nvPicPr>
          <p:cNvPr id="38" name="Graphic 37" descr="Circles with lines with solid fill">
            <a:extLst>
              <a:ext uri="{FF2B5EF4-FFF2-40B4-BE49-F238E27FC236}">
                <a16:creationId xmlns:a16="http://schemas.microsoft.com/office/drawing/2014/main" id="{D042F6EE-67FE-63F2-258C-3892A0565BC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49211" y="2873245"/>
            <a:ext cx="651510" cy="651510"/>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SYSTEM DESIGN</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System Architecture</a:t>
            </a:r>
            <a:endParaRPr lang="en-US" sz="3400" dirty="0"/>
          </a:p>
        </p:txBody>
      </p:sp>
      <p:sp>
        <p:nvSpPr>
          <p:cNvPr id="5" name="Shape 2"/>
          <p:cNvSpPr/>
          <p:nvPr/>
        </p:nvSpPr>
        <p:spPr>
          <a:xfrm>
            <a:off x="640080" y="1783080"/>
            <a:ext cx="2331720" cy="960120"/>
          </a:xfrm>
          <a:prstGeom prst="roundRect">
            <a:avLst>
              <a:gd name="adj" fmla="val 1142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777240" y="1965960"/>
            <a:ext cx="594360" cy="594360"/>
          </a:xfrm>
          <a:prstGeom prst="ellipse">
            <a:avLst/>
          </a:prstGeom>
          <a:solidFill>
            <a:srgbClr val="E5F7FA"/>
          </a:solidFill>
          <a:ln/>
        </p:spPr>
        <p:txBody>
          <a:bodyPr/>
          <a:lstStyle/>
          <a:p>
            <a:endParaRPr lang="en-US"/>
          </a:p>
        </p:txBody>
      </p:sp>
      <p:pic>
        <p:nvPicPr>
          <p:cNvPr id="7" name="Image 1" descr="/home/claude/aurora/icons/user_1E3FD6.png"/>
          <p:cNvPicPr>
            <a:picLocks noChangeAspect="1"/>
          </p:cNvPicPr>
          <p:nvPr/>
        </p:nvPicPr>
        <p:blipFill>
          <a:blip r:embed="rId4"/>
          <a:stretch>
            <a:fillRect/>
          </a:stretch>
        </p:blipFill>
        <p:spPr>
          <a:xfrm>
            <a:off x="910971" y="2099691"/>
            <a:ext cx="326898" cy="326898"/>
          </a:xfrm>
          <a:prstGeom prst="rect">
            <a:avLst/>
          </a:prstGeom>
        </p:spPr>
      </p:pic>
      <p:sp>
        <p:nvSpPr>
          <p:cNvPr id="8" name="Text 4"/>
          <p:cNvSpPr/>
          <p:nvPr/>
        </p:nvSpPr>
        <p:spPr>
          <a:xfrm>
            <a:off x="1463040" y="1783080"/>
            <a:ext cx="1417320" cy="9601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User</a:t>
            </a:r>
            <a:endParaRPr lang="en-US" sz="1250" dirty="0"/>
          </a:p>
        </p:txBody>
      </p:sp>
      <p:pic>
        <p:nvPicPr>
          <p:cNvPr id="9" name="Image 2" descr="/home/claude/aurora/icons/arrowRight_64748B.png"/>
          <p:cNvPicPr>
            <a:picLocks noChangeAspect="1"/>
          </p:cNvPicPr>
          <p:nvPr/>
        </p:nvPicPr>
        <p:blipFill>
          <a:blip r:embed="rId5"/>
          <a:stretch>
            <a:fillRect/>
          </a:stretch>
        </p:blipFill>
        <p:spPr>
          <a:xfrm>
            <a:off x="2990088" y="2125980"/>
            <a:ext cx="292608" cy="292608"/>
          </a:xfrm>
          <a:prstGeom prst="rect">
            <a:avLst/>
          </a:prstGeom>
        </p:spPr>
      </p:pic>
      <p:sp>
        <p:nvSpPr>
          <p:cNvPr id="10" name="Shape 5"/>
          <p:cNvSpPr/>
          <p:nvPr/>
        </p:nvSpPr>
        <p:spPr>
          <a:xfrm>
            <a:off x="3291840" y="1783080"/>
            <a:ext cx="2331720" cy="960120"/>
          </a:xfrm>
          <a:prstGeom prst="roundRect">
            <a:avLst>
              <a:gd name="adj" fmla="val 1142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1" name="Shape 6"/>
          <p:cNvSpPr/>
          <p:nvPr/>
        </p:nvSpPr>
        <p:spPr>
          <a:xfrm>
            <a:off x="3429000" y="1965960"/>
            <a:ext cx="594360" cy="594360"/>
          </a:xfrm>
          <a:prstGeom prst="ellipse">
            <a:avLst/>
          </a:prstGeom>
          <a:solidFill>
            <a:srgbClr val="E5F7FA"/>
          </a:solidFill>
          <a:ln/>
        </p:spPr>
        <p:txBody>
          <a:bodyPr/>
          <a:lstStyle/>
          <a:p>
            <a:endParaRPr lang="en-US"/>
          </a:p>
        </p:txBody>
      </p:sp>
      <p:pic>
        <p:nvPicPr>
          <p:cNvPr id="12" name="Image 3" descr="/home/claude/aurora/icons/website_1E3FD6.png"/>
          <p:cNvPicPr>
            <a:picLocks noChangeAspect="1"/>
          </p:cNvPicPr>
          <p:nvPr/>
        </p:nvPicPr>
        <p:blipFill>
          <a:blip r:embed="rId6"/>
          <a:stretch>
            <a:fillRect/>
          </a:stretch>
        </p:blipFill>
        <p:spPr>
          <a:xfrm>
            <a:off x="3562731" y="2099691"/>
            <a:ext cx="326898" cy="326898"/>
          </a:xfrm>
          <a:prstGeom prst="rect">
            <a:avLst/>
          </a:prstGeom>
        </p:spPr>
      </p:pic>
      <p:sp>
        <p:nvSpPr>
          <p:cNvPr id="13" name="Text 7"/>
          <p:cNvSpPr/>
          <p:nvPr/>
        </p:nvSpPr>
        <p:spPr>
          <a:xfrm>
            <a:off x="4114800" y="1783080"/>
            <a:ext cx="1417320" cy="9601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Website</a:t>
            </a:r>
            <a:endParaRPr lang="en-US" sz="1250" dirty="0"/>
          </a:p>
        </p:txBody>
      </p:sp>
      <p:pic>
        <p:nvPicPr>
          <p:cNvPr id="14" name="Image 4" descr="/home/claude/aurora/icons/arrowRight_64748B.png"/>
          <p:cNvPicPr>
            <a:picLocks noChangeAspect="1"/>
          </p:cNvPicPr>
          <p:nvPr/>
        </p:nvPicPr>
        <p:blipFill>
          <a:blip r:embed="rId5"/>
          <a:stretch>
            <a:fillRect/>
          </a:stretch>
        </p:blipFill>
        <p:spPr>
          <a:xfrm>
            <a:off x="5641848" y="2125980"/>
            <a:ext cx="292608" cy="292608"/>
          </a:xfrm>
          <a:prstGeom prst="rect">
            <a:avLst/>
          </a:prstGeom>
        </p:spPr>
      </p:pic>
      <p:sp>
        <p:nvSpPr>
          <p:cNvPr id="15" name="Shape 8"/>
          <p:cNvSpPr/>
          <p:nvPr/>
        </p:nvSpPr>
        <p:spPr>
          <a:xfrm>
            <a:off x="5943600" y="1783080"/>
            <a:ext cx="2331720" cy="960120"/>
          </a:xfrm>
          <a:prstGeom prst="roundRect">
            <a:avLst>
              <a:gd name="adj" fmla="val 1142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6" name="Shape 9"/>
          <p:cNvSpPr/>
          <p:nvPr/>
        </p:nvSpPr>
        <p:spPr>
          <a:xfrm>
            <a:off x="6080760" y="1965960"/>
            <a:ext cx="594360" cy="594360"/>
          </a:xfrm>
          <a:prstGeom prst="ellipse">
            <a:avLst/>
          </a:prstGeom>
          <a:solidFill>
            <a:srgbClr val="E5F7FA"/>
          </a:solidFill>
          <a:ln/>
        </p:spPr>
        <p:txBody>
          <a:bodyPr/>
          <a:lstStyle/>
          <a:p>
            <a:endParaRPr lang="en-US"/>
          </a:p>
        </p:txBody>
      </p:sp>
      <p:pic>
        <p:nvPicPr>
          <p:cNvPr id="17" name="Image 5" descr="/home/claude/aurora/icons/server_1E3FD6.png"/>
          <p:cNvPicPr>
            <a:picLocks noChangeAspect="1"/>
          </p:cNvPicPr>
          <p:nvPr/>
        </p:nvPicPr>
        <p:blipFill>
          <a:blip r:embed="rId7"/>
          <a:stretch>
            <a:fillRect/>
          </a:stretch>
        </p:blipFill>
        <p:spPr>
          <a:xfrm>
            <a:off x="6214491" y="2099691"/>
            <a:ext cx="326898" cy="326898"/>
          </a:xfrm>
          <a:prstGeom prst="rect">
            <a:avLst/>
          </a:prstGeom>
        </p:spPr>
      </p:pic>
      <p:sp>
        <p:nvSpPr>
          <p:cNvPr id="18" name="Text 10"/>
          <p:cNvSpPr/>
          <p:nvPr/>
        </p:nvSpPr>
        <p:spPr>
          <a:xfrm>
            <a:off x="6766560" y="1783080"/>
            <a:ext cx="1417320" cy="9601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Flask Backend</a:t>
            </a:r>
            <a:endParaRPr lang="en-US" sz="1250" dirty="0"/>
          </a:p>
        </p:txBody>
      </p:sp>
      <p:pic>
        <p:nvPicPr>
          <p:cNvPr id="19" name="Image 6" descr="/home/claude/aurora/icons/arrowRight_64748B.png"/>
          <p:cNvPicPr>
            <a:picLocks noChangeAspect="1"/>
          </p:cNvPicPr>
          <p:nvPr/>
        </p:nvPicPr>
        <p:blipFill>
          <a:blip r:embed="rId5"/>
          <a:stretch>
            <a:fillRect/>
          </a:stretch>
        </p:blipFill>
        <p:spPr>
          <a:xfrm>
            <a:off x="8293608" y="2125980"/>
            <a:ext cx="292608" cy="292608"/>
          </a:xfrm>
          <a:prstGeom prst="rect">
            <a:avLst/>
          </a:prstGeom>
        </p:spPr>
      </p:pic>
      <p:sp>
        <p:nvSpPr>
          <p:cNvPr id="20" name="Shape 11"/>
          <p:cNvSpPr/>
          <p:nvPr/>
        </p:nvSpPr>
        <p:spPr>
          <a:xfrm>
            <a:off x="8595360" y="1783080"/>
            <a:ext cx="2331720" cy="960120"/>
          </a:xfrm>
          <a:prstGeom prst="roundRect">
            <a:avLst>
              <a:gd name="adj" fmla="val 1142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1" name="Shape 12"/>
          <p:cNvSpPr/>
          <p:nvPr/>
        </p:nvSpPr>
        <p:spPr>
          <a:xfrm>
            <a:off x="8732520" y="1965960"/>
            <a:ext cx="594360" cy="594360"/>
          </a:xfrm>
          <a:prstGeom prst="ellipse">
            <a:avLst/>
          </a:prstGeom>
          <a:solidFill>
            <a:srgbClr val="E5F7FA"/>
          </a:solidFill>
          <a:ln/>
        </p:spPr>
        <p:txBody>
          <a:bodyPr/>
          <a:lstStyle/>
          <a:p>
            <a:endParaRPr lang="en-US"/>
          </a:p>
        </p:txBody>
      </p:sp>
      <p:pic>
        <p:nvPicPr>
          <p:cNvPr id="22" name="Image 7" descr="/home/claude/aurora/icons/engine_1E3FD6.png"/>
          <p:cNvPicPr>
            <a:picLocks noChangeAspect="1"/>
          </p:cNvPicPr>
          <p:nvPr/>
        </p:nvPicPr>
        <p:blipFill>
          <a:blip r:embed="rId8"/>
          <a:stretch>
            <a:fillRect/>
          </a:stretch>
        </p:blipFill>
        <p:spPr>
          <a:xfrm>
            <a:off x="8866251" y="2099691"/>
            <a:ext cx="326898" cy="326898"/>
          </a:xfrm>
          <a:prstGeom prst="rect">
            <a:avLst/>
          </a:prstGeom>
        </p:spPr>
      </p:pic>
      <p:sp>
        <p:nvSpPr>
          <p:cNvPr id="23" name="Text 13"/>
          <p:cNvSpPr/>
          <p:nvPr/>
        </p:nvSpPr>
        <p:spPr>
          <a:xfrm>
            <a:off x="9418320" y="1783080"/>
            <a:ext cx="1417320" cy="9601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Recommendation Engine</a:t>
            </a:r>
            <a:endParaRPr lang="en-US" sz="1250" dirty="0"/>
          </a:p>
        </p:txBody>
      </p:sp>
      <p:pic>
        <p:nvPicPr>
          <p:cNvPr id="24" name="Image 8" descr="/home/claude/aurora/icons/arrowDown_64748B.png"/>
          <p:cNvPicPr>
            <a:picLocks noChangeAspect="1"/>
          </p:cNvPicPr>
          <p:nvPr/>
        </p:nvPicPr>
        <p:blipFill>
          <a:blip r:embed="rId9"/>
          <a:stretch>
            <a:fillRect/>
          </a:stretch>
        </p:blipFill>
        <p:spPr>
          <a:xfrm>
            <a:off x="9294876" y="2880360"/>
            <a:ext cx="292608" cy="292608"/>
          </a:xfrm>
          <a:prstGeom prst="rect">
            <a:avLst/>
          </a:prstGeom>
        </p:spPr>
      </p:pic>
      <p:sp>
        <p:nvSpPr>
          <p:cNvPr id="25" name="Shape 14"/>
          <p:cNvSpPr/>
          <p:nvPr/>
        </p:nvSpPr>
        <p:spPr>
          <a:xfrm>
            <a:off x="7063740" y="3337560"/>
            <a:ext cx="2148840" cy="777240"/>
          </a:xfrm>
          <a:prstGeom prst="roundRect">
            <a:avLst>
              <a:gd name="adj" fmla="val 14118"/>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6" name="Shape 15"/>
          <p:cNvSpPr/>
          <p:nvPr/>
        </p:nvSpPr>
        <p:spPr>
          <a:xfrm>
            <a:off x="7200900" y="3447288"/>
            <a:ext cx="548640" cy="548640"/>
          </a:xfrm>
          <a:prstGeom prst="ellipse">
            <a:avLst/>
          </a:prstGeom>
          <a:solidFill>
            <a:srgbClr val="FFFFFF"/>
          </a:solidFill>
          <a:ln/>
        </p:spPr>
        <p:txBody>
          <a:bodyPr/>
          <a:lstStyle/>
          <a:p>
            <a:endParaRPr lang="en-US"/>
          </a:p>
        </p:txBody>
      </p:sp>
      <p:pic>
        <p:nvPicPr>
          <p:cNvPr id="27" name="Image 9" descr="/home/claude/aurora/icons/tfidf_7C3AED.png"/>
          <p:cNvPicPr>
            <a:picLocks noChangeAspect="1"/>
          </p:cNvPicPr>
          <p:nvPr/>
        </p:nvPicPr>
        <p:blipFill>
          <a:blip r:embed="rId10"/>
          <a:stretch>
            <a:fillRect/>
          </a:stretch>
        </p:blipFill>
        <p:spPr>
          <a:xfrm>
            <a:off x="7324344" y="3570732"/>
            <a:ext cx="301752" cy="301752"/>
          </a:xfrm>
          <a:prstGeom prst="rect">
            <a:avLst/>
          </a:prstGeom>
        </p:spPr>
      </p:pic>
      <p:sp>
        <p:nvSpPr>
          <p:cNvPr id="28" name="Text 16"/>
          <p:cNvSpPr/>
          <p:nvPr/>
        </p:nvSpPr>
        <p:spPr>
          <a:xfrm>
            <a:off x="7840980" y="3337560"/>
            <a:ext cx="1234440" cy="77724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TF-IDF</a:t>
            </a:r>
            <a:endParaRPr lang="en-US" sz="1200" dirty="0"/>
          </a:p>
        </p:txBody>
      </p:sp>
      <p:sp>
        <p:nvSpPr>
          <p:cNvPr id="29" name="Shape 17"/>
          <p:cNvSpPr/>
          <p:nvPr/>
        </p:nvSpPr>
        <p:spPr>
          <a:xfrm>
            <a:off x="9669780" y="3337560"/>
            <a:ext cx="2148840" cy="777240"/>
          </a:xfrm>
          <a:prstGeom prst="roundRect">
            <a:avLst>
              <a:gd name="adj" fmla="val 14118"/>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0" name="Shape 18"/>
          <p:cNvSpPr/>
          <p:nvPr/>
        </p:nvSpPr>
        <p:spPr>
          <a:xfrm>
            <a:off x="9806940" y="3447288"/>
            <a:ext cx="548640" cy="548640"/>
          </a:xfrm>
          <a:prstGeom prst="ellipse">
            <a:avLst/>
          </a:prstGeom>
          <a:solidFill>
            <a:srgbClr val="FFFFFF"/>
          </a:solidFill>
          <a:ln/>
        </p:spPr>
        <p:txBody>
          <a:bodyPr/>
          <a:lstStyle/>
          <a:p>
            <a:endParaRPr lang="en-US"/>
          </a:p>
        </p:txBody>
      </p:sp>
      <p:pic>
        <p:nvPicPr>
          <p:cNvPr id="31" name="Image 10" descr="/home/claude/aurora/icons/svd_7C3AED.png"/>
          <p:cNvPicPr>
            <a:picLocks noChangeAspect="1"/>
          </p:cNvPicPr>
          <p:nvPr/>
        </p:nvPicPr>
        <p:blipFill>
          <a:blip r:embed="rId11"/>
          <a:stretch>
            <a:fillRect/>
          </a:stretch>
        </p:blipFill>
        <p:spPr>
          <a:xfrm>
            <a:off x="9930384" y="3570732"/>
            <a:ext cx="301752" cy="301752"/>
          </a:xfrm>
          <a:prstGeom prst="rect">
            <a:avLst/>
          </a:prstGeom>
        </p:spPr>
      </p:pic>
      <p:sp>
        <p:nvSpPr>
          <p:cNvPr id="32" name="Text 19"/>
          <p:cNvSpPr/>
          <p:nvPr/>
        </p:nvSpPr>
        <p:spPr>
          <a:xfrm>
            <a:off x="10447020" y="3337560"/>
            <a:ext cx="1234440" cy="77724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SVD</a:t>
            </a:r>
            <a:endParaRPr lang="en-US" sz="1200" dirty="0"/>
          </a:p>
        </p:txBody>
      </p:sp>
      <p:sp>
        <p:nvSpPr>
          <p:cNvPr id="33" name="Text 20"/>
          <p:cNvSpPr/>
          <p:nvPr/>
        </p:nvSpPr>
        <p:spPr>
          <a:xfrm>
            <a:off x="9304020" y="3538728"/>
            <a:ext cx="274320" cy="365760"/>
          </a:xfrm>
          <a:prstGeom prst="rect">
            <a:avLst/>
          </a:prstGeom>
          <a:noFill/>
          <a:ln/>
        </p:spPr>
        <p:txBody>
          <a:bodyPr wrap="square" lIns="0" tIns="0" rIns="0" bIns="0" rtlCol="0" anchor="ctr"/>
          <a:lstStyle/>
          <a:p>
            <a:pPr marL="0" indent="0" algn="ctr">
              <a:buNone/>
            </a:pPr>
            <a:r>
              <a:rPr lang="en-US" sz="1800" b="1" dirty="0">
                <a:solidFill>
                  <a:srgbClr val="7C3AED"/>
                </a:solidFill>
                <a:latin typeface="Cambria" pitchFamily="34" charset="0"/>
                <a:ea typeface="Cambria" pitchFamily="34" charset="-122"/>
                <a:cs typeface="Cambria" pitchFamily="34" charset="-120"/>
              </a:rPr>
              <a:t>+</a:t>
            </a:r>
            <a:endParaRPr lang="en-US" sz="1800" dirty="0"/>
          </a:p>
        </p:txBody>
      </p:sp>
      <p:pic>
        <p:nvPicPr>
          <p:cNvPr id="34" name="Image 11" descr="/home/claude/aurora/icons/arrowDown_64748B.png"/>
          <p:cNvPicPr>
            <a:picLocks noChangeAspect="1"/>
          </p:cNvPicPr>
          <p:nvPr/>
        </p:nvPicPr>
        <p:blipFill>
          <a:blip r:embed="rId9"/>
          <a:stretch>
            <a:fillRect/>
          </a:stretch>
        </p:blipFill>
        <p:spPr>
          <a:xfrm>
            <a:off x="9294876" y="4224528"/>
            <a:ext cx="292608" cy="292608"/>
          </a:xfrm>
          <a:prstGeom prst="rect">
            <a:avLst/>
          </a:prstGeom>
        </p:spPr>
      </p:pic>
      <p:sp>
        <p:nvSpPr>
          <p:cNvPr id="35" name="Shape 21"/>
          <p:cNvSpPr/>
          <p:nvPr/>
        </p:nvSpPr>
        <p:spPr>
          <a:xfrm>
            <a:off x="7612380" y="4617720"/>
            <a:ext cx="3657600" cy="777240"/>
          </a:xfrm>
          <a:prstGeom prst="roundRect">
            <a:avLst>
              <a:gd name="adj" fmla="val 14118"/>
            </a:avLst>
          </a:prstGeom>
          <a:solidFill>
            <a:srgbClr val="1E3FD6"/>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6" name="Shape 22"/>
          <p:cNvSpPr/>
          <p:nvPr/>
        </p:nvSpPr>
        <p:spPr>
          <a:xfrm>
            <a:off x="7749540" y="4727448"/>
            <a:ext cx="548640" cy="548640"/>
          </a:xfrm>
          <a:prstGeom prst="ellipse">
            <a:avLst/>
          </a:prstGeom>
          <a:solidFill>
            <a:srgbClr val="FFFFFF"/>
          </a:solidFill>
          <a:ln/>
        </p:spPr>
        <p:txBody>
          <a:bodyPr/>
          <a:lstStyle/>
          <a:p>
            <a:endParaRPr lang="en-US"/>
          </a:p>
        </p:txBody>
      </p:sp>
      <p:pic>
        <p:nvPicPr>
          <p:cNvPr id="37" name="Image 12" descr="/home/claude/aurora/icons/hybrid_1E3FD6.png"/>
          <p:cNvPicPr>
            <a:picLocks noChangeAspect="1"/>
          </p:cNvPicPr>
          <p:nvPr/>
        </p:nvPicPr>
        <p:blipFill>
          <a:blip r:embed="rId12"/>
          <a:stretch>
            <a:fillRect/>
          </a:stretch>
        </p:blipFill>
        <p:spPr>
          <a:xfrm>
            <a:off x="7872984" y="4850892"/>
            <a:ext cx="301752" cy="301752"/>
          </a:xfrm>
          <a:prstGeom prst="rect">
            <a:avLst/>
          </a:prstGeom>
        </p:spPr>
      </p:pic>
      <p:sp>
        <p:nvSpPr>
          <p:cNvPr id="38" name="Text 23"/>
          <p:cNvSpPr/>
          <p:nvPr/>
        </p:nvSpPr>
        <p:spPr>
          <a:xfrm>
            <a:off x="8435340" y="4617720"/>
            <a:ext cx="274320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Hybrid Recommendation</a:t>
            </a:r>
            <a:endParaRPr lang="en-US" sz="1300" dirty="0"/>
          </a:p>
        </p:txBody>
      </p:sp>
      <p:pic>
        <p:nvPicPr>
          <p:cNvPr id="39" name="Image 13" descr="/home/claude/aurora/icons/arrowDown_64748B.png"/>
          <p:cNvPicPr>
            <a:picLocks noChangeAspect="1"/>
          </p:cNvPicPr>
          <p:nvPr/>
        </p:nvPicPr>
        <p:blipFill>
          <a:blip r:embed="rId9"/>
          <a:stretch>
            <a:fillRect/>
          </a:stretch>
        </p:blipFill>
        <p:spPr>
          <a:xfrm>
            <a:off x="9294876" y="5486400"/>
            <a:ext cx="292608" cy="292608"/>
          </a:xfrm>
          <a:prstGeom prst="rect">
            <a:avLst/>
          </a:prstGeom>
        </p:spPr>
      </p:pic>
      <p:sp>
        <p:nvSpPr>
          <p:cNvPr id="40" name="Shape 24"/>
          <p:cNvSpPr/>
          <p:nvPr/>
        </p:nvSpPr>
        <p:spPr>
          <a:xfrm>
            <a:off x="7612380" y="5852160"/>
            <a:ext cx="3657600" cy="685800"/>
          </a:xfrm>
          <a:prstGeom prst="roundRect">
            <a:avLst>
              <a:gd name="adj" fmla="val 16000"/>
            </a:avLst>
          </a:prstGeom>
          <a:solidFill>
            <a:srgbClr val="E5F7FA"/>
          </a:solidFill>
          <a:ln/>
          <a:effectLst>
            <a:outerShdw blurRad="127000" dist="38100" dir="5400000" algn="bl" rotWithShape="0">
              <a:srgbClr val="9AA5C7">
                <a:alpha val="25000"/>
              </a:srgbClr>
            </a:outerShdw>
          </a:effectLst>
        </p:spPr>
        <p:txBody>
          <a:bodyPr/>
          <a:lstStyle/>
          <a:p>
            <a:endParaRPr lang="en-US"/>
          </a:p>
        </p:txBody>
      </p:sp>
      <p:sp>
        <p:nvSpPr>
          <p:cNvPr id="41" name="Shape 25"/>
          <p:cNvSpPr/>
          <p:nvPr/>
        </p:nvSpPr>
        <p:spPr>
          <a:xfrm>
            <a:off x="7749540" y="5925312"/>
            <a:ext cx="502920" cy="502920"/>
          </a:xfrm>
          <a:prstGeom prst="ellipse">
            <a:avLst/>
          </a:prstGeom>
          <a:solidFill>
            <a:srgbClr val="FFFFFF"/>
          </a:solidFill>
          <a:ln/>
        </p:spPr>
        <p:txBody>
          <a:bodyPr/>
          <a:lstStyle/>
          <a:p>
            <a:endParaRPr lang="en-US"/>
          </a:p>
        </p:txBody>
      </p:sp>
      <p:pic>
        <p:nvPicPr>
          <p:cNvPr id="42" name="Image 14" descr="/home/claude/aurora/icons/recommend_0891B2.png"/>
          <p:cNvPicPr>
            <a:picLocks noChangeAspect="1"/>
          </p:cNvPicPr>
          <p:nvPr/>
        </p:nvPicPr>
        <p:blipFill>
          <a:blip r:embed="rId13"/>
          <a:stretch>
            <a:fillRect/>
          </a:stretch>
        </p:blipFill>
        <p:spPr>
          <a:xfrm>
            <a:off x="7875270" y="6051042"/>
            <a:ext cx="251460" cy="251460"/>
          </a:xfrm>
          <a:prstGeom prst="rect">
            <a:avLst/>
          </a:prstGeom>
        </p:spPr>
      </p:pic>
      <p:sp>
        <p:nvSpPr>
          <p:cNvPr id="43" name="Text 26"/>
          <p:cNvSpPr/>
          <p:nvPr/>
        </p:nvSpPr>
        <p:spPr>
          <a:xfrm>
            <a:off x="8435340" y="5852160"/>
            <a:ext cx="2743200" cy="685800"/>
          </a:xfrm>
          <a:prstGeom prst="rect">
            <a:avLst/>
          </a:prstGeom>
          <a:noFill/>
          <a:ln/>
        </p:spPr>
        <p:txBody>
          <a:bodyPr wrap="square" lIns="0" tIns="0" rIns="0" bIns="0" rtlCol="0" anchor="ctr"/>
          <a:lstStyle/>
          <a:p>
            <a:pPr marL="0" indent="0">
              <a:buNone/>
            </a:pPr>
            <a:r>
              <a:rPr lang="en-US" sz="1250" b="1" dirty="0">
                <a:solidFill>
                  <a:srgbClr val="15229E"/>
                </a:solidFill>
                <a:latin typeface="Calibri" pitchFamily="34" charset="0"/>
                <a:ea typeface="Calibri" pitchFamily="34" charset="-122"/>
                <a:cs typeface="Calibri" pitchFamily="34" charset="-120"/>
              </a:rPr>
              <a:t>Recommended Products</a:t>
            </a:r>
            <a:endParaRPr lang="en-US" sz="1250" dirty="0"/>
          </a:p>
        </p:txBody>
      </p:sp>
      <p:sp>
        <p:nvSpPr>
          <p:cNvPr id="44" name="Text 2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46" name="Shape 9">
            <a:extLst>
              <a:ext uri="{FF2B5EF4-FFF2-40B4-BE49-F238E27FC236}">
                <a16:creationId xmlns:a16="http://schemas.microsoft.com/office/drawing/2014/main" id="{9695A877-1DD8-E893-6064-2226060B040E}"/>
              </a:ext>
            </a:extLst>
          </p:cNvPr>
          <p:cNvSpPr/>
          <p:nvPr/>
        </p:nvSpPr>
        <p:spPr>
          <a:xfrm>
            <a:off x="3286250" y="3066039"/>
            <a:ext cx="1371600" cy="1371600"/>
          </a:xfrm>
          <a:prstGeom prst="ellipse">
            <a:avLst/>
          </a:prstGeom>
          <a:solidFill>
            <a:srgbClr val="1E3FD6"/>
          </a:solidFill>
          <a:ln/>
        </p:spPr>
        <p:txBody>
          <a:bodyPr/>
          <a:lstStyle/>
          <a:p>
            <a:endParaRPr lang="en-US"/>
          </a:p>
        </p:txBody>
      </p:sp>
      <p:pic>
        <p:nvPicPr>
          <p:cNvPr id="48" name="Image 2" descr="/home/claude/aurora/icons/ai_FFFFFF.png">
            <a:extLst>
              <a:ext uri="{FF2B5EF4-FFF2-40B4-BE49-F238E27FC236}">
                <a16:creationId xmlns:a16="http://schemas.microsoft.com/office/drawing/2014/main" id="{9862F323-F6CF-767D-23A2-B3A1D240C391}"/>
              </a:ext>
            </a:extLst>
          </p:cNvPr>
          <p:cNvPicPr>
            <a:picLocks noChangeAspect="1"/>
          </p:cNvPicPr>
          <p:nvPr/>
        </p:nvPicPr>
        <p:blipFill>
          <a:blip r:embed="rId14"/>
          <a:stretch>
            <a:fillRect/>
          </a:stretch>
        </p:blipFill>
        <p:spPr>
          <a:xfrm>
            <a:off x="3629150" y="3408939"/>
            <a:ext cx="685800" cy="685800"/>
          </a:xfrm>
          <a:prstGeom prst="rect">
            <a:avLst/>
          </a:prstGeom>
        </p:spPr>
      </p:pic>
      <p:sp>
        <p:nvSpPr>
          <p:cNvPr id="50" name="Shape 10">
            <a:extLst>
              <a:ext uri="{FF2B5EF4-FFF2-40B4-BE49-F238E27FC236}">
                <a16:creationId xmlns:a16="http://schemas.microsoft.com/office/drawing/2014/main" id="{FD934C63-D297-7B56-D1E8-4946EE33AE67}"/>
              </a:ext>
            </a:extLst>
          </p:cNvPr>
          <p:cNvSpPr/>
          <p:nvPr/>
        </p:nvSpPr>
        <p:spPr>
          <a:xfrm>
            <a:off x="4337810" y="3843279"/>
            <a:ext cx="1051560" cy="1051560"/>
          </a:xfrm>
          <a:prstGeom prst="ellipse">
            <a:avLst/>
          </a:prstGeom>
          <a:solidFill>
            <a:srgbClr val="7C3AED"/>
          </a:solidFill>
          <a:ln/>
        </p:spPr>
        <p:txBody>
          <a:bodyPr/>
          <a:lstStyle/>
          <a:p>
            <a:endParaRPr lang="en-US"/>
          </a:p>
        </p:txBody>
      </p:sp>
      <p:pic>
        <p:nvPicPr>
          <p:cNvPr id="52" name="Image 3" descr="/home/claude/aurora/icons/cart_FFFFFF.png">
            <a:extLst>
              <a:ext uri="{FF2B5EF4-FFF2-40B4-BE49-F238E27FC236}">
                <a16:creationId xmlns:a16="http://schemas.microsoft.com/office/drawing/2014/main" id="{D8204AAC-CB1D-0474-A1F1-0D4D92A8887F}"/>
              </a:ext>
            </a:extLst>
          </p:cNvPr>
          <p:cNvPicPr>
            <a:picLocks noChangeAspect="1"/>
          </p:cNvPicPr>
          <p:nvPr/>
        </p:nvPicPr>
        <p:blipFill>
          <a:blip r:embed="rId15"/>
          <a:stretch>
            <a:fillRect/>
          </a:stretch>
        </p:blipFill>
        <p:spPr>
          <a:xfrm>
            <a:off x="4600700" y="4106169"/>
            <a:ext cx="525780" cy="525780"/>
          </a:xfrm>
          <a:prstGeom prst="rect">
            <a:avLst/>
          </a:prstGeom>
        </p:spPr>
      </p:pic>
      <p:sp>
        <p:nvSpPr>
          <p:cNvPr id="54" name="Shape 11">
            <a:extLst>
              <a:ext uri="{FF2B5EF4-FFF2-40B4-BE49-F238E27FC236}">
                <a16:creationId xmlns:a16="http://schemas.microsoft.com/office/drawing/2014/main" id="{37FA846A-114E-FB12-BBDC-AF5078F8B1EC}"/>
              </a:ext>
            </a:extLst>
          </p:cNvPr>
          <p:cNvSpPr/>
          <p:nvPr/>
        </p:nvSpPr>
        <p:spPr>
          <a:xfrm>
            <a:off x="2783330" y="4574799"/>
            <a:ext cx="914400" cy="914400"/>
          </a:xfrm>
          <a:prstGeom prst="ellipse">
            <a:avLst/>
          </a:prstGeom>
          <a:solidFill>
            <a:srgbClr val="0891B2"/>
          </a:solidFill>
          <a:ln/>
        </p:spPr>
        <p:txBody>
          <a:bodyPr/>
          <a:lstStyle/>
          <a:p>
            <a:endParaRPr lang="en-US"/>
          </a:p>
        </p:txBody>
      </p:sp>
      <p:pic>
        <p:nvPicPr>
          <p:cNvPr id="56" name="Image 4" descr="/home/claude/aurora/icons/recommend_FFFFFF.png">
            <a:extLst>
              <a:ext uri="{FF2B5EF4-FFF2-40B4-BE49-F238E27FC236}">
                <a16:creationId xmlns:a16="http://schemas.microsoft.com/office/drawing/2014/main" id="{052A1D33-E8B0-23C1-6B26-322EF7D12B97}"/>
              </a:ext>
            </a:extLst>
          </p:cNvPr>
          <p:cNvPicPr>
            <a:picLocks noChangeAspect="1"/>
          </p:cNvPicPr>
          <p:nvPr/>
        </p:nvPicPr>
        <p:blipFill>
          <a:blip r:embed="rId13"/>
          <a:stretch>
            <a:fillRect/>
          </a:stretch>
        </p:blipFill>
        <p:spPr>
          <a:xfrm>
            <a:off x="3011930" y="4803399"/>
            <a:ext cx="457200" cy="457200"/>
          </a:xfrm>
          <a:prstGeom prst="rect">
            <a:avLst/>
          </a:prstGeom>
        </p:spPr>
      </p:pic>
      <p:sp>
        <p:nvSpPr>
          <p:cNvPr id="58" name="Shape 12">
            <a:extLst>
              <a:ext uri="{FF2B5EF4-FFF2-40B4-BE49-F238E27FC236}">
                <a16:creationId xmlns:a16="http://schemas.microsoft.com/office/drawing/2014/main" id="{B2672ED5-ECC4-A00A-A368-F003673FAB38}"/>
              </a:ext>
            </a:extLst>
          </p:cNvPr>
          <p:cNvSpPr/>
          <p:nvPr/>
        </p:nvSpPr>
        <p:spPr>
          <a:xfrm>
            <a:off x="4017770" y="5306319"/>
            <a:ext cx="868680" cy="868680"/>
          </a:xfrm>
          <a:prstGeom prst="ellipse">
            <a:avLst/>
          </a:prstGeom>
          <a:solidFill>
            <a:srgbClr val="1E3FD6"/>
          </a:solidFill>
          <a:ln/>
        </p:spPr>
        <p:txBody>
          <a:bodyPr/>
          <a:lstStyle/>
          <a:p>
            <a:endParaRPr lang="en-US"/>
          </a:p>
        </p:txBody>
      </p:sp>
      <p:pic>
        <p:nvPicPr>
          <p:cNvPr id="60" name="Image 5" descr="/home/claude/aurora/icons/phone_FFFFFF.png">
            <a:extLst>
              <a:ext uri="{FF2B5EF4-FFF2-40B4-BE49-F238E27FC236}">
                <a16:creationId xmlns:a16="http://schemas.microsoft.com/office/drawing/2014/main" id="{0481AB68-47C0-05F8-9144-245ED25D7D26}"/>
              </a:ext>
            </a:extLst>
          </p:cNvPr>
          <p:cNvPicPr>
            <a:picLocks noChangeAspect="1"/>
          </p:cNvPicPr>
          <p:nvPr/>
        </p:nvPicPr>
        <p:blipFill>
          <a:blip r:embed="rId16"/>
          <a:stretch>
            <a:fillRect/>
          </a:stretch>
        </p:blipFill>
        <p:spPr>
          <a:xfrm>
            <a:off x="4234940" y="5523489"/>
            <a:ext cx="434340" cy="434340"/>
          </a:xfrm>
          <a:prstGeom prst="rect">
            <a:avLst/>
          </a:prstGeom>
        </p:spPr>
      </p:pic>
      <p:sp>
        <p:nvSpPr>
          <p:cNvPr id="62" name="Shape 13">
            <a:extLst>
              <a:ext uri="{FF2B5EF4-FFF2-40B4-BE49-F238E27FC236}">
                <a16:creationId xmlns:a16="http://schemas.microsoft.com/office/drawing/2014/main" id="{1B567392-3B9D-28D3-852F-751294138909}"/>
              </a:ext>
            </a:extLst>
          </p:cNvPr>
          <p:cNvSpPr/>
          <p:nvPr/>
        </p:nvSpPr>
        <p:spPr>
          <a:xfrm>
            <a:off x="3194810" y="5992119"/>
            <a:ext cx="777240" cy="777240"/>
          </a:xfrm>
          <a:prstGeom prst="ellipse">
            <a:avLst/>
          </a:prstGeom>
          <a:solidFill>
            <a:srgbClr val="7C3AED"/>
          </a:solidFill>
          <a:ln/>
        </p:spPr>
        <p:txBody>
          <a:bodyPr/>
          <a:lstStyle/>
          <a:p>
            <a:endParaRPr lang="en-US"/>
          </a:p>
        </p:txBody>
      </p:sp>
      <p:pic>
        <p:nvPicPr>
          <p:cNvPr id="64" name="Image 6" descr="/home/claude/aurora/icons/heart_FFFFFF.png">
            <a:extLst>
              <a:ext uri="{FF2B5EF4-FFF2-40B4-BE49-F238E27FC236}">
                <a16:creationId xmlns:a16="http://schemas.microsoft.com/office/drawing/2014/main" id="{9BFA65A9-6DC2-A125-7C6F-761A8A74AC4D}"/>
              </a:ext>
            </a:extLst>
          </p:cNvPr>
          <p:cNvPicPr>
            <a:picLocks noChangeAspect="1"/>
          </p:cNvPicPr>
          <p:nvPr/>
        </p:nvPicPr>
        <p:blipFill>
          <a:blip r:embed="rId17"/>
          <a:stretch>
            <a:fillRect/>
          </a:stretch>
        </p:blipFill>
        <p:spPr>
          <a:xfrm>
            <a:off x="3389120" y="6186429"/>
            <a:ext cx="388620" cy="388620"/>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PROCESS FLOW</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Project Workflow</a:t>
            </a:r>
            <a:endParaRPr lang="en-US" sz="3400" dirty="0"/>
          </a:p>
        </p:txBody>
      </p:sp>
      <p:sp>
        <p:nvSpPr>
          <p:cNvPr id="5" name="Shape 2"/>
          <p:cNvSpPr/>
          <p:nvPr/>
        </p:nvSpPr>
        <p:spPr>
          <a:xfrm>
            <a:off x="640080" y="2743200"/>
            <a:ext cx="1691640" cy="1554480"/>
          </a:xfrm>
          <a:prstGeom prst="roundRect">
            <a:avLst>
              <a:gd name="adj" fmla="val 705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1120140" y="2999232"/>
            <a:ext cx="731520" cy="731520"/>
          </a:xfrm>
          <a:prstGeom prst="ellipse">
            <a:avLst/>
          </a:prstGeom>
          <a:solidFill>
            <a:srgbClr val="E5F7FA"/>
          </a:solidFill>
          <a:ln/>
        </p:spPr>
        <p:txBody>
          <a:bodyPr/>
          <a:lstStyle/>
          <a:p>
            <a:endParaRPr lang="en-US"/>
          </a:p>
        </p:txBody>
      </p:sp>
      <p:pic>
        <p:nvPicPr>
          <p:cNvPr id="7" name="Image 1" descr="/home/claude/aurora/icons/user_1E3FD6.png"/>
          <p:cNvPicPr>
            <a:picLocks noChangeAspect="1"/>
          </p:cNvPicPr>
          <p:nvPr/>
        </p:nvPicPr>
        <p:blipFill>
          <a:blip r:embed="rId4"/>
          <a:stretch>
            <a:fillRect/>
          </a:stretch>
        </p:blipFill>
        <p:spPr>
          <a:xfrm>
            <a:off x="1284732" y="3163824"/>
            <a:ext cx="402336" cy="402336"/>
          </a:xfrm>
          <a:prstGeom prst="rect">
            <a:avLst/>
          </a:prstGeom>
        </p:spPr>
      </p:pic>
      <p:sp>
        <p:nvSpPr>
          <p:cNvPr id="8" name="Text 4"/>
          <p:cNvSpPr/>
          <p:nvPr/>
        </p:nvSpPr>
        <p:spPr>
          <a:xfrm>
            <a:off x="685800" y="3822192"/>
            <a:ext cx="1600200" cy="41148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User</a:t>
            </a:r>
            <a:endParaRPr lang="en-US" sz="1100" dirty="0"/>
          </a:p>
        </p:txBody>
      </p:sp>
      <p:sp>
        <p:nvSpPr>
          <p:cNvPr id="9" name="Text 5"/>
          <p:cNvSpPr/>
          <p:nvPr/>
        </p:nvSpPr>
        <p:spPr>
          <a:xfrm>
            <a:off x="713232" y="2816352"/>
            <a:ext cx="365760" cy="274320"/>
          </a:xfrm>
          <a:prstGeom prst="rect">
            <a:avLst/>
          </a:prstGeom>
          <a:noFill/>
          <a:ln/>
        </p:spPr>
        <p:txBody>
          <a:bodyPr wrap="square" lIns="0" tIns="0" rIns="0" bIns="0" rtlCol="0" anchor="ctr"/>
          <a:lstStyle/>
          <a:p>
            <a:pPr marL="0" indent="0">
              <a:buNone/>
            </a:pPr>
            <a:r>
              <a:rPr lang="en-US" sz="1100" b="1" dirty="0">
                <a:solidFill>
                  <a:srgbClr val="64748B"/>
                </a:solidFill>
                <a:latin typeface="Cambria" pitchFamily="34" charset="0"/>
                <a:ea typeface="Cambria" pitchFamily="34" charset="-122"/>
                <a:cs typeface="Cambria" pitchFamily="34" charset="-120"/>
              </a:rPr>
              <a:t>1</a:t>
            </a:r>
            <a:endParaRPr lang="en-US" sz="1100" dirty="0"/>
          </a:p>
        </p:txBody>
      </p:sp>
      <p:pic>
        <p:nvPicPr>
          <p:cNvPr id="10" name="Image 2" descr="/home/claude/aurora/icons/arrowRight_64748B.png"/>
          <p:cNvPicPr>
            <a:picLocks noChangeAspect="1"/>
          </p:cNvPicPr>
          <p:nvPr/>
        </p:nvPicPr>
        <p:blipFill>
          <a:blip r:embed="rId5"/>
          <a:stretch>
            <a:fillRect/>
          </a:stretch>
        </p:blipFill>
        <p:spPr>
          <a:xfrm>
            <a:off x="2270730" y="3383280"/>
            <a:ext cx="274320" cy="274320"/>
          </a:xfrm>
          <a:prstGeom prst="rect">
            <a:avLst/>
          </a:prstGeom>
        </p:spPr>
      </p:pic>
      <p:sp>
        <p:nvSpPr>
          <p:cNvPr id="11" name="Shape 6"/>
          <p:cNvSpPr/>
          <p:nvPr/>
        </p:nvSpPr>
        <p:spPr>
          <a:xfrm>
            <a:off x="2484059" y="2743200"/>
            <a:ext cx="1691640" cy="1554480"/>
          </a:xfrm>
          <a:prstGeom prst="roundRect">
            <a:avLst>
              <a:gd name="adj" fmla="val 705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2" name="Shape 7"/>
          <p:cNvSpPr/>
          <p:nvPr/>
        </p:nvSpPr>
        <p:spPr>
          <a:xfrm>
            <a:off x="2964119" y="2999232"/>
            <a:ext cx="731520" cy="731520"/>
          </a:xfrm>
          <a:prstGeom prst="ellipse">
            <a:avLst/>
          </a:prstGeom>
          <a:solidFill>
            <a:srgbClr val="E5F7FA"/>
          </a:solidFill>
          <a:ln/>
        </p:spPr>
        <p:txBody>
          <a:bodyPr/>
          <a:lstStyle/>
          <a:p>
            <a:endParaRPr lang="en-US"/>
          </a:p>
        </p:txBody>
      </p:sp>
      <p:pic>
        <p:nvPicPr>
          <p:cNvPr id="13" name="Image 3" descr="/home/claude/aurora/icons/search_1E3FD6.png"/>
          <p:cNvPicPr>
            <a:picLocks noChangeAspect="1"/>
          </p:cNvPicPr>
          <p:nvPr/>
        </p:nvPicPr>
        <p:blipFill>
          <a:blip r:embed="rId6"/>
          <a:stretch>
            <a:fillRect/>
          </a:stretch>
        </p:blipFill>
        <p:spPr>
          <a:xfrm>
            <a:off x="3128711" y="3163824"/>
            <a:ext cx="402336" cy="402336"/>
          </a:xfrm>
          <a:prstGeom prst="rect">
            <a:avLst/>
          </a:prstGeom>
        </p:spPr>
      </p:pic>
      <p:sp>
        <p:nvSpPr>
          <p:cNvPr id="14" name="Text 8"/>
          <p:cNvSpPr/>
          <p:nvPr/>
        </p:nvSpPr>
        <p:spPr>
          <a:xfrm>
            <a:off x="2529779" y="3822192"/>
            <a:ext cx="1600200" cy="41148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Search</a:t>
            </a:r>
            <a:endParaRPr lang="en-US" sz="1100" dirty="0"/>
          </a:p>
        </p:txBody>
      </p:sp>
      <p:sp>
        <p:nvSpPr>
          <p:cNvPr id="15" name="Text 9"/>
          <p:cNvSpPr/>
          <p:nvPr/>
        </p:nvSpPr>
        <p:spPr>
          <a:xfrm>
            <a:off x="2557211" y="2816352"/>
            <a:ext cx="365760" cy="274320"/>
          </a:xfrm>
          <a:prstGeom prst="rect">
            <a:avLst/>
          </a:prstGeom>
          <a:noFill/>
          <a:ln/>
        </p:spPr>
        <p:txBody>
          <a:bodyPr wrap="square" lIns="0" tIns="0" rIns="0" bIns="0" rtlCol="0" anchor="ctr"/>
          <a:lstStyle/>
          <a:p>
            <a:pPr marL="0" indent="0">
              <a:buNone/>
            </a:pPr>
            <a:r>
              <a:rPr lang="en-US" sz="1100" b="1" dirty="0">
                <a:solidFill>
                  <a:srgbClr val="64748B"/>
                </a:solidFill>
                <a:latin typeface="Cambria" pitchFamily="34" charset="0"/>
                <a:ea typeface="Cambria" pitchFamily="34" charset="-122"/>
                <a:cs typeface="Cambria" pitchFamily="34" charset="-120"/>
              </a:rPr>
              <a:t>2</a:t>
            </a:r>
            <a:endParaRPr lang="en-US" sz="1100" dirty="0"/>
          </a:p>
        </p:txBody>
      </p:sp>
      <p:pic>
        <p:nvPicPr>
          <p:cNvPr id="16" name="Image 4" descr="/home/claude/aurora/icons/arrowRight_64748B.png"/>
          <p:cNvPicPr>
            <a:picLocks noChangeAspect="1"/>
          </p:cNvPicPr>
          <p:nvPr/>
        </p:nvPicPr>
        <p:blipFill>
          <a:blip r:embed="rId5"/>
          <a:stretch>
            <a:fillRect/>
          </a:stretch>
        </p:blipFill>
        <p:spPr>
          <a:xfrm>
            <a:off x="4114709" y="3383280"/>
            <a:ext cx="274320" cy="274320"/>
          </a:xfrm>
          <a:prstGeom prst="rect">
            <a:avLst/>
          </a:prstGeom>
        </p:spPr>
      </p:pic>
      <p:sp>
        <p:nvSpPr>
          <p:cNvPr id="17" name="Shape 10"/>
          <p:cNvSpPr/>
          <p:nvPr/>
        </p:nvSpPr>
        <p:spPr>
          <a:xfrm>
            <a:off x="4328038" y="2743200"/>
            <a:ext cx="1691640" cy="1554480"/>
          </a:xfrm>
          <a:prstGeom prst="roundRect">
            <a:avLst>
              <a:gd name="adj" fmla="val 705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8" name="Shape 11"/>
          <p:cNvSpPr/>
          <p:nvPr/>
        </p:nvSpPr>
        <p:spPr>
          <a:xfrm>
            <a:off x="4808098" y="2999232"/>
            <a:ext cx="731520" cy="731520"/>
          </a:xfrm>
          <a:prstGeom prst="ellipse">
            <a:avLst/>
          </a:prstGeom>
          <a:solidFill>
            <a:srgbClr val="E5F7FA"/>
          </a:solidFill>
          <a:ln/>
        </p:spPr>
        <p:txBody>
          <a:bodyPr/>
          <a:lstStyle/>
          <a:p>
            <a:endParaRPr lang="en-US"/>
          </a:p>
        </p:txBody>
      </p:sp>
      <p:pic>
        <p:nvPicPr>
          <p:cNvPr id="19" name="Image 5" descr="/home/claude/aurora/icons/database_1E3FD6.png"/>
          <p:cNvPicPr>
            <a:picLocks noChangeAspect="1"/>
          </p:cNvPicPr>
          <p:nvPr/>
        </p:nvPicPr>
        <p:blipFill>
          <a:blip r:embed="rId7"/>
          <a:stretch>
            <a:fillRect/>
          </a:stretch>
        </p:blipFill>
        <p:spPr>
          <a:xfrm>
            <a:off x="4972690" y="3163824"/>
            <a:ext cx="402336" cy="402336"/>
          </a:xfrm>
          <a:prstGeom prst="rect">
            <a:avLst/>
          </a:prstGeom>
        </p:spPr>
      </p:pic>
      <p:sp>
        <p:nvSpPr>
          <p:cNvPr id="20" name="Text 12"/>
          <p:cNvSpPr/>
          <p:nvPr/>
        </p:nvSpPr>
        <p:spPr>
          <a:xfrm>
            <a:off x="4373758" y="3822192"/>
            <a:ext cx="1600200" cy="41148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Database</a:t>
            </a:r>
            <a:endParaRPr lang="en-US" sz="1100" dirty="0"/>
          </a:p>
        </p:txBody>
      </p:sp>
      <p:sp>
        <p:nvSpPr>
          <p:cNvPr id="21" name="Text 13"/>
          <p:cNvSpPr/>
          <p:nvPr/>
        </p:nvSpPr>
        <p:spPr>
          <a:xfrm>
            <a:off x="4401190" y="2816352"/>
            <a:ext cx="365760" cy="274320"/>
          </a:xfrm>
          <a:prstGeom prst="rect">
            <a:avLst/>
          </a:prstGeom>
          <a:noFill/>
          <a:ln/>
        </p:spPr>
        <p:txBody>
          <a:bodyPr wrap="square" lIns="0" tIns="0" rIns="0" bIns="0" rtlCol="0" anchor="ctr"/>
          <a:lstStyle/>
          <a:p>
            <a:pPr marL="0" indent="0">
              <a:buNone/>
            </a:pPr>
            <a:r>
              <a:rPr lang="en-US" sz="1100" b="1" dirty="0">
                <a:solidFill>
                  <a:srgbClr val="64748B"/>
                </a:solidFill>
                <a:latin typeface="Cambria" pitchFamily="34" charset="0"/>
                <a:ea typeface="Cambria" pitchFamily="34" charset="-122"/>
                <a:cs typeface="Cambria" pitchFamily="34" charset="-120"/>
              </a:rPr>
              <a:t>3</a:t>
            </a:r>
            <a:endParaRPr lang="en-US" sz="1100" dirty="0"/>
          </a:p>
        </p:txBody>
      </p:sp>
      <p:pic>
        <p:nvPicPr>
          <p:cNvPr id="22" name="Image 6" descr="/home/claude/aurora/icons/arrowRight_64748B.png"/>
          <p:cNvPicPr>
            <a:picLocks noChangeAspect="1"/>
          </p:cNvPicPr>
          <p:nvPr/>
        </p:nvPicPr>
        <p:blipFill>
          <a:blip r:embed="rId5"/>
          <a:stretch>
            <a:fillRect/>
          </a:stretch>
        </p:blipFill>
        <p:spPr>
          <a:xfrm>
            <a:off x="5958688" y="3383280"/>
            <a:ext cx="274320" cy="274320"/>
          </a:xfrm>
          <a:prstGeom prst="rect">
            <a:avLst/>
          </a:prstGeom>
        </p:spPr>
      </p:pic>
      <p:sp>
        <p:nvSpPr>
          <p:cNvPr id="23" name="Shape 14"/>
          <p:cNvSpPr/>
          <p:nvPr/>
        </p:nvSpPr>
        <p:spPr>
          <a:xfrm>
            <a:off x="6172017" y="2743200"/>
            <a:ext cx="1691640" cy="1554480"/>
          </a:xfrm>
          <a:prstGeom prst="roundRect">
            <a:avLst>
              <a:gd name="adj" fmla="val 7059"/>
            </a:avLst>
          </a:prstGeom>
          <a:solidFill>
            <a:srgbClr val="1E3FD6"/>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4" name="Shape 15"/>
          <p:cNvSpPr/>
          <p:nvPr/>
        </p:nvSpPr>
        <p:spPr>
          <a:xfrm>
            <a:off x="6652077" y="2999232"/>
            <a:ext cx="731520" cy="731520"/>
          </a:xfrm>
          <a:prstGeom prst="ellipse">
            <a:avLst/>
          </a:prstGeom>
          <a:solidFill>
            <a:srgbClr val="FFFFFF"/>
          </a:solidFill>
          <a:ln/>
        </p:spPr>
        <p:txBody>
          <a:bodyPr/>
          <a:lstStyle/>
          <a:p>
            <a:endParaRPr lang="en-US"/>
          </a:p>
        </p:txBody>
      </p:sp>
      <p:pic>
        <p:nvPicPr>
          <p:cNvPr id="25" name="Image 7" descr="/home/claude/aurora/icons/ml_1E3FD6.png"/>
          <p:cNvPicPr>
            <a:picLocks noChangeAspect="1"/>
          </p:cNvPicPr>
          <p:nvPr/>
        </p:nvPicPr>
        <p:blipFill>
          <a:blip r:embed="rId8"/>
          <a:stretch>
            <a:fillRect/>
          </a:stretch>
        </p:blipFill>
        <p:spPr>
          <a:xfrm>
            <a:off x="6816669" y="3163824"/>
            <a:ext cx="402336" cy="402336"/>
          </a:xfrm>
          <a:prstGeom prst="rect">
            <a:avLst/>
          </a:prstGeom>
        </p:spPr>
      </p:pic>
      <p:sp>
        <p:nvSpPr>
          <p:cNvPr id="26" name="Text 16"/>
          <p:cNvSpPr/>
          <p:nvPr/>
        </p:nvSpPr>
        <p:spPr>
          <a:xfrm>
            <a:off x="6217737" y="3822192"/>
            <a:ext cx="1600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27" name="Text 17"/>
          <p:cNvSpPr/>
          <p:nvPr/>
        </p:nvSpPr>
        <p:spPr>
          <a:xfrm>
            <a:off x="6245169" y="2816352"/>
            <a:ext cx="365760" cy="274320"/>
          </a:xfrm>
          <a:prstGeom prst="rect">
            <a:avLst/>
          </a:prstGeom>
          <a:noFill/>
          <a:ln/>
        </p:spPr>
        <p:txBody>
          <a:bodyPr wrap="square" lIns="0" tIns="0" rIns="0" bIns="0" rtlCol="0" anchor="ctr"/>
          <a:lstStyle/>
          <a:p>
            <a:pPr marL="0" indent="0">
              <a:buNone/>
            </a:pPr>
            <a:r>
              <a:rPr lang="en-US" sz="1100" b="1" dirty="0">
                <a:solidFill>
                  <a:srgbClr val="E5F7FA"/>
                </a:solidFill>
                <a:latin typeface="Cambria" pitchFamily="34" charset="0"/>
                <a:ea typeface="Cambria" pitchFamily="34" charset="-122"/>
                <a:cs typeface="Cambria" pitchFamily="34" charset="-120"/>
              </a:rPr>
              <a:t>4</a:t>
            </a:r>
            <a:endParaRPr lang="en-US" sz="1100" dirty="0"/>
          </a:p>
        </p:txBody>
      </p:sp>
      <p:pic>
        <p:nvPicPr>
          <p:cNvPr id="28" name="Image 8" descr="/home/claude/aurora/icons/arrowRight_64748B.png"/>
          <p:cNvPicPr>
            <a:picLocks noChangeAspect="1"/>
          </p:cNvPicPr>
          <p:nvPr/>
        </p:nvPicPr>
        <p:blipFill>
          <a:blip r:embed="rId5"/>
          <a:stretch>
            <a:fillRect/>
          </a:stretch>
        </p:blipFill>
        <p:spPr>
          <a:xfrm>
            <a:off x="7802667" y="3383280"/>
            <a:ext cx="274320" cy="274320"/>
          </a:xfrm>
          <a:prstGeom prst="rect">
            <a:avLst/>
          </a:prstGeom>
        </p:spPr>
      </p:pic>
      <p:sp>
        <p:nvSpPr>
          <p:cNvPr id="29" name="Shape 18"/>
          <p:cNvSpPr/>
          <p:nvPr/>
        </p:nvSpPr>
        <p:spPr>
          <a:xfrm>
            <a:off x="8015996" y="2743200"/>
            <a:ext cx="1691640" cy="1554480"/>
          </a:xfrm>
          <a:prstGeom prst="roundRect">
            <a:avLst>
              <a:gd name="adj" fmla="val 7059"/>
            </a:avLst>
          </a:prstGeom>
          <a:solidFill>
            <a:srgbClr val="1E3FD6"/>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0" name="Shape 19"/>
          <p:cNvSpPr/>
          <p:nvPr/>
        </p:nvSpPr>
        <p:spPr>
          <a:xfrm>
            <a:off x="8496056" y="2999232"/>
            <a:ext cx="731520" cy="731520"/>
          </a:xfrm>
          <a:prstGeom prst="ellipse">
            <a:avLst/>
          </a:prstGeom>
          <a:solidFill>
            <a:srgbClr val="FFFFFF"/>
          </a:solidFill>
          <a:ln/>
        </p:spPr>
        <p:txBody>
          <a:bodyPr/>
          <a:lstStyle/>
          <a:p>
            <a:endParaRPr lang="en-US"/>
          </a:p>
        </p:txBody>
      </p:sp>
      <p:pic>
        <p:nvPicPr>
          <p:cNvPr id="31" name="Image 9" descr="/home/claude/aurora/icons/recommend_1E3FD6.png"/>
          <p:cNvPicPr>
            <a:picLocks noChangeAspect="1"/>
          </p:cNvPicPr>
          <p:nvPr/>
        </p:nvPicPr>
        <p:blipFill>
          <a:blip r:embed="rId9"/>
          <a:stretch>
            <a:fillRect/>
          </a:stretch>
        </p:blipFill>
        <p:spPr>
          <a:xfrm>
            <a:off x="8660648" y="3163824"/>
            <a:ext cx="402336" cy="402336"/>
          </a:xfrm>
          <a:prstGeom prst="rect">
            <a:avLst/>
          </a:prstGeom>
        </p:spPr>
      </p:pic>
      <p:sp>
        <p:nvSpPr>
          <p:cNvPr id="32" name="Text 20"/>
          <p:cNvSpPr/>
          <p:nvPr/>
        </p:nvSpPr>
        <p:spPr>
          <a:xfrm>
            <a:off x="8061716" y="3822192"/>
            <a:ext cx="1600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Recommendation</a:t>
            </a:r>
            <a:endParaRPr lang="en-US" sz="1100" dirty="0"/>
          </a:p>
        </p:txBody>
      </p:sp>
      <p:sp>
        <p:nvSpPr>
          <p:cNvPr id="33" name="Text 21"/>
          <p:cNvSpPr/>
          <p:nvPr/>
        </p:nvSpPr>
        <p:spPr>
          <a:xfrm>
            <a:off x="8089148" y="2816352"/>
            <a:ext cx="365760" cy="274320"/>
          </a:xfrm>
          <a:prstGeom prst="rect">
            <a:avLst/>
          </a:prstGeom>
          <a:noFill/>
          <a:ln/>
        </p:spPr>
        <p:txBody>
          <a:bodyPr wrap="square" lIns="0" tIns="0" rIns="0" bIns="0" rtlCol="0" anchor="ctr"/>
          <a:lstStyle/>
          <a:p>
            <a:pPr marL="0" indent="0">
              <a:buNone/>
            </a:pPr>
            <a:r>
              <a:rPr lang="en-US" sz="1100" b="1" dirty="0">
                <a:solidFill>
                  <a:srgbClr val="E5F7FA"/>
                </a:solidFill>
                <a:latin typeface="Cambria" pitchFamily="34" charset="0"/>
                <a:ea typeface="Cambria" pitchFamily="34" charset="-122"/>
                <a:cs typeface="Cambria" pitchFamily="34" charset="-120"/>
              </a:rPr>
              <a:t>5</a:t>
            </a:r>
            <a:endParaRPr lang="en-US" sz="1100" dirty="0"/>
          </a:p>
        </p:txBody>
      </p:sp>
      <p:pic>
        <p:nvPicPr>
          <p:cNvPr id="34" name="Image 10" descr="/home/claude/aurora/icons/arrowRight_64748B.png"/>
          <p:cNvPicPr>
            <a:picLocks noChangeAspect="1"/>
          </p:cNvPicPr>
          <p:nvPr/>
        </p:nvPicPr>
        <p:blipFill>
          <a:blip r:embed="rId5"/>
          <a:stretch>
            <a:fillRect/>
          </a:stretch>
        </p:blipFill>
        <p:spPr>
          <a:xfrm>
            <a:off x="9646646" y="3383280"/>
            <a:ext cx="274320" cy="274320"/>
          </a:xfrm>
          <a:prstGeom prst="rect">
            <a:avLst/>
          </a:prstGeom>
        </p:spPr>
      </p:pic>
      <p:sp>
        <p:nvSpPr>
          <p:cNvPr id="35" name="Shape 22"/>
          <p:cNvSpPr/>
          <p:nvPr/>
        </p:nvSpPr>
        <p:spPr>
          <a:xfrm>
            <a:off x="9859975" y="2743200"/>
            <a:ext cx="1691640" cy="1554480"/>
          </a:xfrm>
          <a:prstGeom prst="roundRect">
            <a:avLst>
              <a:gd name="adj" fmla="val 7059"/>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6" name="Shape 23"/>
          <p:cNvSpPr/>
          <p:nvPr/>
        </p:nvSpPr>
        <p:spPr>
          <a:xfrm>
            <a:off x="10340035" y="2999232"/>
            <a:ext cx="731520" cy="731520"/>
          </a:xfrm>
          <a:prstGeom prst="ellipse">
            <a:avLst/>
          </a:prstGeom>
          <a:solidFill>
            <a:srgbClr val="E5F7FA"/>
          </a:solidFill>
          <a:ln/>
        </p:spPr>
        <p:txBody>
          <a:bodyPr/>
          <a:lstStyle/>
          <a:p>
            <a:endParaRPr lang="en-US"/>
          </a:p>
        </p:txBody>
      </p:sp>
      <p:pic>
        <p:nvPicPr>
          <p:cNvPr id="37" name="Image 11" descr="/home/claude/aurora/icons/website_1E3FD6.png"/>
          <p:cNvPicPr>
            <a:picLocks noChangeAspect="1"/>
          </p:cNvPicPr>
          <p:nvPr/>
        </p:nvPicPr>
        <p:blipFill>
          <a:blip r:embed="rId10"/>
          <a:stretch>
            <a:fillRect/>
          </a:stretch>
        </p:blipFill>
        <p:spPr>
          <a:xfrm>
            <a:off x="10504627" y="3163824"/>
            <a:ext cx="402336" cy="402336"/>
          </a:xfrm>
          <a:prstGeom prst="rect">
            <a:avLst/>
          </a:prstGeom>
        </p:spPr>
      </p:pic>
      <p:sp>
        <p:nvSpPr>
          <p:cNvPr id="38" name="Text 24"/>
          <p:cNvSpPr/>
          <p:nvPr/>
        </p:nvSpPr>
        <p:spPr>
          <a:xfrm>
            <a:off x="9905695" y="3822192"/>
            <a:ext cx="1600200" cy="41148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Website</a:t>
            </a:r>
            <a:endParaRPr lang="en-US" sz="1100" dirty="0"/>
          </a:p>
        </p:txBody>
      </p:sp>
      <p:sp>
        <p:nvSpPr>
          <p:cNvPr id="39" name="Text 25"/>
          <p:cNvSpPr/>
          <p:nvPr/>
        </p:nvSpPr>
        <p:spPr>
          <a:xfrm>
            <a:off x="9933127" y="2816352"/>
            <a:ext cx="365760" cy="274320"/>
          </a:xfrm>
          <a:prstGeom prst="rect">
            <a:avLst/>
          </a:prstGeom>
          <a:noFill/>
          <a:ln/>
        </p:spPr>
        <p:txBody>
          <a:bodyPr wrap="square" lIns="0" tIns="0" rIns="0" bIns="0" rtlCol="0" anchor="ctr"/>
          <a:lstStyle/>
          <a:p>
            <a:pPr marL="0" indent="0">
              <a:buNone/>
            </a:pPr>
            <a:r>
              <a:rPr lang="en-US" sz="1100" b="1" dirty="0">
                <a:solidFill>
                  <a:srgbClr val="64748B"/>
                </a:solidFill>
                <a:latin typeface="Cambria" pitchFamily="34" charset="0"/>
                <a:ea typeface="Cambria" pitchFamily="34" charset="-122"/>
                <a:cs typeface="Cambria" pitchFamily="34" charset="-120"/>
              </a:rPr>
              <a:t>6</a:t>
            </a:r>
            <a:endParaRPr lang="en-US" sz="1100" dirty="0"/>
          </a:p>
        </p:txBody>
      </p:sp>
      <p:sp>
        <p:nvSpPr>
          <p:cNvPr id="40" name="Text 26"/>
          <p:cNvSpPr/>
          <p:nvPr/>
        </p:nvSpPr>
        <p:spPr>
          <a:xfrm>
            <a:off x="640080" y="4709160"/>
            <a:ext cx="8686800" cy="731520"/>
          </a:xfrm>
          <a:prstGeom prst="rect">
            <a:avLst/>
          </a:prstGeom>
          <a:noFill/>
          <a:ln/>
        </p:spPr>
        <p:txBody>
          <a:bodyPr wrap="square" lIns="0" tIns="0" rIns="0" bIns="0" rtlCol="0" anchor="ctr"/>
          <a:lstStyle/>
          <a:p>
            <a:pPr marL="0" indent="0">
              <a:lnSpc>
                <a:spcPct val="125000"/>
              </a:lnSpc>
              <a:buNone/>
            </a:pPr>
            <a:r>
              <a:rPr lang="en-US" sz="1300" dirty="0">
                <a:solidFill>
                  <a:srgbClr val="64748B"/>
                </a:solidFill>
                <a:latin typeface="Calibri" pitchFamily="34" charset="0"/>
                <a:ea typeface="Calibri" pitchFamily="34" charset="-122"/>
                <a:cs typeface="Calibri" pitchFamily="34" charset="-120"/>
              </a:rPr>
              <a:t>Every search request is logged, matched against the trained model, and returned</a:t>
            </a:r>
            <a:endParaRPr lang="en-US" sz="1300" dirty="0"/>
          </a:p>
          <a:p>
            <a:pPr marL="0" indent="0">
              <a:lnSpc>
                <a:spcPct val="125000"/>
              </a:lnSpc>
              <a:buNone/>
            </a:pPr>
            <a:r>
              <a:rPr lang="en-US" sz="1300" dirty="0">
                <a:solidFill>
                  <a:srgbClr val="64748B"/>
                </a:solidFill>
                <a:latin typeface="Calibri" pitchFamily="34" charset="0"/>
                <a:ea typeface="Calibri" pitchFamily="34" charset="-122"/>
                <a:cs typeface="Calibri" pitchFamily="34" charset="-120"/>
              </a:rPr>
              <a:t>as a ranked set of recommendations — all within a single Flask request cycle.</a:t>
            </a:r>
            <a:endParaRPr lang="en-US" sz="1300" dirty="0"/>
          </a:p>
        </p:txBody>
      </p:sp>
      <p:sp>
        <p:nvSpPr>
          <p:cNvPr id="41" name="Text 27"/>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09</a:t>
            </a:r>
            <a:endParaRPr lang="en-US" sz="1000" dirty="0"/>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MODELING APPROACH</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Machine Learning Models Compared</a:t>
            </a:r>
            <a:endParaRPr lang="en-US" sz="3400" dirty="0"/>
          </a:p>
        </p:txBody>
      </p:sp>
      <p:sp>
        <p:nvSpPr>
          <p:cNvPr id="5" name="Shape 2"/>
          <p:cNvSpPr/>
          <p:nvPr/>
        </p:nvSpPr>
        <p:spPr>
          <a:xfrm>
            <a:off x="640080" y="1783080"/>
            <a:ext cx="3429000" cy="3931920"/>
          </a:xfrm>
          <a:prstGeom prst="roundRect">
            <a:avLst>
              <a:gd name="adj" fmla="val 32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1943100" y="2148840"/>
            <a:ext cx="822960" cy="822960"/>
          </a:xfrm>
          <a:prstGeom prst="ellipse">
            <a:avLst/>
          </a:prstGeom>
          <a:solidFill>
            <a:srgbClr val="E5F7FA"/>
          </a:solidFill>
          <a:ln/>
        </p:spPr>
        <p:txBody>
          <a:bodyPr/>
          <a:lstStyle/>
          <a:p>
            <a:endParaRPr lang="en-US"/>
          </a:p>
        </p:txBody>
      </p:sp>
      <p:pic>
        <p:nvPicPr>
          <p:cNvPr id="7" name="Image 1" descr="/home/claude/aurora/icons/content_0891B2.png"/>
          <p:cNvPicPr>
            <a:picLocks noChangeAspect="1"/>
          </p:cNvPicPr>
          <p:nvPr/>
        </p:nvPicPr>
        <p:blipFill>
          <a:blip r:embed="rId4"/>
          <a:stretch>
            <a:fillRect/>
          </a:stretch>
        </p:blipFill>
        <p:spPr>
          <a:xfrm>
            <a:off x="2148840" y="2354580"/>
            <a:ext cx="411480" cy="411480"/>
          </a:xfrm>
          <a:prstGeom prst="rect">
            <a:avLst/>
          </a:prstGeom>
        </p:spPr>
      </p:pic>
      <p:sp>
        <p:nvSpPr>
          <p:cNvPr id="8" name="Text 4"/>
          <p:cNvSpPr/>
          <p:nvPr/>
        </p:nvSpPr>
        <p:spPr>
          <a:xfrm>
            <a:off x="822960" y="3154680"/>
            <a:ext cx="3063240"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Cambria" pitchFamily="34" charset="0"/>
                <a:ea typeface="Cambria" pitchFamily="34" charset="-122"/>
                <a:cs typeface="Cambria" pitchFamily="34" charset="-120"/>
              </a:rPr>
              <a:t>Content-Based</a:t>
            </a:r>
            <a:endParaRPr lang="en-US" sz="1600" dirty="0"/>
          </a:p>
        </p:txBody>
      </p:sp>
      <p:sp>
        <p:nvSpPr>
          <p:cNvPr id="9" name="Text 5"/>
          <p:cNvSpPr/>
          <p:nvPr/>
        </p:nvSpPr>
        <p:spPr>
          <a:xfrm>
            <a:off x="914400" y="3703320"/>
            <a:ext cx="2880360" cy="1005840"/>
          </a:xfrm>
          <a:prstGeom prst="rect">
            <a:avLst/>
          </a:prstGeom>
          <a:noFill/>
          <a:ln/>
        </p:spPr>
        <p:txBody>
          <a:bodyPr wrap="square" lIns="0" tIns="0" rIns="0" bIns="0" rtlCol="0" anchor="ctr"/>
          <a:lstStyle/>
          <a:p>
            <a:pPr marL="0" indent="0" algn="ctr">
              <a:lnSpc>
                <a:spcPct val="130000"/>
              </a:lnSpc>
              <a:buNone/>
            </a:pPr>
            <a:r>
              <a:rPr lang="en-US" sz="1150" dirty="0">
                <a:solidFill>
                  <a:srgbClr val="64748B"/>
                </a:solidFill>
                <a:latin typeface="Calibri" pitchFamily="34" charset="0"/>
                <a:ea typeface="Calibri" pitchFamily="34" charset="-122"/>
                <a:cs typeface="Calibri" pitchFamily="34" charset="-120"/>
              </a:rPr>
              <a:t>Recommends items similar in attributes</a:t>
            </a:r>
            <a:endParaRPr lang="en-US" sz="1150" dirty="0"/>
          </a:p>
          <a:p>
            <a:pPr marL="0" indent="0" algn="ctr">
              <a:lnSpc>
                <a:spcPct val="130000"/>
              </a:lnSpc>
              <a:buNone/>
            </a:pPr>
            <a:r>
              <a:rPr lang="en-US" sz="1150" dirty="0">
                <a:solidFill>
                  <a:srgbClr val="64748B"/>
                </a:solidFill>
                <a:latin typeface="Calibri" pitchFamily="34" charset="0"/>
                <a:ea typeface="Calibri" pitchFamily="34" charset="-122"/>
                <a:cs typeface="Calibri" pitchFamily="34" charset="-120"/>
              </a:rPr>
              <a:t>to what the user already liked.</a:t>
            </a:r>
            <a:endParaRPr lang="en-US" sz="1150" dirty="0"/>
          </a:p>
        </p:txBody>
      </p:sp>
      <p:sp>
        <p:nvSpPr>
          <p:cNvPr id="10" name="Shape 6"/>
          <p:cNvSpPr/>
          <p:nvPr/>
        </p:nvSpPr>
        <p:spPr>
          <a:xfrm>
            <a:off x="1188720" y="4846320"/>
            <a:ext cx="2331720" cy="0"/>
          </a:xfrm>
          <a:prstGeom prst="line">
            <a:avLst/>
          </a:prstGeom>
          <a:noFill/>
          <a:ln w="12700">
            <a:solidFill>
              <a:srgbClr val="E2E8F0"/>
            </a:solidFill>
            <a:prstDash val="solid"/>
          </a:ln>
        </p:spPr>
        <p:txBody>
          <a:bodyPr/>
          <a:lstStyle/>
          <a:p>
            <a:endParaRPr lang="en-US"/>
          </a:p>
        </p:txBody>
      </p:sp>
      <p:sp>
        <p:nvSpPr>
          <p:cNvPr id="11" name="Text 7"/>
          <p:cNvSpPr/>
          <p:nvPr/>
        </p:nvSpPr>
        <p:spPr>
          <a:xfrm>
            <a:off x="822960" y="5029200"/>
            <a:ext cx="3063240" cy="548640"/>
          </a:xfrm>
          <a:prstGeom prst="rect">
            <a:avLst/>
          </a:prstGeom>
          <a:noFill/>
          <a:ln/>
        </p:spPr>
        <p:txBody>
          <a:bodyPr wrap="square" lIns="0" tIns="0" rIns="0" bIns="0" rtlCol="0" anchor="ctr"/>
          <a:lstStyle/>
          <a:p>
            <a:pPr marL="0" indent="0" algn="ctr">
              <a:buNone/>
            </a:pPr>
            <a:r>
              <a:rPr lang="en-US" sz="1100" b="1" i="1" dirty="0">
                <a:solidFill>
                  <a:srgbClr val="0891B2"/>
                </a:solidFill>
                <a:latin typeface="Calibri" pitchFamily="34" charset="0"/>
                <a:ea typeface="Calibri" pitchFamily="34" charset="-122"/>
                <a:cs typeface="Calibri" pitchFamily="34" charset="-120"/>
              </a:rPr>
              <a:t>Uses TF-IDF + Cosine Similarity</a:t>
            </a:r>
            <a:endParaRPr lang="en-US" sz="1100" dirty="0"/>
          </a:p>
        </p:txBody>
      </p:sp>
      <p:sp>
        <p:nvSpPr>
          <p:cNvPr id="12" name="Shape 8"/>
          <p:cNvSpPr/>
          <p:nvPr/>
        </p:nvSpPr>
        <p:spPr>
          <a:xfrm>
            <a:off x="4389120" y="1783080"/>
            <a:ext cx="3429000" cy="3931920"/>
          </a:xfrm>
          <a:prstGeom prst="roundRect">
            <a:avLst>
              <a:gd name="adj" fmla="val 32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3" name="Shape 9"/>
          <p:cNvSpPr/>
          <p:nvPr/>
        </p:nvSpPr>
        <p:spPr>
          <a:xfrm>
            <a:off x="5692140" y="2148840"/>
            <a:ext cx="822960" cy="822960"/>
          </a:xfrm>
          <a:prstGeom prst="ellipse">
            <a:avLst/>
          </a:prstGeom>
          <a:solidFill>
            <a:srgbClr val="E5F7FA"/>
          </a:solidFill>
          <a:ln/>
        </p:spPr>
        <p:txBody>
          <a:bodyPr/>
          <a:lstStyle/>
          <a:p>
            <a:endParaRPr lang="en-US"/>
          </a:p>
        </p:txBody>
      </p:sp>
      <p:pic>
        <p:nvPicPr>
          <p:cNvPr id="14" name="Image 2" descr="/home/claude/aurora/icons/collaborative_7C3AED.png"/>
          <p:cNvPicPr>
            <a:picLocks noChangeAspect="1"/>
          </p:cNvPicPr>
          <p:nvPr/>
        </p:nvPicPr>
        <p:blipFill>
          <a:blip r:embed="rId5"/>
          <a:stretch>
            <a:fillRect/>
          </a:stretch>
        </p:blipFill>
        <p:spPr>
          <a:xfrm>
            <a:off x="5897880" y="2354580"/>
            <a:ext cx="411480" cy="411480"/>
          </a:xfrm>
          <a:prstGeom prst="rect">
            <a:avLst/>
          </a:prstGeom>
        </p:spPr>
      </p:pic>
      <p:sp>
        <p:nvSpPr>
          <p:cNvPr id="15" name="Text 10"/>
          <p:cNvSpPr/>
          <p:nvPr/>
        </p:nvSpPr>
        <p:spPr>
          <a:xfrm>
            <a:off x="4572000" y="3154680"/>
            <a:ext cx="3063240"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Cambria" pitchFamily="34" charset="0"/>
                <a:ea typeface="Cambria" pitchFamily="34" charset="-122"/>
                <a:cs typeface="Cambria" pitchFamily="34" charset="-120"/>
              </a:rPr>
              <a:t>Collaborative</a:t>
            </a:r>
            <a:endParaRPr lang="en-US" sz="1600" dirty="0"/>
          </a:p>
        </p:txBody>
      </p:sp>
      <p:sp>
        <p:nvSpPr>
          <p:cNvPr id="16" name="Text 11"/>
          <p:cNvSpPr/>
          <p:nvPr/>
        </p:nvSpPr>
        <p:spPr>
          <a:xfrm>
            <a:off x="4663440" y="3703320"/>
            <a:ext cx="2880360" cy="1005840"/>
          </a:xfrm>
          <a:prstGeom prst="rect">
            <a:avLst/>
          </a:prstGeom>
          <a:noFill/>
          <a:ln/>
        </p:spPr>
        <p:txBody>
          <a:bodyPr wrap="square" lIns="0" tIns="0" rIns="0" bIns="0" rtlCol="0" anchor="ctr"/>
          <a:lstStyle/>
          <a:p>
            <a:pPr marL="0" indent="0" algn="ctr">
              <a:lnSpc>
                <a:spcPct val="130000"/>
              </a:lnSpc>
              <a:buNone/>
            </a:pPr>
            <a:r>
              <a:rPr lang="en-US" sz="1150" dirty="0">
                <a:solidFill>
                  <a:srgbClr val="64748B"/>
                </a:solidFill>
                <a:latin typeface="Calibri" pitchFamily="34" charset="0"/>
                <a:ea typeface="Calibri" pitchFamily="34" charset="-122"/>
                <a:cs typeface="Calibri" pitchFamily="34" charset="-120"/>
              </a:rPr>
              <a:t>Recommends items liked by users</a:t>
            </a:r>
            <a:endParaRPr lang="en-US" sz="1150" dirty="0"/>
          </a:p>
          <a:p>
            <a:pPr marL="0" indent="0" algn="ctr">
              <a:lnSpc>
                <a:spcPct val="130000"/>
              </a:lnSpc>
              <a:buNone/>
            </a:pPr>
            <a:r>
              <a:rPr lang="en-US" sz="1150" dirty="0">
                <a:solidFill>
                  <a:srgbClr val="64748B"/>
                </a:solidFill>
                <a:latin typeface="Calibri" pitchFamily="34" charset="0"/>
                <a:ea typeface="Calibri" pitchFamily="34" charset="-122"/>
                <a:cs typeface="Calibri" pitchFamily="34" charset="-120"/>
              </a:rPr>
              <a:t>with similar rating patterns.</a:t>
            </a:r>
            <a:endParaRPr lang="en-US" sz="1150" dirty="0"/>
          </a:p>
        </p:txBody>
      </p:sp>
      <p:sp>
        <p:nvSpPr>
          <p:cNvPr id="17" name="Shape 12"/>
          <p:cNvSpPr/>
          <p:nvPr/>
        </p:nvSpPr>
        <p:spPr>
          <a:xfrm>
            <a:off x="4937760" y="4846320"/>
            <a:ext cx="2331720" cy="0"/>
          </a:xfrm>
          <a:prstGeom prst="line">
            <a:avLst/>
          </a:prstGeom>
          <a:noFill/>
          <a:ln w="12700">
            <a:solidFill>
              <a:srgbClr val="E2E8F0"/>
            </a:solidFill>
            <a:prstDash val="solid"/>
          </a:ln>
        </p:spPr>
        <p:txBody>
          <a:bodyPr/>
          <a:lstStyle/>
          <a:p>
            <a:endParaRPr lang="en-US"/>
          </a:p>
        </p:txBody>
      </p:sp>
      <p:sp>
        <p:nvSpPr>
          <p:cNvPr id="18" name="Text 13"/>
          <p:cNvSpPr/>
          <p:nvPr/>
        </p:nvSpPr>
        <p:spPr>
          <a:xfrm>
            <a:off x="4572000" y="5029200"/>
            <a:ext cx="3063240" cy="548640"/>
          </a:xfrm>
          <a:prstGeom prst="rect">
            <a:avLst/>
          </a:prstGeom>
          <a:noFill/>
          <a:ln/>
        </p:spPr>
        <p:txBody>
          <a:bodyPr wrap="square" lIns="0" tIns="0" rIns="0" bIns="0" rtlCol="0" anchor="ctr"/>
          <a:lstStyle/>
          <a:p>
            <a:pPr marL="0" indent="0" algn="ctr">
              <a:buNone/>
            </a:pPr>
            <a:r>
              <a:rPr lang="en-US" sz="1100" b="1" i="1" dirty="0">
                <a:solidFill>
                  <a:srgbClr val="7C3AED"/>
                </a:solidFill>
                <a:latin typeface="Calibri" pitchFamily="34" charset="0"/>
                <a:ea typeface="Calibri" pitchFamily="34" charset="-122"/>
                <a:cs typeface="Calibri" pitchFamily="34" charset="-120"/>
              </a:rPr>
              <a:t>Uses SVD (Matrix Factorization)</a:t>
            </a:r>
            <a:endParaRPr lang="en-US" sz="1100" dirty="0"/>
          </a:p>
        </p:txBody>
      </p:sp>
      <p:sp>
        <p:nvSpPr>
          <p:cNvPr id="19" name="Shape 14"/>
          <p:cNvSpPr/>
          <p:nvPr/>
        </p:nvSpPr>
        <p:spPr>
          <a:xfrm>
            <a:off x="8138160" y="1783080"/>
            <a:ext cx="3429000" cy="3931920"/>
          </a:xfrm>
          <a:prstGeom prst="roundRect">
            <a:avLst>
              <a:gd name="adj" fmla="val 3200"/>
            </a:avLst>
          </a:prstGeom>
          <a:solidFill>
            <a:srgbClr val="1E3FD6"/>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0" name="Shape 15"/>
          <p:cNvSpPr/>
          <p:nvPr/>
        </p:nvSpPr>
        <p:spPr>
          <a:xfrm>
            <a:off x="9441180" y="2148840"/>
            <a:ext cx="822960" cy="822960"/>
          </a:xfrm>
          <a:prstGeom prst="ellipse">
            <a:avLst/>
          </a:prstGeom>
          <a:solidFill>
            <a:srgbClr val="FFFFFF"/>
          </a:solidFill>
          <a:ln/>
        </p:spPr>
        <p:txBody>
          <a:bodyPr/>
          <a:lstStyle/>
          <a:p>
            <a:endParaRPr lang="en-US"/>
          </a:p>
        </p:txBody>
      </p:sp>
      <p:pic>
        <p:nvPicPr>
          <p:cNvPr id="21" name="Image 3" descr="/home/claude/aurora/icons/hybridModel_1E3FD6.png"/>
          <p:cNvPicPr>
            <a:picLocks noChangeAspect="1"/>
          </p:cNvPicPr>
          <p:nvPr/>
        </p:nvPicPr>
        <p:blipFill>
          <a:blip r:embed="rId6"/>
          <a:stretch>
            <a:fillRect/>
          </a:stretch>
        </p:blipFill>
        <p:spPr>
          <a:xfrm>
            <a:off x="9646920" y="2354580"/>
            <a:ext cx="411480" cy="411480"/>
          </a:xfrm>
          <a:prstGeom prst="rect">
            <a:avLst/>
          </a:prstGeom>
        </p:spPr>
      </p:pic>
      <p:sp>
        <p:nvSpPr>
          <p:cNvPr id="22" name="Text 16"/>
          <p:cNvSpPr/>
          <p:nvPr/>
        </p:nvSpPr>
        <p:spPr>
          <a:xfrm>
            <a:off x="8321040" y="3154680"/>
            <a:ext cx="30632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Hybrid (Aurora AI)</a:t>
            </a:r>
            <a:endParaRPr lang="en-US" sz="1600" dirty="0"/>
          </a:p>
        </p:txBody>
      </p:sp>
      <p:sp>
        <p:nvSpPr>
          <p:cNvPr id="23" name="Text 17"/>
          <p:cNvSpPr/>
          <p:nvPr/>
        </p:nvSpPr>
        <p:spPr>
          <a:xfrm>
            <a:off x="8412480" y="3703320"/>
            <a:ext cx="2880360" cy="1005840"/>
          </a:xfrm>
          <a:prstGeom prst="rect">
            <a:avLst/>
          </a:prstGeom>
          <a:noFill/>
          <a:ln/>
        </p:spPr>
        <p:txBody>
          <a:bodyPr wrap="square" lIns="0" tIns="0" rIns="0" bIns="0" rtlCol="0" anchor="ctr"/>
          <a:lstStyle/>
          <a:p>
            <a:pPr marL="0" indent="0" algn="ctr">
              <a:lnSpc>
                <a:spcPct val="130000"/>
              </a:lnSpc>
              <a:buNone/>
            </a:pPr>
            <a:r>
              <a:rPr lang="en-US" sz="1150" dirty="0">
                <a:solidFill>
                  <a:srgbClr val="E5F7FA"/>
                </a:solidFill>
                <a:latin typeface="Calibri" pitchFamily="34" charset="0"/>
                <a:ea typeface="Calibri" pitchFamily="34" charset="-122"/>
                <a:cs typeface="Calibri" pitchFamily="34" charset="-120"/>
              </a:rPr>
              <a:t>Combines both approaches for</a:t>
            </a:r>
            <a:endParaRPr lang="en-US" sz="1150" dirty="0"/>
          </a:p>
          <a:p>
            <a:pPr marL="0" indent="0" algn="ctr">
              <a:lnSpc>
                <a:spcPct val="130000"/>
              </a:lnSpc>
              <a:buNone/>
            </a:pPr>
            <a:r>
              <a:rPr lang="en-US" sz="1150" dirty="0">
                <a:solidFill>
                  <a:srgbClr val="E5F7FA"/>
                </a:solidFill>
                <a:latin typeface="Calibri" pitchFamily="34" charset="0"/>
                <a:ea typeface="Calibri" pitchFamily="34" charset="-122"/>
                <a:cs typeface="Calibri" pitchFamily="34" charset="-120"/>
              </a:rPr>
              <a:t>accurate, well-rounded suggestions.</a:t>
            </a:r>
            <a:endParaRPr lang="en-US" sz="1150" dirty="0"/>
          </a:p>
        </p:txBody>
      </p:sp>
      <p:sp>
        <p:nvSpPr>
          <p:cNvPr id="24" name="Shape 18"/>
          <p:cNvSpPr/>
          <p:nvPr/>
        </p:nvSpPr>
        <p:spPr>
          <a:xfrm>
            <a:off x="8686800" y="4846320"/>
            <a:ext cx="2331720" cy="0"/>
          </a:xfrm>
          <a:prstGeom prst="line">
            <a:avLst/>
          </a:prstGeom>
          <a:noFill/>
          <a:ln w="12700">
            <a:solidFill>
              <a:srgbClr val="4A5FE8"/>
            </a:solidFill>
            <a:prstDash val="solid"/>
          </a:ln>
        </p:spPr>
        <p:txBody>
          <a:bodyPr/>
          <a:lstStyle/>
          <a:p>
            <a:endParaRPr lang="en-US"/>
          </a:p>
        </p:txBody>
      </p:sp>
      <p:sp>
        <p:nvSpPr>
          <p:cNvPr id="25" name="Text 19"/>
          <p:cNvSpPr/>
          <p:nvPr/>
        </p:nvSpPr>
        <p:spPr>
          <a:xfrm>
            <a:off x="8321040" y="5029200"/>
            <a:ext cx="3063240" cy="548640"/>
          </a:xfrm>
          <a:prstGeom prst="rect">
            <a:avLst/>
          </a:prstGeom>
          <a:noFill/>
          <a:ln/>
        </p:spPr>
        <p:txBody>
          <a:bodyPr wrap="square" lIns="0" tIns="0" rIns="0" bIns="0" rtlCol="0" anchor="ctr"/>
          <a:lstStyle/>
          <a:p>
            <a:pPr marL="0" indent="0" algn="ctr">
              <a:buNone/>
            </a:pPr>
            <a:r>
              <a:rPr lang="en-US" sz="1100" b="1" i="1" dirty="0">
                <a:solidFill>
                  <a:srgbClr val="FFFFFF"/>
                </a:solidFill>
                <a:latin typeface="Calibri" pitchFamily="34" charset="0"/>
                <a:ea typeface="Calibri" pitchFamily="34" charset="-122"/>
                <a:cs typeface="Calibri" pitchFamily="34" charset="-120"/>
              </a:rPr>
              <a:t>Best of both worlds</a:t>
            </a:r>
            <a:endParaRPr lang="en-US" sz="1100" dirty="0"/>
          </a:p>
        </p:txBody>
      </p:sp>
      <p:sp>
        <p:nvSpPr>
          <p:cNvPr id="26" name="Text 20"/>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MODEL DEEP DIVE</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Content-Based Filtering</a:t>
            </a:r>
            <a:endParaRPr lang="en-US" sz="3400" dirty="0"/>
          </a:p>
        </p:txBody>
      </p:sp>
      <p:sp>
        <p:nvSpPr>
          <p:cNvPr id="5" name="Shape 2"/>
          <p:cNvSpPr/>
          <p:nvPr/>
        </p:nvSpPr>
        <p:spPr>
          <a:xfrm>
            <a:off x="640080" y="1783080"/>
            <a:ext cx="4937760" cy="4023360"/>
          </a:xfrm>
          <a:prstGeom prst="roundRect">
            <a:avLst>
              <a:gd name="adj" fmla="val 2727"/>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Text 3"/>
          <p:cNvSpPr/>
          <p:nvPr/>
        </p:nvSpPr>
        <p:spPr>
          <a:xfrm>
            <a:off x="914400" y="2011680"/>
            <a:ext cx="4389120" cy="365760"/>
          </a:xfrm>
          <a:prstGeom prst="rect">
            <a:avLst/>
          </a:prstGeom>
          <a:noFill/>
          <a:ln/>
        </p:spPr>
        <p:txBody>
          <a:bodyPr wrap="square" lIns="0" tIns="0" rIns="0" bIns="0" rtlCol="0" anchor="ctr"/>
          <a:lstStyle/>
          <a:p>
            <a:pPr marL="0" indent="0">
              <a:buNone/>
            </a:pPr>
            <a:r>
              <a:rPr lang="en-US" sz="1500" b="1" dirty="0">
                <a:solidFill>
                  <a:srgbClr val="15229E"/>
                </a:solidFill>
                <a:latin typeface="Cambria" pitchFamily="34" charset="0"/>
                <a:ea typeface="Cambria" pitchFamily="34" charset="-122"/>
                <a:cs typeface="Cambria" pitchFamily="34" charset="-120"/>
              </a:rPr>
              <a:t>How it works</a:t>
            </a:r>
            <a:endParaRPr lang="en-US" sz="1500" dirty="0"/>
          </a:p>
        </p:txBody>
      </p:sp>
      <p:sp>
        <p:nvSpPr>
          <p:cNvPr id="7" name="Shape 4"/>
          <p:cNvSpPr/>
          <p:nvPr/>
        </p:nvSpPr>
        <p:spPr>
          <a:xfrm>
            <a:off x="914400" y="2606040"/>
            <a:ext cx="548640" cy="548640"/>
          </a:xfrm>
          <a:prstGeom prst="ellipse">
            <a:avLst/>
          </a:prstGeom>
          <a:solidFill>
            <a:srgbClr val="E5F7FA"/>
          </a:solidFill>
          <a:ln/>
        </p:spPr>
        <p:txBody>
          <a:bodyPr/>
          <a:lstStyle/>
          <a:p>
            <a:endParaRPr lang="en-US"/>
          </a:p>
        </p:txBody>
      </p:sp>
      <p:pic>
        <p:nvPicPr>
          <p:cNvPr id="8" name="Image 1" descr="/home/claude/aurora/icons/tfidf_1E3FD6.png"/>
          <p:cNvPicPr>
            <a:picLocks noChangeAspect="1"/>
          </p:cNvPicPr>
          <p:nvPr/>
        </p:nvPicPr>
        <p:blipFill>
          <a:blip r:embed="rId4"/>
          <a:stretch>
            <a:fillRect/>
          </a:stretch>
        </p:blipFill>
        <p:spPr>
          <a:xfrm>
            <a:off x="1037844" y="2729484"/>
            <a:ext cx="301752" cy="301752"/>
          </a:xfrm>
          <a:prstGeom prst="rect">
            <a:avLst/>
          </a:prstGeom>
        </p:spPr>
      </p:pic>
      <p:sp>
        <p:nvSpPr>
          <p:cNvPr id="9" name="Text 5"/>
          <p:cNvSpPr/>
          <p:nvPr/>
        </p:nvSpPr>
        <p:spPr>
          <a:xfrm>
            <a:off x="1600200" y="2587752"/>
            <a:ext cx="36576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TF-IDF</a:t>
            </a:r>
            <a:endParaRPr lang="en-US" sz="1300" dirty="0"/>
          </a:p>
        </p:txBody>
      </p:sp>
      <p:sp>
        <p:nvSpPr>
          <p:cNvPr id="10" name="Text 6"/>
          <p:cNvSpPr/>
          <p:nvPr/>
        </p:nvSpPr>
        <p:spPr>
          <a:xfrm>
            <a:off x="1600200" y="2898648"/>
            <a:ext cx="3794760" cy="548640"/>
          </a:xfrm>
          <a:prstGeom prst="rect">
            <a:avLst/>
          </a:prstGeom>
          <a:noFill/>
          <a:ln/>
        </p:spPr>
        <p:txBody>
          <a:bodyPr wrap="square" lIns="0" tIns="0" rIns="0" bIns="0" rtlCol="0" anchor="ctr"/>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Converts product descriptions into weighted keyword vectors.</a:t>
            </a:r>
            <a:endParaRPr lang="en-US" sz="1100" dirty="0"/>
          </a:p>
        </p:txBody>
      </p:sp>
      <p:sp>
        <p:nvSpPr>
          <p:cNvPr id="11" name="Shape 7"/>
          <p:cNvSpPr/>
          <p:nvPr/>
        </p:nvSpPr>
        <p:spPr>
          <a:xfrm>
            <a:off x="914400" y="3657600"/>
            <a:ext cx="548640" cy="548640"/>
          </a:xfrm>
          <a:prstGeom prst="ellipse">
            <a:avLst/>
          </a:prstGeom>
          <a:solidFill>
            <a:srgbClr val="E5F7FA"/>
          </a:solidFill>
          <a:ln/>
        </p:spPr>
        <p:txBody>
          <a:bodyPr/>
          <a:lstStyle/>
          <a:p>
            <a:endParaRPr lang="en-US"/>
          </a:p>
        </p:txBody>
      </p:sp>
      <p:pic>
        <p:nvPicPr>
          <p:cNvPr id="12" name="Image 2" descr="/home/claude/aurora/icons/recommend_1E3FD6.png"/>
          <p:cNvPicPr>
            <a:picLocks noChangeAspect="1"/>
          </p:cNvPicPr>
          <p:nvPr/>
        </p:nvPicPr>
        <p:blipFill>
          <a:blip r:embed="rId5"/>
          <a:stretch>
            <a:fillRect/>
          </a:stretch>
        </p:blipFill>
        <p:spPr>
          <a:xfrm>
            <a:off x="1037844" y="3781044"/>
            <a:ext cx="301752" cy="301752"/>
          </a:xfrm>
          <a:prstGeom prst="rect">
            <a:avLst/>
          </a:prstGeom>
        </p:spPr>
      </p:pic>
      <p:sp>
        <p:nvSpPr>
          <p:cNvPr id="13" name="Text 8"/>
          <p:cNvSpPr/>
          <p:nvPr/>
        </p:nvSpPr>
        <p:spPr>
          <a:xfrm>
            <a:off x="1600200" y="3639312"/>
            <a:ext cx="36576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Cosine Similarity</a:t>
            </a:r>
            <a:endParaRPr lang="en-US" sz="1300" dirty="0"/>
          </a:p>
        </p:txBody>
      </p:sp>
      <p:sp>
        <p:nvSpPr>
          <p:cNvPr id="14" name="Text 9"/>
          <p:cNvSpPr/>
          <p:nvPr/>
        </p:nvSpPr>
        <p:spPr>
          <a:xfrm>
            <a:off x="1600200" y="3950208"/>
            <a:ext cx="3794760" cy="548640"/>
          </a:xfrm>
          <a:prstGeom prst="rect">
            <a:avLst/>
          </a:prstGeom>
          <a:noFill/>
          <a:ln/>
        </p:spPr>
        <p:txBody>
          <a:bodyPr wrap="square" lIns="0" tIns="0" rIns="0" bIns="0" rtlCol="0" anchor="ctr"/>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Measures closeness between product vectors to rank matches.</a:t>
            </a:r>
            <a:endParaRPr lang="en-US" sz="1100" dirty="0"/>
          </a:p>
        </p:txBody>
      </p:sp>
      <p:sp>
        <p:nvSpPr>
          <p:cNvPr id="15" name="Shape 10"/>
          <p:cNvSpPr/>
          <p:nvPr/>
        </p:nvSpPr>
        <p:spPr>
          <a:xfrm>
            <a:off x="914400" y="4709160"/>
            <a:ext cx="4389120" cy="0"/>
          </a:xfrm>
          <a:prstGeom prst="line">
            <a:avLst/>
          </a:prstGeom>
          <a:noFill/>
          <a:ln w="12700">
            <a:solidFill>
              <a:srgbClr val="E2E8F0"/>
            </a:solidFill>
            <a:prstDash val="solid"/>
          </a:ln>
        </p:spPr>
        <p:txBody>
          <a:bodyPr/>
          <a:lstStyle/>
          <a:p>
            <a:endParaRPr lang="en-US"/>
          </a:p>
        </p:txBody>
      </p:sp>
      <p:sp>
        <p:nvSpPr>
          <p:cNvPr id="16" name="Text 11"/>
          <p:cNvSpPr/>
          <p:nvPr/>
        </p:nvSpPr>
        <p:spPr>
          <a:xfrm>
            <a:off x="914400" y="4892040"/>
            <a:ext cx="4389120" cy="822960"/>
          </a:xfrm>
          <a:prstGeom prst="rect">
            <a:avLst/>
          </a:prstGeom>
          <a:noFill/>
          <a:ln/>
        </p:spPr>
        <p:txBody>
          <a:bodyPr wrap="square" lIns="0" tIns="0" rIns="0" bIns="0" rtlCol="0" anchor="ctr"/>
          <a:lstStyle/>
          <a:p>
            <a:pPr marL="0" indent="0">
              <a:lnSpc>
                <a:spcPct val="125000"/>
              </a:lnSpc>
              <a:buNone/>
            </a:pPr>
            <a:r>
              <a:rPr lang="en-US" sz="1150" i="1" dirty="0">
                <a:solidFill>
                  <a:srgbClr val="7C3AED"/>
                </a:solidFill>
                <a:latin typeface="Calibri" pitchFamily="34" charset="0"/>
                <a:ea typeface="Calibri" pitchFamily="34" charset="-122"/>
                <a:cs typeface="Calibri" pitchFamily="34" charset="-120"/>
              </a:rPr>
              <a:t>In short: it recommends items that share qualities with what you already viewed or liked.</a:t>
            </a:r>
            <a:endParaRPr lang="en-US" sz="1150" dirty="0"/>
          </a:p>
        </p:txBody>
      </p:sp>
      <p:sp>
        <p:nvSpPr>
          <p:cNvPr id="17" name="Shape 12"/>
          <p:cNvSpPr/>
          <p:nvPr/>
        </p:nvSpPr>
        <p:spPr>
          <a:xfrm>
            <a:off x="5943600" y="1783080"/>
            <a:ext cx="5577840" cy="4023360"/>
          </a:xfrm>
          <a:prstGeom prst="roundRect">
            <a:avLst>
              <a:gd name="adj" fmla="val 2727"/>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8" name="Text 13"/>
          <p:cNvSpPr/>
          <p:nvPr/>
        </p:nvSpPr>
        <p:spPr>
          <a:xfrm>
            <a:off x="6217920" y="2011680"/>
            <a:ext cx="4572000" cy="365760"/>
          </a:xfrm>
          <a:prstGeom prst="rect">
            <a:avLst/>
          </a:prstGeom>
          <a:noFill/>
          <a:ln/>
        </p:spPr>
        <p:txBody>
          <a:bodyPr wrap="square" lIns="0" tIns="0" rIns="0" bIns="0" rtlCol="0" anchor="ctr"/>
          <a:lstStyle/>
          <a:p>
            <a:pPr marL="0" indent="0">
              <a:buNone/>
            </a:pPr>
            <a:r>
              <a:rPr lang="en-US" sz="1500" b="1" dirty="0">
                <a:solidFill>
                  <a:srgbClr val="15229E"/>
                </a:solidFill>
                <a:latin typeface="Cambria" pitchFamily="34" charset="0"/>
                <a:ea typeface="Cambria" pitchFamily="34" charset="-122"/>
                <a:cs typeface="Cambria" pitchFamily="34" charset="-120"/>
              </a:rPr>
              <a:t>Example</a:t>
            </a:r>
            <a:endParaRPr lang="en-US" sz="1500" dirty="0"/>
          </a:p>
        </p:txBody>
      </p:sp>
      <p:sp>
        <p:nvSpPr>
          <p:cNvPr id="19" name="Shape 14"/>
          <p:cNvSpPr/>
          <p:nvPr/>
        </p:nvSpPr>
        <p:spPr>
          <a:xfrm>
            <a:off x="6675120" y="2697480"/>
            <a:ext cx="4297680" cy="822960"/>
          </a:xfrm>
          <a:prstGeom prst="roundRect">
            <a:avLst>
              <a:gd name="adj" fmla="val 13333"/>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0" name="Shape 15"/>
          <p:cNvSpPr/>
          <p:nvPr/>
        </p:nvSpPr>
        <p:spPr>
          <a:xfrm>
            <a:off x="6858000" y="2834640"/>
            <a:ext cx="548640" cy="548640"/>
          </a:xfrm>
          <a:prstGeom prst="ellipse">
            <a:avLst/>
          </a:prstGeom>
          <a:solidFill>
            <a:srgbClr val="E5F7FA"/>
          </a:solidFill>
          <a:ln/>
        </p:spPr>
        <p:txBody>
          <a:bodyPr/>
          <a:lstStyle/>
          <a:p>
            <a:endParaRPr lang="en-US"/>
          </a:p>
        </p:txBody>
      </p:sp>
      <p:pic>
        <p:nvPicPr>
          <p:cNvPr id="21" name="Image 3" descr="/home/claude/aurora/icons/phone_1E3FD6.png"/>
          <p:cNvPicPr>
            <a:picLocks noChangeAspect="1"/>
          </p:cNvPicPr>
          <p:nvPr/>
        </p:nvPicPr>
        <p:blipFill>
          <a:blip r:embed="rId6"/>
          <a:stretch>
            <a:fillRect/>
          </a:stretch>
        </p:blipFill>
        <p:spPr>
          <a:xfrm>
            <a:off x="6981444" y="2958084"/>
            <a:ext cx="301752" cy="301752"/>
          </a:xfrm>
          <a:prstGeom prst="rect">
            <a:avLst/>
          </a:prstGeom>
        </p:spPr>
      </p:pic>
      <p:sp>
        <p:nvSpPr>
          <p:cNvPr id="22" name="Text 16"/>
          <p:cNvSpPr/>
          <p:nvPr/>
        </p:nvSpPr>
        <p:spPr>
          <a:xfrm>
            <a:off x="7543800" y="2697480"/>
            <a:ext cx="3291840" cy="82296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User selects an iPhone</a:t>
            </a:r>
            <a:endParaRPr lang="en-US" sz="1300" dirty="0"/>
          </a:p>
        </p:txBody>
      </p:sp>
      <p:pic>
        <p:nvPicPr>
          <p:cNvPr id="23" name="Image 4" descr="/home/claude/aurora/icons/arrowDown_64748B.png"/>
          <p:cNvPicPr>
            <a:picLocks noChangeAspect="1"/>
          </p:cNvPicPr>
          <p:nvPr/>
        </p:nvPicPr>
        <p:blipFill>
          <a:blip r:embed="rId7"/>
          <a:stretch>
            <a:fillRect/>
          </a:stretch>
        </p:blipFill>
        <p:spPr>
          <a:xfrm>
            <a:off x="8686800" y="3657600"/>
            <a:ext cx="292608" cy="292608"/>
          </a:xfrm>
          <a:prstGeom prst="rect">
            <a:avLst/>
          </a:prstGeom>
        </p:spPr>
      </p:pic>
      <p:sp>
        <p:nvSpPr>
          <p:cNvPr id="24" name="Shape 17"/>
          <p:cNvSpPr/>
          <p:nvPr/>
        </p:nvSpPr>
        <p:spPr>
          <a:xfrm>
            <a:off x="6675120" y="4114800"/>
            <a:ext cx="4297680" cy="1508760"/>
          </a:xfrm>
          <a:prstGeom prst="roundRect">
            <a:avLst>
              <a:gd name="adj" fmla="val 7273"/>
            </a:avLst>
          </a:prstGeom>
          <a:solidFill>
            <a:srgbClr val="1E3FD6"/>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5" name="Text 18"/>
          <p:cNvSpPr/>
          <p:nvPr/>
        </p:nvSpPr>
        <p:spPr>
          <a:xfrm>
            <a:off x="6903720" y="4251960"/>
            <a:ext cx="384048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Recommend Similar Phones</a:t>
            </a:r>
            <a:endParaRPr lang="en-US" sz="1250" dirty="0"/>
          </a:p>
        </p:txBody>
      </p:sp>
      <p:sp>
        <p:nvSpPr>
          <p:cNvPr id="26" name="Shape 19"/>
          <p:cNvSpPr/>
          <p:nvPr/>
        </p:nvSpPr>
        <p:spPr>
          <a:xfrm>
            <a:off x="6949440" y="4709160"/>
            <a:ext cx="685800" cy="685800"/>
          </a:xfrm>
          <a:prstGeom prst="ellipse">
            <a:avLst/>
          </a:prstGeom>
          <a:solidFill>
            <a:srgbClr val="FFFFFF"/>
          </a:solidFill>
          <a:ln/>
        </p:spPr>
        <p:txBody>
          <a:bodyPr/>
          <a:lstStyle/>
          <a:p>
            <a:endParaRPr lang="en-US"/>
          </a:p>
        </p:txBody>
      </p:sp>
      <p:pic>
        <p:nvPicPr>
          <p:cNvPr id="27" name="Image 5" descr="/home/claude/aurora/icons/phone_1E3FD6.png"/>
          <p:cNvPicPr>
            <a:picLocks noChangeAspect="1"/>
          </p:cNvPicPr>
          <p:nvPr/>
        </p:nvPicPr>
        <p:blipFill>
          <a:blip r:embed="rId6"/>
          <a:stretch>
            <a:fillRect/>
          </a:stretch>
        </p:blipFill>
        <p:spPr>
          <a:xfrm>
            <a:off x="7120890" y="4880610"/>
            <a:ext cx="342900" cy="342900"/>
          </a:xfrm>
          <a:prstGeom prst="rect">
            <a:avLst/>
          </a:prstGeom>
        </p:spPr>
      </p:pic>
      <p:sp>
        <p:nvSpPr>
          <p:cNvPr id="28" name="Shape 20"/>
          <p:cNvSpPr/>
          <p:nvPr/>
        </p:nvSpPr>
        <p:spPr>
          <a:xfrm>
            <a:off x="8229600" y="4709160"/>
            <a:ext cx="685800" cy="685800"/>
          </a:xfrm>
          <a:prstGeom prst="ellipse">
            <a:avLst/>
          </a:prstGeom>
          <a:solidFill>
            <a:srgbClr val="FFFFFF"/>
          </a:solidFill>
          <a:ln/>
        </p:spPr>
        <p:txBody>
          <a:bodyPr/>
          <a:lstStyle/>
          <a:p>
            <a:endParaRPr lang="en-US"/>
          </a:p>
        </p:txBody>
      </p:sp>
      <p:pic>
        <p:nvPicPr>
          <p:cNvPr id="29" name="Image 6" descr="/home/claude/aurora/icons/phone_1E3FD6.png"/>
          <p:cNvPicPr>
            <a:picLocks noChangeAspect="1"/>
          </p:cNvPicPr>
          <p:nvPr/>
        </p:nvPicPr>
        <p:blipFill>
          <a:blip r:embed="rId6"/>
          <a:stretch>
            <a:fillRect/>
          </a:stretch>
        </p:blipFill>
        <p:spPr>
          <a:xfrm>
            <a:off x="8401050" y="4880610"/>
            <a:ext cx="342900" cy="342900"/>
          </a:xfrm>
          <a:prstGeom prst="rect">
            <a:avLst/>
          </a:prstGeom>
        </p:spPr>
      </p:pic>
      <p:sp>
        <p:nvSpPr>
          <p:cNvPr id="30" name="Shape 21"/>
          <p:cNvSpPr/>
          <p:nvPr/>
        </p:nvSpPr>
        <p:spPr>
          <a:xfrm>
            <a:off x="9509760" y="4709160"/>
            <a:ext cx="685800" cy="685800"/>
          </a:xfrm>
          <a:prstGeom prst="ellipse">
            <a:avLst/>
          </a:prstGeom>
          <a:solidFill>
            <a:srgbClr val="FFFFFF"/>
          </a:solidFill>
          <a:ln/>
        </p:spPr>
        <p:txBody>
          <a:bodyPr/>
          <a:lstStyle/>
          <a:p>
            <a:endParaRPr lang="en-US"/>
          </a:p>
        </p:txBody>
      </p:sp>
      <p:pic>
        <p:nvPicPr>
          <p:cNvPr id="31" name="Image 7" descr="/home/claude/aurora/icons/phone_1E3FD6.png"/>
          <p:cNvPicPr>
            <a:picLocks noChangeAspect="1"/>
          </p:cNvPicPr>
          <p:nvPr/>
        </p:nvPicPr>
        <p:blipFill>
          <a:blip r:embed="rId6"/>
          <a:stretch>
            <a:fillRect/>
          </a:stretch>
        </p:blipFill>
        <p:spPr>
          <a:xfrm>
            <a:off x="9681210" y="4880610"/>
            <a:ext cx="342900" cy="342900"/>
          </a:xfrm>
          <a:prstGeom prst="rect">
            <a:avLst/>
          </a:prstGeom>
        </p:spPr>
      </p:pic>
      <p:sp>
        <p:nvSpPr>
          <p:cNvPr id="32" name="Text 2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MODEL DEEP DIVE</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Collaborative Filtering</a:t>
            </a:r>
            <a:endParaRPr lang="en-US" sz="3400" dirty="0"/>
          </a:p>
        </p:txBody>
      </p:sp>
      <p:sp>
        <p:nvSpPr>
          <p:cNvPr id="5" name="Shape 2"/>
          <p:cNvSpPr/>
          <p:nvPr/>
        </p:nvSpPr>
        <p:spPr>
          <a:xfrm>
            <a:off x="640080" y="1783080"/>
            <a:ext cx="4937760" cy="4023360"/>
          </a:xfrm>
          <a:prstGeom prst="roundRect">
            <a:avLst>
              <a:gd name="adj" fmla="val 2727"/>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Text 3"/>
          <p:cNvSpPr/>
          <p:nvPr/>
        </p:nvSpPr>
        <p:spPr>
          <a:xfrm>
            <a:off x="914400" y="2011680"/>
            <a:ext cx="4389120" cy="365760"/>
          </a:xfrm>
          <a:prstGeom prst="rect">
            <a:avLst/>
          </a:prstGeom>
          <a:noFill/>
          <a:ln/>
        </p:spPr>
        <p:txBody>
          <a:bodyPr wrap="square" lIns="0" tIns="0" rIns="0" bIns="0" rtlCol="0" anchor="ctr"/>
          <a:lstStyle/>
          <a:p>
            <a:pPr marL="0" indent="0">
              <a:buNone/>
            </a:pPr>
            <a:r>
              <a:rPr lang="en-US" sz="1500" b="1" dirty="0">
                <a:solidFill>
                  <a:srgbClr val="15229E"/>
                </a:solidFill>
                <a:latin typeface="Cambria" pitchFamily="34" charset="0"/>
                <a:ea typeface="Cambria" pitchFamily="34" charset="-122"/>
                <a:cs typeface="Cambria" pitchFamily="34" charset="-120"/>
              </a:rPr>
              <a:t>How it works</a:t>
            </a:r>
            <a:endParaRPr lang="en-US" sz="1500" dirty="0"/>
          </a:p>
        </p:txBody>
      </p:sp>
      <p:sp>
        <p:nvSpPr>
          <p:cNvPr id="7" name="Shape 4"/>
          <p:cNvSpPr/>
          <p:nvPr/>
        </p:nvSpPr>
        <p:spPr>
          <a:xfrm>
            <a:off x="914400" y="2606040"/>
            <a:ext cx="548640" cy="548640"/>
          </a:xfrm>
          <a:prstGeom prst="ellipse">
            <a:avLst/>
          </a:prstGeom>
          <a:solidFill>
            <a:srgbClr val="E5F7FA"/>
          </a:solidFill>
          <a:ln/>
        </p:spPr>
        <p:txBody>
          <a:bodyPr/>
          <a:lstStyle/>
          <a:p>
            <a:endParaRPr lang="en-US"/>
          </a:p>
        </p:txBody>
      </p:sp>
      <p:pic>
        <p:nvPicPr>
          <p:cNvPr id="8" name="Image 1" descr="/home/claude/aurora/icons/svd_7C3AED.png"/>
          <p:cNvPicPr>
            <a:picLocks noChangeAspect="1"/>
          </p:cNvPicPr>
          <p:nvPr/>
        </p:nvPicPr>
        <p:blipFill>
          <a:blip r:embed="rId4"/>
          <a:stretch>
            <a:fillRect/>
          </a:stretch>
        </p:blipFill>
        <p:spPr>
          <a:xfrm>
            <a:off x="1037844" y="2729484"/>
            <a:ext cx="301752" cy="301752"/>
          </a:xfrm>
          <a:prstGeom prst="rect">
            <a:avLst/>
          </a:prstGeom>
        </p:spPr>
      </p:pic>
      <p:sp>
        <p:nvSpPr>
          <p:cNvPr id="9" name="Text 5"/>
          <p:cNvSpPr/>
          <p:nvPr/>
        </p:nvSpPr>
        <p:spPr>
          <a:xfrm>
            <a:off x="1600200" y="2587752"/>
            <a:ext cx="370332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SVD (Matrix Factorization)</a:t>
            </a:r>
            <a:endParaRPr lang="en-US" sz="1300" dirty="0"/>
          </a:p>
        </p:txBody>
      </p:sp>
      <p:sp>
        <p:nvSpPr>
          <p:cNvPr id="10" name="Text 6"/>
          <p:cNvSpPr/>
          <p:nvPr/>
        </p:nvSpPr>
        <p:spPr>
          <a:xfrm>
            <a:off x="1600200" y="2898648"/>
            <a:ext cx="3794760" cy="594360"/>
          </a:xfrm>
          <a:prstGeom prst="rect">
            <a:avLst/>
          </a:prstGeom>
          <a:noFill/>
          <a:ln/>
        </p:spPr>
        <p:txBody>
          <a:bodyPr wrap="square" lIns="0" tIns="0" rIns="0" bIns="0" rtlCol="0" anchor="ctr"/>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Decomposes the user-item rating matrix to uncover hidden taste patterns.</a:t>
            </a:r>
            <a:endParaRPr lang="en-US" sz="1100" dirty="0"/>
          </a:p>
        </p:txBody>
      </p:sp>
      <p:sp>
        <p:nvSpPr>
          <p:cNvPr id="11" name="Shape 7"/>
          <p:cNvSpPr/>
          <p:nvPr/>
        </p:nvSpPr>
        <p:spPr>
          <a:xfrm>
            <a:off x="914400" y="3657600"/>
            <a:ext cx="548640" cy="548640"/>
          </a:xfrm>
          <a:prstGeom prst="ellipse">
            <a:avLst/>
          </a:prstGeom>
          <a:solidFill>
            <a:srgbClr val="E5F7FA"/>
          </a:solidFill>
          <a:ln/>
        </p:spPr>
        <p:txBody>
          <a:bodyPr/>
          <a:lstStyle/>
          <a:p>
            <a:endParaRPr lang="en-US"/>
          </a:p>
        </p:txBody>
      </p:sp>
      <p:pic>
        <p:nvPicPr>
          <p:cNvPr id="12" name="Image 2" descr="/home/claude/aurora/icons/ratings_7C3AED.png"/>
          <p:cNvPicPr>
            <a:picLocks noChangeAspect="1"/>
          </p:cNvPicPr>
          <p:nvPr/>
        </p:nvPicPr>
        <p:blipFill>
          <a:blip r:embed="rId5"/>
          <a:stretch>
            <a:fillRect/>
          </a:stretch>
        </p:blipFill>
        <p:spPr>
          <a:xfrm>
            <a:off x="1037844" y="3781044"/>
            <a:ext cx="301752" cy="301752"/>
          </a:xfrm>
          <a:prstGeom prst="rect">
            <a:avLst/>
          </a:prstGeom>
        </p:spPr>
      </p:pic>
      <p:sp>
        <p:nvSpPr>
          <p:cNvPr id="13" name="Text 8"/>
          <p:cNvSpPr/>
          <p:nvPr/>
        </p:nvSpPr>
        <p:spPr>
          <a:xfrm>
            <a:off x="1600200" y="3639312"/>
            <a:ext cx="370332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User Ratings</a:t>
            </a:r>
            <a:endParaRPr lang="en-US" sz="1300" dirty="0"/>
          </a:p>
        </p:txBody>
      </p:sp>
      <p:sp>
        <p:nvSpPr>
          <p:cNvPr id="14" name="Text 9"/>
          <p:cNvSpPr/>
          <p:nvPr/>
        </p:nvSpPr>
        <p:spPr>
          <a:xfrm>
            <a:off x="1600200" y="3950208"/>
            <a:ext cx="3794760" cy="594360"/>
          </a:xfrm>
          <a:prstGeom prst="rect">
            <a:avLst/>
          </a:prstGeom>
          <a:noFill/>
          <a:ln/>
        </p:spPr>
        <p:txBody>
          <a:bodyPr wrap="square" lIns="0" tIns="0" rIns="0" bIns="0" rtlCol="0" anchor="ctr"/>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Learns from what similar users rated highly in the past.</a:t>
            </a:r>
            <a:endParaRPr lang="en-US" sz="1100" dirty="0"/>
          </a:p>
        </p:txBody>
      </p:sp>
      <p:sp>
        <p:nvSpPr>
          <p:cNvPr id="15" name="Shape 10"/>
          <p:cNvSpPr/>
          <p:nvPr/>
        </p:nvSpPr>
        <p:spPr>
          <a:xfrm>
            <a:off x="914400" y="4709160"/>
            <a:ext cx="4389120" cy="0"/>
          </a:xfrm>
          <a:prstGeom prst="line">
            <a:avLst/>
          </a:prstGeom>
          <a:noFill/>
          <a:ln w="12700">
            <a:solidFill>
              <a:srgbClr val="E2E8F0"/>
            </a:solidFill>
            <a:prstDash val="solid"/>
          </a:ln>
        </p:spPr>
        <p:txBody>
          <a:bodyPr/>
          <a:lstStyle/>
          <a:p>
            <a:endParaRPr lang="en-US"/>
          </a:p>
        </p:txBody>
      </p:sp>
      <p:sp>
        <p:nvSpPr>
          <p:cNvPr id="16" name="Text 11"/>
          <p:cNvSpPr/>
          <p:nvPr/>
        </p:nvSpPr>
        <p:spPr>
          <a:xfrm>
            <a:off x="914400" y="4892040"/>
            <a:ext cx="4389120" cy="822960"/>
          </a:xfrm>
          <a:prstGeom prst="rect">
            <a:avLst/>
          </a:prstGeom>
          <a:noFill/>
          <a:ln/>
        </p:spPr>
        <p:txBody>
          <a:bodyPr wrap="square" lIns="0" tIns="0" rIns="0" bIns="0" rtlCol="0" anchor="ctr"/>
          <a:lstStyle/>
          <a:p>
            <a:pPr marL="0" indent="0">
              <a:lnSpc>
                <a:spcPct val="125000"/>
              </a:lnSpc>
              <a:buNone/>
            </a:pPr>
            <a:r>
              <a:rPr lang="en-US" sz="1150" i="1" dirty="0">
                <a:solidFill>
                  <a:srgbClr val="7C3AED"/>
                </a:solidFill>
                <a:latin typeface="Calibri" pitchFamily="34" charset="0"/>
                <a:ea typeface="Calibri" pitchFamily="34" charset="-122"/>
                <a:cs typeface="Calibri" pitchFamily="34" charset="-120"/>
              </a:rPr>
              <a:t>In short: it recommends items that people with similar taste to you also enjoyed.</a:t>
            </a:r>
            <a:endParaRPr lang="en-US" sz="1150" dirty="0"/>
          </a:p>
        </p:txBody>
      </p:sp>
      <p:sp>
        <p:nvSpPr>
          <p:cNvPr id="17" name="Shape 12"/>
          <p:cNvSpPr/>
          <p:nvPr/>
        </p:nvSpPr>
        <p:spPr>
          <a:xfrm>
            <a:off x="5943600" y="1783080"/>
            <a:ext cx="5577840" cy="4023360"/>
          </a:xfrm>
          <a:prstGeom prst="roundRect">
            <a:avLst>
              <a:gd name="adj" fmla="val 2727"/>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8" name="Text 13"/>
          <p:cNvSpPr/>
          <p:nvPr/>
        </p:nvSpPr>
        <p:spPr>
          <a:xfrm>
            <a:off x="6217920" y="2011680"/>
            <a:ext cx="4937760" cy="365760"/>
          </a:xfrm>
          <a:prstGeom prst="rect">
            <a:avLst/>
          </a:prstGeom>
          <a:noFill/>
          <a:ln/>
        </p:spPr>
        <p:txBody>
          <a:bodyPr wrap="square" lIns="0" tIns="0" rIns="0" bIns="0" rtlCol="0" anchor="ctr"/>
          <a:lstStyle/>
          <a:p>
            <a:pPr marL="0" indent="0">
              <a:buNone/>
            </a:pPr>
            <a:r>
              <a:rPr lang="en-US" sz="1450" b="1" dirty="0">
                <a:solidFill>
                  <a:srgbClr val="15229E"/>
                </a:solidFill>
                <a:latin typeface="Cambria" pitchFamily="34" charset="0"/>
                <a:ea typeface="Cambria" pitchFamily="34" charset="-122"/>
                <a:cs typeface="Cambria" pitchFamily="34" charset="-120"/>
              </a:rPr>
              <a:t>From Ratings to Recommendation</a:t>
            </a:r>
            <a:endParaRPr lang="en-US" sz="1450" dirty="0"/>
          </a:p>
        </p:txBody>
      </p:sp>
      <p:sp>
        <p:nvSpPr>
          <p:cNvPr id="19" name="Shape 14"/>
          <p:cNvSpPr/>
          <p:nvPr/>
        </p:nvSpPr>
        <p:spPr>
          <a:xfrm>
            <a:off x="6217920" y="2606040"/>
            <a:ext cx="2011680" cy="1051560"/>
          </a:xfrm>
          <a:prstGeom prst="roundRect">
            <a:avLst>
              <a:gd name="adj" fmla="val 10435"/>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0" name="Shape 15"/>
          <p:cNvSpPr/>
          <p:nvPr/>
        </p:nvSpPr>
        <p:spPr>
          <a:xfrm>
            <a:off x="6355080" y="2724912"/>
            <a:ext cx="566928" cy="566928"/>
          </a:xfrm>
          <a:prstGeom prst="ellipse">
            <a:avLst/>
          </a:prstGeom>
          <a:solidFill>
            <a:srgbClr val="E5F7FA"/>
          </a:solidFill>
          <a:ln/>
        </p:spPr>
        <p:txBody>
          <a:bodyPr/>
          <a:lstStyle/>
          <a:p>
            <a:endParaRPr lang="en-US"/>
          </a:p>
        </p:txBody>
      </p:sp>
      <p:pic>
        <p:nvPicPr>
          <p:cNvPr id="21" name="Image 3" descr="/home/claude/aurora/icons/collaborative_7C3AED.png"/>
          <p:cNvPicPr>
            <a:picLocks noChangeAspect="1"/>
          </p:cNvPicPr>
          <p:nvPr/>
        </p:nvPicPr>
        <p:blipFill>
          <a:blip r:embed="rId6"/>
          <a:stretch>
            <a:fillRect/>
          </a:stretch>
        </p:blipFill>
        <p:spPr>
          <a:xfrm>
            <a:off x="6482639" y="2852471"/>
            <a:ext cx="311810" cy="311810"/>
          </a:xfrm>
          <a:prstGeom prst="rect">
            <a:avLst/>
          </a:prstGeom>
        </p:spPr>
      </p:pic>
      <p:sp>
        <p:nvSpPr>
          <p:cNvPr id="22" name="Text 16"/>
          <p:cNvSpPr/>
          <p:nvPr/>
        </p:nvSpPr>
        <p:spPr>
          <a:xfrm>
            <a:off x="6355080" y="3337560"/>
            <a:ext cx="1737360" cy="27432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Similar Users</a:t>
            </a:r>
            <a:endParaRPr lang="en-US" sz="1050" dirty="0"/>
          </a:p>
        </p:txBody>
      </p:sp>
      <p:sp>
        <p:nvSpPr>
          <p:cNvPr id="23" name="Shape 17"/>
          <p:cNvSpPr/>
          <p:nvPr/>
        </p:nvSpPr>
        <p:spPr>
          <a:xfrm>
            <a:off x="8503920" y="2606040"/>
            <a:ext cx="2834640" cy="1051560"/>
          </a:xfrm>
          <a:prstGeom prst="roundRect">
            <a:avLst>
              <a:gd name="adj" fmla="val 10435"/>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4" name="Shape 18"/>
          <p:cNvSpPr/>
          <p:nvPr/>
        </p:nvSpPr>
        <p:spPr>
          <a:xfrm>
            <a:off x="8641080" y="2724912"/>
            <a:ext cx="566928" cy="566928"/>
          </a:xfrm>
          <a:prstGeom prst="ellipse">
            <a:avLst/>
          </a:prstGeom>
          <a:solidFill>
            <a:srgbClr val="E5F7FA"/>
          </a:solidFill>
          <a:ln/>
        </p:spPr>
        <p:txBody>
          <a:bodyPr/>
          <a:lstStyle/>
          <a:p>
            <a:endParaRPr lang="en-US"/>
          </a:p>
        </p:txBody>
      </p:sp>
      <p:pic>
        <p:nvPicPr>
          <p:cNvPr id="25" name="Image 4" descr="/home/claude/aurora/icons/ratings_7C3AED.png"/>
          <p:cNvPicPr>
            <a:picLocks noChangeAspect="1"/>
          </p:cNvPicPr>
          <p:nvPr/>
        </p:nvPicPr>
        <p:blipFill>
          <a:blip r:embed="rId5"/>
          <a:stretch>
            <a:fillRect/>
          </a:stretch>
        </p:blipFill>
        <p:spPr>
          <a:xfrm>
            <a:off x="8768639" y="2852471"/>
            <a:ext cx="311810" cy="311810"/>
          </a:xfrm>
          <a:prstGeom prst="rect">
            <a:avLst/>
          </a:prstGeom>
        </p:spPr>
      </p:pic>
      <p:sp>
        <p:nvSpPr>
          <p:cNvPr id="26" name="Text 19"/>
          <p:cNvSpPr/>
          <p:nvPr/>
        </p:nvSpPr>
        <p:spPr>
          <a:xfrm>
            <a:off x="9326880" y="2724912"/>
            <a:ext cx="1874520" cy="5943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Shared Rating Patterns</a:t>
            </a:r>
            <a:endParaRPr lang="en-US" sz="1100" dirty="0"/>
          </a:p>
        </p:txBody>
      </p:sp>
      <p:pic>
        <p:nvPicPr>
          <p:cNvPr id="27" name="Image 5" descr="/home/claude/aurora/icons/arrowDown_64748B.png"/>
          <p:cNvPicPr>
            <a:picLocks noChangeAspect="1"/>
          </p:cNvPicPr>
          <p:nvPr/>
        </p:nvPicPr>
        <p:blipFill>
          <a:blip r:embed="rId7"/>
          <a:stretch>
            <a:fillRect/>
          </a:stretch>
        </p:blipFill>
        <p:spPr>
          <a:xfrm>
            <a:off x="8549640" y="3749040"/>
            <a:ext cx="292608" cy="292608"/>
          </a:xfrm>
          <a:prstGeom prst="rect">
            <a:avLst/>
          </a:prstGeom>
        </p:spPr>
      </p:pic>
      <p:sp>
        <p:nvSpPr>
          <p:cNvPr id="28" name="Shape 20"/>
          <p:cNvSpPr/>
          <p:nvPr/>
        </p:nvSpPr>
        <p:spPr>
          <a:xfrm>
            <a:off x="6217920" y="4206240"/>
            <a:ext cx="5120640" cy="1417320"/>
          </a:xfrm>
          <a:prstGeom prst="roundRect">
            <a:avLst>
              <a:gd name="adj" fmla="val 7742"/>
            </a:avLst>
          </a:prstGeom>
          <a:solidFill>
            <a:srgbClr val="7C3AED"/>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9" name="Shape 21"/>
          <p:cNvSpPr/>
          <p:nvPr/>
        </p:nvSpPr>
        <p:spPr>
          <a:xfrm>
            <a:off x="6400800" y="4370832"/>
            <a:ext cx="640080" cy="640080"/>
          </a:xfrm>
          <a:prstGeom prst="ellipse">
            <a:avLst/>
          </a:prstGeom>
          <a:solidFill>
            <a:srgbClr val="FFFFFF"/>
          </a:solidFill>
          <a:ln/>
        </p:spPr>
        <p:txBody>
          <a:bodyPr/>
          <a:lstStyle/>
          <a:p>
            <a:endParaRPr lang="en-US"/>
          </a:p>
        </p:txBody>
      </p:sp>
      <p:pic>
        <p:nvPicPr>
          <p:cNvPr id="30" name="Image 6" descr="/home/claude/aurora/icons/hybrid_7C3AED.png"/>
          <p:cNvPicPr>
            <a:picLocks noChangeAspect="1"/>
          </p:cNvPicPr>
          <p:nvPr/>
        </p:nvPicPr>
        <p:blipFill>
          <a:blip r:embed="rId8"/>
          <a:stretch>
            <a:fillRect/>
          </a:stretch>
        </p:blipFill>
        <p:spPr>
          <a:xfrm>
            <a:off x="6560820" y="4530852"/>
            <a:ext cx="320040" cy="320040"/>
          </a:xfrm>
          <a:prstGeom prst="rect">
            <a:avLst/>
          </a:prstGeom>
        </p:spPr>
      </p:pic>
      <p:sp>
        <p:nvSpPr>
          <p:cNvPr id="31" name="Text 22"/>
          <p:cNvSpPr/>
          <p:nvPr/>
        </p:nvSpPr>
        <p:spPr>
          <a:xfrm>
            <a:off x="7223760" y="4297680"/>
            <a:ext cx="3931920" cy="1097280"/>
          </a:xfrm>
          <a:prstGeom prst="rect">
            <a:avLst/>
          </a:prstGeom>
          <a:noFill/>
          <a:ln/>
        </p:spPr>
        <p:txBody>
          <a:bodyPr wrap="square" lIns="0" tIns="0" rIns="0" bIns="0" rtlCol="0" anchor="ctr"/>
          <a:lstStyle/>
          <a:p>
            <a:pPr marL="0" indent="0">
              <a:lnSpc>
                <a:spcPct val="125000"/>
              </a:lnSpc>
              <a:buNone/>
            </a:pPr>
            <a:r>
              <a:rPr lang="en-US" sz="1250" b="1" dirty="0">
                <a:solidFill>
                  <a:srgbClr val="FFFFFF"/>
                </a:solidFill>
                <a:latin typeface="Calibri" pitchFamily="34" charset="0"/>
                <a:ea typeface="Calibri" pitchFamily="34" charset="-122"/>
                <a:cs typeface="Calibri" pitchFamily="34" charset="-120"/>
              </a:rPr>
              <a:t>Hybrid Recommendation blends both</a:t>
            </a:r>
            <a:endParaRPr lang="en-US" sz="1250" dirty="0"/>
          </a:p>
          <a:p>
            <a:pPr marL="0" indent="0">
              <a:lnSpc>
                <a:spcPct val="125000"/>
              </a:lnSpc>
              <a:buNone/>
            </a:pPr>
            <a:r>
              <a:rPr lang="en-US" sz="1250" b="1" dirty="0">
                <a:solidFill>
                  <a:srgbClr val="FFFFFF"/>
                </a:solidFill>
                <a:latin typeface="Calibri" pitchFamily="34" charset="0"/>
                <a:ea typeface="Calibri" pitchFamily="34" charset="-122"/>
                <a:cs typeface="Calibri" pitchFamily="34" charset="-120"/>
              </a:rPr>
              <a:t>models for the most relevant results.</a:t>
            </a:r>
            <a:endParaRPr lang="en-US" sz="1250" dirty="0"/>
          </a:p>
        </p:txBody>
      </p:sp>
      <p:sp>
        <p:nvSpPr>
          <p:cNvPr id="32" name="Text 23"/>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PRODUCT WALKTHROUGH</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Website Features</a:t>
            </a:r>
            <a:endParaRPr lang="en-US" sz="3400" dirty="0"/>
          </a:p>
        </p:txBody>
      </p:sp>
      <p:sp>
        <p:nvSpPr>
          <p:cNvPr id="5" name="Shape 2"/>
          <p:cNvSpPr/>
          <p:nvPr/>
        </p:nvSpPr>
        <p:spPr>
          <a:xfrm>
            <a:off x="640080"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1101852" y="1810512"/>
            <a:ext cx="502920" cy="502920"/>
          </a:xfrm>
          <a:prstGeom prst="ellipse">
            <a:avLst/>
          </a:prstGeom>
          <a:solidFill>
            <a:srgbClr val="E5F7FA"/>
          </a:solidFill>
          <a:ln/>
        </p:spPr>
        <p:txBody>
          <a:bodyPr/>
          <a:lstStyle/>
          <a:p>
            <a:endParaRPr lang="en-US"/>
          </a:p>
        </p:txBody>
      </p:sp>
      <p:pic>
        <p:nvPicPr>
          <p:cNvPr id="7" name="Image 1" descr="/home/claude/aurora/icons/home_1E3FD6.png"/>
          <p:cNvPicPr>
            <a:picLocks noChangeAspect="1"/>
          </p:cNvPicPr>
          <p:nvPr/>
        </p:nvPicPr>
        <p:blipFill>
          <a:blip r:embed="rId4"/>
          <a:stretch>
            <a:fillRect/>
          </a:stretch>
        </p:blipFill>
        <p:spPr>
          <a:xfrm>
            <a:off x="1215009" y="1923669"/>
            <a:ext cx="276606" cy="276606"/>
          </a:xfrm>
          <a:prstGeom prst="rect">
            <a:avLst/>
          </a:prstGeom>
        </p:spPr>
      </p:pic>
      <p:sp>
        <p:nvSpPr>
          <p:cNvPr id="8" name="Text 4"/>
          <p:cNvSpPr/>
          <p:nvPr/>
        </p:nvSpPr>
        <p:spPr>
          <a:xfrm>
            <a:off x="640080"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Home</a:t>
            </a:r>
            <a:endParaRPr lang="en-US" sz="900" dirty="0"/>
          </a:p>
        </p:txBody>
      </p:sp>
      <p:sp>
        <p:nvSpPr>
          <p:cNvPr id="9" name="Shape 5"/>
          <p:cNvSpPr/>
          <p:nvPr/>
        </p:nvSpPr>
        <p:spPr>
          <a:xfrm>
            <a:off x="2176272"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0" name="Shape 6"/>
          <p:cNvSpPr/>
          <p:nvPr/>
        </p:nvSpPr>
        <p:spPr>
          <a:xfrm>
            <a:off x="2638044" y="1810512"/>
            <a:ext cx="502920" cy="502920"/>
          </a:xfrm>
          <a:prstGeom prst="ellipse">
            <a:avLst/>
          </a:prstGeom>
          <a:solidFill>
            <a:srgbClr val="E5F7FA"/>
          </a:solidFill>
          <a:ln/>
        </p:spPr>
        <p:txBody>
          <a:bodyPr/>
          <a:lstStyle/>
          <a:p>
            <a:endParaRPr lang="en-US"/>
          </a:p>
        </p:txBody>
      </p:sp>
      <p:pic>
        <p:nvPicPr>
          <p:cNvPr id="11" name="Image 2" descr="/home/claude/aurora/icons/search_1E3FD6.png"/>
          <p:cNvPicPr>
            <a:picLocks noChangeAspect="1"/>
          </p:cNvPicPr>
          <p:nvPr/>
        </p:nvPicPr>
        <p:blipFill>
          <a:blip r:embed="rId5"/>
          <a:stretch>
            <a:fillRect/>
          </a:stretch>
        </p:blipFill>
        <p:spPr>
          <a:xfrm>
            <a:off x="2751201" y="1923669"/>
            <a:ext cx="276606" cy="276606"/>
          </a:xfrm>
          <a:prstGeom prst="rect">
            <a:avLst/>
          </a:prstGeom>
        </p:spPr>
      </p:pic>
      <p:sp>
        <p:nvSpPr>
          <p:cNvPr id="12" name="Text 7"/>
          <p:cNvSpPr/>
          <p:nvPr/>
        </p:nvSpPr>
        <p:spPr>
          <a:xfrm>
            <a:off x="2176272"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Search</a:t>
            </a:r>
            <a:endParaRPr lang="en-US" sz="900" dirty="0"/>
          </a:p>
        </p:txBody>
      </p:sp>
      <p:sp>
        <p:nvSpPr>
          <p:cNvPr id="13" name="Shape 8"/>
          <p:cNvSpPr/>
          <p:nvPr/>
        </p:nvSpPr>
        <p:spPr>
          <a:xfrm>
            <a:off x="3712464"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4" name="Shape 9"/>
          <p:cNvSpPr/>
          <p:nvPr/>
        </p:nvSpPr>
        <p:spPr>
          <a:xfrm>
            <a:off x="4174236" y="1810512"/>
            <a:ext cx="502920" cy="502920"/>
          </a:xfrm>
          <a:prstGeom prst="ellipse">
            <a:avLst/>
          </a:prstGeom>
          <a:solidFill>
            <a:srgbClr val="E5F7FA"/>
          </a:solidFill>
          <a:ln/>
        </p:spPr>
        <p:txBody>
          <a:bodyPr/>
          <a:lstStyle/>
          <a:p>
            <a:endParaRPr lang="en-US"/>
          </a:p>
        </p:txBody>
      </p:sp>
      <p:pic>
        <p:nvPicPr>
          <p:cNvPr id="15" name="Image 3" descr="/home/claude/aurora/icons/filter_1E3FD6.png"/>
          <p:cNvPicPr>
            <a:picLocks noChangeAspect="1"/>
          </p:cNvPicPr>
          <p:nvPr/>
        </p:nvPicPr>
        <p:blipFill>
          <a:blip r:embed="rId6"/>
          <a:stretch>
            <a:fillRect/>
          </a:stretch>
        </p:blipFill>
        <p:spPr>
          <a:xfrm>
            <a:off x="4287393" y="1923669"/>
            <a:ext cx="276606" cy="276606"/>
          </a:xfrm>
          <a:prstGeom prst="rect">
            <a:avLst/>
          </a:prstGeom>
        </p:spPr>
      </p:pic>
      <p:sp>
        <p:nvSpPr>
          <p:cNvPr id="16" name="Text 10"/>
          <p:cNvSpPr/>
          <p:nvPr/>
        </p:nvSpPr>
        <p:spPr>
          <a:xfrm>
            <a:off x="3712464"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Filters</a:t>
            </a:r>
            <a:endParaRPr lang="en-US" sz="900" dirty="0"/>
          </a:p>
        </p:txBody>
      </p:sp>
      <p:sp>
        <p:nvSpPr>
          <p:cNvPr id="17" name="Shape 11"/>
          <p:cNvSpPr/>
          <p:nvPr/>
        </p:nvSpPr>
        <p:spPr>
          <a:xfrm>
            <a:off x="5248656"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8" name="Shape 12"/>
          <p:cNvSpPr/>
          <p:nvPr/>
        </p:nvSpPr>
        <p:spPr>
          <a:xfrm>
            <a:off x="5710428" y="1810512"/>
            <a:ext cx="502920" cy="502920"/>
          </a:xfrm>
          <a:prstGeom prst="ellipse">
            <a:avLst/>
          </a:prstGeom>
          <a:solidFill>
            <a:srgbClr val="E5F7FA"/>
          </a:solidFill>
          <a:ln/>
        </p:spPr>
        <p:txBody>
          <a:bodyPr/>
          <a:lstStyle/>
          <a:p>
            <a:endParaRPr lang="en-US"/>
          </a:p>
        </p:txBody>
      </p:sp>
      <p:pic>
        <p:nvPicPr>
          <p:cNvPr id="19" name="Image 4" descr="/home/claude/aurora/icons/recommend_1E3FD6.png"/>
          <p:cNvPicPr>
            <a:picLocks noChangeAspect="1"/>
          </p:cNvPicPr>
          <p:nvPr/>
        </p:nvPicPr>
        <p:blipFill>
          <a:blip r:embed="rId7"/>
          <a:stretch>
            <a:fillRect/>
          </a:stretch>
        </p:blipFill>
        <p:spPr>
          <a:xfrm>
            <a:off x="5823585" y="1923669"/>
            <a:ext cx="276606" cy="276606"/>
          </a:xfrm>
          <a:prstGeom prst="rect">
            <a:avLst/>
          </a:prstGeom>
        </p:spPr>
      </p:pic>
      <p:sp>
        <p:nvSpPr>
          <p:cNvPr id="20" name="Text 13"/>
          <p:cNvSpPr/>
          <p:nvPr/>
        </p:nvSpPr>
        <p:spPr>
          <a:xfrm>
            <a:off x="5248656"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Recommendation</a:t>
            </a:r>
            <a:endParaRPr lang="en-US" sz="900" dirty="0"/>
          </a:p>
        </p:txBody>
      </p:sp>
      <p:sp>
        <p:nvSpPr>
          <p:cNvPr id="21" name="Shape 14"/>
          <p:cNvSpPr/>
          <p:nvPr/>
        </p:nvSpPr>
        <p:spPr>
          <a:xfrm>
            <a:off x="6784848"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2" name="Shape 15"/>
          <p:cNvSpPr/>
          <p:nvPr/>
        </p:nvSpPr>
        <p:spPr>
          <a:xfrm>
            <a:off x="7246620" y="1810512"/>
            <a:ext cx="502920" cy="502920"/>
          </a:xfrm>
          <a:prstGeom prst="ellipse">
            <a:avLst/>
          </a:prstGeom>
          <a:solidFill>
            <a:srgbClr val="E5F7FA"/>
          </a:solidFill>
          <a:ln/>
        </p:spPr>
        <p:txBody>
          <a:bodyPr/>
          <a:lstStyle/>
          <a:p>
            <a:endParaRPr lang="en-US"/>
          </a:p>
        </p:txBody>
      </p:sp>
      <p:pic>
        <p:nvPicPr>
          <p:cNvPr id="23" name="Image 5" descr="/home/claude/aurora/icons/productDetail_1E3FD6.png"/>
          <p:cNvPicPr>
            <a:picLocks noChangeAspect="1"/>
          </p:cNvPicPr>
          <p:nvPr/>
        </p:nvPicPr>
        <p:blipFill>
          <a:blip r:embed="rId8"/>
          <a:stretch>
            <a:fillRect/>
          </a:stretch>
        </p:blipFill>
        <p:spPr>
          <a:xfrm>
            <a:off x="7359777" y="1923669"/>
            <a:ext cx="276606" cy="276606"/>
          </a:xfrm>
          <a:prstGeom prst="rect">
            <a:avLst/>
          </a:prstGeom>
        </p:spPr>
      </p:pic>
      <p:sp>
        <p:nvSpPr>
          <p:cNvPr id="24" name="Text 16"/>
          <p:cNvSpPr/>
          <p:nvPr/>
        </p:nvSpPr>
        <p:spPr>
          <a:xfrm>
            <a:off x="6784848"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Product Details</a:t>
            </a:r>
            <a:endParaRPr lang="en-US" sz="900" dirty="0"/>
          </a:p>
        </p:txBody>
      </p:sp>
      <p:sp>
        <p:nvSpPr>
          <p:cNvPr id="25" name="Shape 17"/>
          <p:cNvSpPr/>
          <p:nvPr/>
        </p:nvSpPr>
        <p:spPr>
          <a:xfrm>
            <a:off x="8321040"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6" name="Shape 18"/>
          <p:cNvSpPr/>
          <p:nvPr/>
        </p:nvSpPr>
        <p:spPr>
          <a:xfrm>
            <a:off x="8782812" y="1810512"/>
            <a:ext cx="502920" cy="502920"/>
          </a:xfrm>
          <a:prstGeom prst="ellipse">
            <a:avLst/>
          </a:prstGeom>
          <a:solidFill>
            <a:srgbClr val="E5F7FA"/>
          </a:solidFill>
          <a:ln/>
        </p:spPr>
        <p:txBody>
          <a:bodyPr/>
          <a:lstStyle/>
          <a:p>
            <a:endParaRPr lang="en-US"/>
          </a:p>
        </p:txBody>
      </p:sp>
      <p:pic>
        <p:nvPicPr>
          <p:cNvPr id="27" name="Image 6" descr="/home/claude/aurora/icons/analytics_1E3FD6.png"/>
          <p:cNvPicPr>
            <a:picLocks noChangeAspect="1"/>
          </p:cNvPicPr>
          <p:nvPr/>
        </p:nvPicPr>
        <p:blipFill>
          <a:blip r:embed="rId9"/>
          <a:stretch>
            <a:fillRect/>
          </a:stretch>
        </p:blipFill>
        <p:spPr>
          <a:xfrm>
            <a:off x="8895969" y="1923669"/>
            <a:ext cx="276606" cy="276606"/>
          </a:xfrm>
          <a:prstGeom prst="rect">
            <a:avLst/>
          </a:prstGeom>
        </p:spPr>
      </p:pic>
      <p:sp>
        <p:nvSpPr>
          <p:cNvPr id="28" name="Text 19"/>
          <p:cNvSpPr/>
          <p:nvPr/>
        </p:nvSpPr>
        <p:spPr>
          <a:xfrm>
            <a:off x="8321040"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Analytics</a:t>
            </a:r>
            <a:endParaRPr lang="en-US" sz="900" dirty="0"/>
          </a:p>
        </p:txBody>
      </p:sp>
      <p:sp>
        <p:nvSpPr>
          <p:cNvPr id="29" name="Shape 20"/>
          <p:cNvSpPr/>
          <p:nvPr/>
        </p:nvSpPr>
        <p:spPr>
          <a:xfrm>
            <a:off x="9857232" y="1691640"/>
            <a:ext cx="1426464" cy="1051560"/>
          </a:xfrm>
          <a:prstGeom prst="roundRect">
            <a:avLst>
              <a:gd name="adj" fmla="val 869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0" name="Shape 21"/>
          <p:cNvSpPr/>
          <p:nvPr/>
        </p:nvSpPr>
        <p:spPr>
          <a:xfrm>
            <a:off x="10319004" y="1810512"/>
            <a:ext cx="502920" cy="502920"/>
          </a:xfrm>
          <a:prstGeom prst="ellipse">
            <a:avLst/>
          </a:prstGeom>
          <a:solidFill>
            <a:srgbClr val="E5F7FA"/>
          </a:solidFill>
          <a:ln/>
        </p:spPr>
        <p:txBody>
          <a:bodyPr/>
          <a:lstStyle/>
          <a:p>
            <a:endParaRPr lang="en-US"/>
          </a:p>
        </p:txBody>
      </p:sp>
      <p:pic>
        <p:nvPicPr>
          <p:cNvPr id="31" name="Image 7" descr="/home/claude/aurora/icons/responsive_1E3FD6.png"/>
          <p:cNvPicPr>
            <a:picLocks noChangeAspect="1"/>
          </p:cNvPicPr>
          <p:nvPr/>
        </p:nvPicPr>
        <p:blipFill>
          <a:blip r:embed="rId10"/>
          <a:stretch>
            <a:fillRect/>
          </a:stretch>
        </p:blipFill>
        <p:spPr>
          <a:xfrm>
            <a:off x="10432161" y="1923669"/>
            <a:ext cx="276606" cy="276606"/>
          </a:xfrm>
          <a:prstGeom prst="rect">
            <a:avLst/>
          </a:prstGeom>
        </p:spPr>
      </p:pic>
      <p:sp>
        <p:nvSpPr>
          <p:cNvPr id="32" name="Text 22"/>
          <p:cNvSpPr/>
          <p:nvPr/>
        </p:nvSpPr>
        <p:spPr>
          <a:xfrm>
            <a:off x="9857232" y="2423160"/>
            <a:ext cx="1426464" cy="292608"/>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Responsive Design</a:t>
            </a:r>
            <a:endParaRPr lang="en-US" sz="900" dirty="0"/>
          </a:p>
        </p:txBody>
      </p:sp>
      <p:sp>
        <p:nvSpPr>
          <p:cNvPr id="33" name="Shape 23"/>
          <p:cNvSpPr/>
          <p:nvPr/>
        </p:nvSpPr>
        <p:spPr>
          <a:xfrm>
            <a:off x="640080" y="3063240"/>
            <a:ext cx="5257800" cy="2743200"/>
          </a:xfrm>
          <a:prstGeom prst="roundRect">
            <a:avLst>
              <a:gd name="adj" fmla="val 2667"/>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4" name="Shape 24"/>
          <p:cNvSpPr/>
          <p:nvPr/>
        </p:nvSpPr>
        <p:spPr>
          <a:xfrm>
            <a:off x="640080" y="3063240"/>
            <a:ext cx="5257800" cy="365760"/>
          </a:xfrm>
          <a:prstGeom prst="roundRect">
            <a:avLst>
              <a:gd name="adj" fmla="val 20000"/>
            </a:avLst>
          </a:prstGeom>
          <a:solidFill>
            <a:srgbClr val="EEF1FB"/>
          </a:solidFill>
          <a:ln/>
        </p:spPr>
        <p:txBody>
          <a:bodyPr/>
          <a:lstStyle/>
          <a:p>
            <a:endParaRPr lang="en-US"/>
          </a:p>
        </p:txBody>
      </p:sp>
      <p:sp>
        <p:nvSpPr>
          <p:cNvPr id="35" name="Shape 25"/>
          <p:cNvSpPr/>
          <p:nvPr/>
        </p:nvSpPr>
        <p:spPr>
          <a:xfrm>
            <a:off x="640080" y="3246120"/>
            <a:ext cx="5257800" cy="182880"/>
          </a:xfrm>
          <a:prstGeom prst="rect">
            <a:avLst/>
          </a:prstGeom>
          <a:solidFill>
            <a:srgbClr val="EEF1FB"/>
          </a:solidFill>
          <a:ln/>
        </p:spPr>
        <p:txBody>
          <a:bodyPr/>
          <a:lstStyle/>
          <a:p>
            <a:endParaRPr lang="en-US"/>
          </a:p>
        </p:txBody>
      </p:sp>
      <p:sp>
        <p:nvSpPr>
          <p:cNvPr id="36" name="Shape 26"/>
          <p:cNvSpPr/>
          <p:nvPr/>
        </p:nvSpPr>
        <p:spPr>
          <a:xfrm>
            <a:off x="777240" y="3191256"/>
            <a:ext cx="109728" cy="109728"/>
          </a:xfrm>
          <a:prstGeom prst="ellipse">
            <a:avLst/>
          </a:prstGeom>
          <a:solidFill>
            <a:srgbClr val="F87171"/>
          </a:solidFill>
          <a:ln/>
        </p:spPr>
        <p:txBody>
          <a:bodyPr/>
          <a:lstStyle/>
          <a:p>
            <a:endParaRPr lang="en-US"/>
          </a:p>
        </p:txBody>
      </p:sp>
      <p:sp>
        <p:nvSpPr>
          <p:cNvPr id="37" name="Shape 27"/>
          <p:cNvSpPr/>
          <p:nvPr/>
        </p:nvSpPr>
        <p:spPr>
          <a:xfrm>
            <a:off x="978408" y="3191256"/>
            <a:ext cx="109728" cy="109728"/>
          </a:xfrm>
          <a:prstGeom prst="ellipse">
            <a:avLst/>
          </a:prstGeom>
          <a:solidFill>
            <a:srgbClr val="FBBF24"/>
          </a:solidFill>
          <a:ln/>
        </p:spPr>
        <p:txBody>
          <a:bodyPr/>
          <a:lstStyle/>
          <a:p>
            <a:endParaRPr lang="en-US"/>
          </a:p>
        </p:txBody>
      </p:sp>
      <p:sp>
        <p:nvSpPr>
          <p:cNvPr id="38" name="Shape 28"/>
          <p:cNvSpPr/>
          <p:nvPr/>
        </p:nvSpPr>
        <p:spPr>
          <a:xfrm>
            <a:off x="1179576" y="3191256"/>
            <a:ext cx="109728" cy="109728"/>
          </a:xfrm>
          <a:prstGeom prst="ellipse">
            <a:avLst/>
          </a:prstGeom>
          <a:solidFill>
            <a:srgbClr val="34D399"/>
          </a:solidFill>
          <a:ln/>
        </p:spPr>
        <p:txBody>
          <a:bodyPr/>
          <a:lstStyle/>
          <a:p>
            <a:endParaRPr lang="en-US"/>
          </a:p>
        </p:txBody>
      </p:sp>
      <p:sp>
        <p:nvSpPr>
          <p:cNvPr id="39" name="Shape 29"/>
          <p:cNvSpPr/>
          <p:nvPr/>
        </p:nvSpPr>
        <p:spPr>
          <a:xfrm>
            <a:off x="777240" y="4114800"/>
            <a:ext cx="4983480" cy="640080"/>
          </a:xfrm>
          <a:prstGeom prst="roundRect">
            <a:avLst>
              <a:gd name="adj" fmla="val 17143"/>
            </a:avLst>
          </a:prstGeom>
          <a:solidFill>
            <a:srgbClr val="F7F9FF"/>
          </a:solidFill>
          <a:ln w="9525">
            <a:solidFill>
              <a:srgbClr val="E2E8F0"/>
            </a:solidFill>
            <a:prstDash val="solid"/>
          </a:ln>
        </p:spPr>
        <p:txBody>
          <a:bodyPr/>
          <a:lstStyle/>
          <a:p>
            <a:endParaRPr lang="en-US"/>
          </a:p>
        </p:txBody>
      </p:sp>
      <p:sp>
        <p:nvSpPr>
          <p:cNvPr id="40" name="Shape 30"/>
          <p:cNvSpPr/>
          <p:nvPr/>
        </p:nvSpPr>
        <p:spPr>
          <a:xfrm>
            <a:off x="2994660" y="4178808"/>
            <a:ext cx="512064" cy="512064"/>
          </a:xfrm>
          <a:prstGeom prst="ellipse">
            <a:avLst/>
          </a:prstGeom>
          <a:solidFill>
            <a:srgbClr val="FFFFFF"/>
          </a:solidFill>
          <a:ln/>
        </p:spPr>
        <p:txBody>
          <a:bodyPr/>
          <a:lstStyle/>
          <a:p>
            <a:endParaRPr lang="en-US"/>
          </a:p>
        </p:txBody>
      </p:sp>
      <p:pic>
        <p:nvPicPr>
          <p:cNvPr id="41" name="Image 8" descr="/home/claude/aurora/icons/browser_1E3FD6.png"/>
          <p:cNvPicPr>
            <a:picLocks noChangeAspect="1"/>
          </p:cNvPicPr>
          <p:nvPr/>
        </p:nvPicPr>
        <p:blipFill>
          <a:blip r:embed="rId11"/>
          <a:stretch>
            <a:fillRect/>
          </a:stretch>
        </p:blipFill>
        <p:spPr>
          <a:xfrm>
            <a:off x="3122676" y="4306824"/>
            <a:ext cx="256032" cy="256032"/>
          </a:xfrm>
          <a:prstGeom prst="rect">
            <a:avLst/>
          </a:prstGeom>
        </p:spPr>
      </p:pic>
      <p:sp>
        <p:nvSpPr>
          <p:cNvPr id="42" name="Text 31"/>
          <p:cNvSpPr/>
          <p:nvPr/>
        </p:nvSpPr>
        <p:spPr>
          <a:xfrm>
            <a:off x="640080" y="5394960"/>
            <a:ext cx="525780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Home &amp; Recommendation View — screenshot placeholder</a:t>
            </a:r>
            <a:endParaRPr lang="en-US" sz="1000" dirty="0"/>
          </a:p>
        </p:txBody>
      </p:sp>
      <p:sp>
        <p:nvSpPr>
          <p:cNvPr id="43" name="Shape 32"/>
          <p:cNvSpPr/>
          <p:nvPr/>
        </p:nvSpPr>
        <p:spPr>
          <a:xfrm>
            <a:off x="6263640" y="3063240"/>
            <a:ext cx="5257800" cy="2743200"/>
          </a:xfrm>
          <a:prstGeom prst="roundRect">
            <a:avLst>
              <a:gd name="adj" fmla="val 2667"/>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44" name="Shape 33"/>
          <p:cNvSpPr/>
          <p:nvPr/>
        </p:nvSpPr>
        <p:spPr>
          <a:xfrm>
            <a:off x="6263640" y="3063240"/>
            <a:ext cx="5257800" cy="365760"/>
          </a:xfrm>
          <a:prstGeom prst="roundRect">
            <a:avLst>
              <a:gd name="adj" fmla="val 20000"/>
            </a:avLst>
          </a:prstGeom>
          <a:solidFill>
            <a:srgbClr val="EEF1FB"/>
          </a:solidFill>
          <a:ln/>
        </p:spPr>
        <p:txBody>
          <a:bodyPr/>
          <a:lstStyle/>
          <a:p>
            <a:endParaRPr lang="en-US"/>
          </a:p>
        </p:txBody>
      </p:sp>
      <p:sp>
        <p:nvSpPr>
          <p:cNvPr id="45" name="Shape 34"/>
          <p:cNvSpPr/>
          <p:nvPr/>
        </p:nvSpPr>
        <p:spPr>
          <a:xfrm>
            <a:off x="6263640" y="3246120"/>
            <a:ext cx="5257800" cy="182880"/>
          </a:xfrm>
          <a:prstGeom prst="rect">
            <a:avLst/>
          </a:prstGeom>
          <a:solidFill>
            <a:srgbClr val="EEF1FB"/>
          </a:solidFill>
          <a:ln/>
        </p:spPr>
        <p:txBody>
          <a:bodyPr/>
          <a:lstStyle/>
          <a:p>
            <a:endParaRPr lang="en-US"/>
          </a:p>
        </p:txBody>
      </p:sp>
      <p:sp>
        <p:nvSpPr>
          <p:cNvPr id="46" name="Shape 35"/>
          <p:cNvSpPr/>
          <p:nvPr/>
        </p:nvSpPr>
        <p:spPr>
          <a:xfrm>
            <a:off x="6400800" y="3191256"/>
            <a:ext cx="109728" cy="109728"/>
          </a:xfrm>
          <a:prstGeom prst="ellipse">
            <a:avLst/>
          </a:prstGeom>
          <a:solidFill>
            <a:srgbClr val="F87171"/>
          </a:solidFill>
          <a:ln/>
        </p:spPr>
        <p:txBody>
          <a:bodyPr/>
          <a:lstStyle/>
          <a:p>
            <a:endParaRPr lang="en-US"/>
          </a:p>
        </p:txBody>
      </p:sp>
      <p:sp>
        <p:nvSpPr>
          <p:cNvPr id="47" name="Shape 36"/>
          <p:cNvSpPr/>
          <p:nvPr/>
        </p:nvSpPr>
        <p:spPr>
          <a:xfrm>
            <a:off x="6601968" y="3191256"/>
            <a:ext cx="109728" cy="109728"/>
          </a:xfrm>
          <a:prstGeom prst="ellipse">
            <a:avLst/>
          </a:prstGeom>
          <a:solidFill>
            <a:srgbClr val="FBBF24"/>
          </a:solidFill>
          <a:ln/>
        </p:spPr>
        <p:txBody>
          <a:bodyPr/>
          <a:lstStyle/>
          <a:p>
            <a:endParaRPr lang="en-US"/>
          </a:p>
        </p:txBody>
      </p:sp>
      <p:sp>
        <p:nvSpPr>
          <p:cNvPr id="48" name="Shape 37"/>
          <p:cNvSpPr/>
          <p:nvPr/>
        </p:nvSpPr>
        <p:spPr>
          <a:xfrm>
            <a:off x="6803136" y="3191256"/>
            <a:ext cx="109728" cy="109728"/>
          </a:xfrm>
          <a:prstGeom prst="ellipse">
            <a:avLst/>
          </a:prstGeom>
          <a:solidFill>
            <a:srgbClr val="34D399"/>
          </a:solidFill>
          <a:ln/>
        </p:spPr>
        <p:txBody>
          <a:bodyPr/>
          <a:lstStyle/>
          <a:p>
            <a:endParaRPr lang="en-US"/>
          </a:p>
        </p:txBody>
      </p:sp>
      <p:sp>
        <p:nvSpPr>
          <p:cNvPr id="49" name="Shape 38"/>
          <p:cNvSpPr/>
          <p:nvPr/>
        </p:nvSpPr>
        <p:spPr>
          <a:xfrm>
            <a:off x="6400800" y="4114800"/>
            <a:ext cx="4983480" cy="640080"/>
          </a:xfrm>
          <a:prstGeom prst="roundRect">
            <a:avLst>
              <a:gd name="adj" fmla="val 17143"/>
            </a:avLst>
          </a:prstGeom>
          <a:solidFill>
            <a:srgbClr val="F7F9FF"/>
          </a:solidFill>
          <a:ln w="9525">
            <a:solidFill>
              <a:srgbClr val="E2E8F0"/>
            </a:solidFill>
            <a:prstDash val="solid"/>
          </a:ln>
        </p:spPr>
        <p:txBody>
          <a:bodyPr/>
          <a:lstStyle/>
          <a:p>
            <a:endParaRPr lang="en-US"/>
          </a:p>
        </p:txBody>
      </p:sp>
      <p:sp>
        <p:nvSpPr>
          <p:cNvPr id="50" name="Shape 39"/>
          <p:cNvSpPr/>
          <p:nvPr/>
        </p:nvSpPr>
        <p:spPr>
          <a:xfrm>
            <a:off x="8618220" y="4178808"/>
            <a:ext cx="512064" cy="512064"/>
          </a:xfrm>
          <a:prstGeom prst="ellipse">
            <a:avLst/>
          </a:prstGeom>
          <a:solidFill>
            <a:srgbClr val="FFFFFF"/>
          </a:solidFill>
          <a:ln/>
        </p:spPr>
        <p:txBody>
          <a:bodyPr/>
          <a:lstStyle/>
          <a:p>
            <a:endParaRPr lang="en-US"/>
          </a:p>
        </p:txBody>
      </p:sp>
      <p:pic>
        <p:nvPicPr>
          <p:cNvPr id="51" name="Image 9" descr="/home/claude/aurora/icons/browser_1E3FD6.png"/>
          <p:cNvPicPr>
            <a:picLocks noChangeAspect="1"/>
          </p:cNvPicPr>
          <p:nvPr/>
        </p:nvPicPr>
        <p:blipFill>
          <a:blip r:embed="rId11"/>
          <a:stretch>
            <a:fillRect/>
          </a:stretch>
        </p:blipFill>
        <p:spPr>
          <a:xfrm>
            <a:off x="8746236" y="4306824"/>
            <a:ext cx="256032" cy="256032"/>
          </a:xfrm>
          <a:prstGeom prst="rect">
            <a:avLst/>
          </a:prstGeom>
        </p:spPr>
      </p:pic>
      <p:sp>
        <p:nvSpPr>
          <p:cNvPr id="52" name="Text 40"/>
          <p:cNvSpPr/>
          <p:nvPr/>
        </p:nvSpPr>
        <p:spPr>
          <a:xfrm>
            <a:off x="6263640" y="5394960"/>
            <a:ext cx="525780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Product Details &amp; Analytics View — screenshot placeholder</a:t>
            </a:r>
            <a:endParaRPr lang="en-US" sz="1000" dirty="0"/>
          </a:p>
        </p:txBody>
      </p:sp>
      <p:sp>
        <p:nvSpPr>
          <p:cNvPr id="53" name="Text 41"/>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pic>
        <p:nvPicPr>
          <p:cNvPr id="55" name="Picture 54">
            <a:extLst>
              <a:ext uri="{FF2B5EF4-FFF2-40B4-BE49-F238E27FC236}">
                <a16:creationId xmlns:a16="http://schemas.microsoft.com/office/drawing/2014/main" id="{B0CB540E-96F6-3C40-4C74-266E1DDDB281}"/>
              </a:ext>
            </a:extLst>
          </p:cNvPr>
          <p:cNvPicPr>
            <a:picLocks noChangeAspect="1"/>
          </p:cNvPicPr>
          <p:nvPr/>
        </p:nvPicPr>
        <p:blipFill>
          <a:blip r:embed="rId12"/>
          <a:stretch>
            <a:fillRect/>
          </a:stretch>
        </p:blipFill>
        <p:spPr>
          <a:xfrm>
            <a:off x="693039" y="3447289"/>
            <a:ext cx="5204841" cy="2430616"/>
          </a:xfrm>
          <a:prstGeom prst="rect">
            <a:avLst/>
          </a:prstGeom>
        </p:spPr>
      </p:pic>
      <p:pic>
        <p:nvPicPr>
          <p:cNvPr id="57" name="Picture 56">
            <a:extLst>
              <a:ext uri="{FF2B5EF4-FFF2-40B4-BE49-F238E27FC236}">
                <a16:creationId xmlns:a16="http://schemas.microsoft.com/office/drawing/2014/main" id="{4F2CDDCA-8428-8AF2-DD7C-E801D8269FEA}"/>
              </a:ext>
            </a:extLst>
          </p:cNvPr>
          <p:cNvPicPr>
            <a:picLocks noChangeAspect="1"/>
          </p:cNvPicPr>
          <p:nvPr/>
        </p:nvPicPr>
        <p:blipFill>
          <a:blip r:embed="rId13"/>
          <a:stretch>
            <a:fillRect/>
          </a:stretch>
        </p:blipFill>
        <p:spPr>
          <a:xfrm>
            <a:off x="6263640" y="3447289"/>
            <a:ext cx="5257800" cy="2359151"/>
          </a:xfrm>
          <a:prstGeom prst="rect">
            <a:avLst/>
          </a:prstGeom>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OUTCOMES</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Results &amp; Performance</a:t>
            </a:r>
            <a:endParaRPr lang="en-US" sz="3400" dirty="0"/>
          </a:p>
        </p:txBody>
      </p:sp>
      <p:sp>
        <p:nvSpPr>
          <p:cNvPr id="5" name="Text 2"/>
          <p:cNvSpPr/>
          <p:nvPr/>
        </p:nvSpPr>
        <p:spPr>
          <a:xfrm>
            <a:off x="640080" y="1645920"/>
            <a:ext cx="9601200" cy="640080"/>
          </a:xfrm>
          <a:prstGeom prst="rect">
            <a:avLst/>
          </a:prstGeom>
          <a:noFill/>
          <a:ln/>
        </p:spPr>
        <p:txBody>
          <a:bodyPr wrap="square" lIns="0" tIns="0" rIns="0" bIns="0" rtlCol="0" anchor="ctr"/>
          <a:lstStyle/>
          <a:p>
            <a:pPr marL="0" indent="0">
              <a:lnSpc>
                <a:spcPct val="125000"/>
              </a:lnSpc>
              <a:buNone/>
            </a:pPr>
            <a:r>
              <a:rPr lang="en-US" sz="1250" i="1" dirty="0">
                <a:solidFill>
                  <a:srgbClr val="64748B"/>
                </a:solidFill>
                <a:latin typeface="Calibri" pitchFamily="34" charset="0"/>
                <a:ea typeface="Calibri" pitchFamily="34" charset="-122"/>
                <a:cs typeface="Calibri" pitchFamily="34" charset="-120"/>
              </a:rPr>
              <a:t>Qualitative outcomes observed during testing of the Aurora AI hybrid engine.</a:t>
            </a:r>
            <a:endParaRPr lang="en-US" sz="1250" dirty="0"/>
          </a:p>
          <a:p>
            <a:pPr marL="0" indent="0">
              <a:lnSpc>
                <a:spcPct val="125000"/>
              </a:lnSpc>
              <a:buNone/>
            </a:pPr>
            <a:r>
              <a:rPr lang="en-US" sz="1250" i="1" dirty="0">
                <a:solidFill>
                  <a:srgbClr val="64748B"/>
                </a:solidFill>
                <a:latin typeface="Calibri" pitchFamily="34" charset="0"/>
                <a:ea typeface="Calibri" pitchFamily="34" charset="-122"/>
                <a:cs typeface="Calibri" pitchFamily="34" charset="-120"/>
              </a:rPr>
              <a:t>Replace this panel with your measured metrics (precision, RMSE, response time, etc.).</a:t>
            </a:r>
            <a:endParaRPr lang="en-US" sz="1250" dirty="0"/>
          </a:p>
        </p:txBody>
      </p:sp>
      <p:sp>
        <p:nvSpPr>
          <p:cNvPr id="6" name="Shape 3"/>
          <p:cNvSpPr/>
          <p:nvPr/>
        </p:nvSpPr>
        <p:spPr>
          <a:xfrm>
            <a:off x="640080" y="2514600"/>
            <a:ext cx="3429000" cy="2286000"/>
          </a:xfrm>
          <a:prstGeom prst="roundRect">
            <a:avLst>
              <a:gd name="adj" fmla="val 48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7" name="Shape 4"/>
          <p:cNvSpPr/>
          <p:nvPr/>
        </p:nvSpPr>
        <p:spPr>
          <a:xfrm>
            <a:off x="1965960" y="2788920"/>
            <a:ext cx="777240" cy="777240"/>
          </a:xfrm>
          <a:prstGeom prst="ellipse">
            <a:avLst/>
          </a:prstGeom>
          <a:solidFill>
            <a:srgbClr val="E5F7FA"/>
          </a:solidFill>
          <a:ln/>
        </p:spPr>
        <p:txBody>
          <a:bodyPr/>
          <a:lstStyle/>
          <a:p>
            <a:endParaRPr lang="en-US"/>
          </a:p>
        </p:txBody>
      </p:sp>
      <p:pic>
        <p:nvPicPr>
          <p:cNvPr id="8" name="Image 1" descr="/home/claude/aurora/icons/check_1E3FD6.png"/>
          <p:cNvPicPr>
            <a:picLocks noChangeAspect="1"/>
          </p:cNvPicPr>
          <p:nvPr/>
        </p:nvPicPr>
        <p:blipFill>
          <a:blip r:embed="rId4"/>
          <a:stretch>
            <a:fillRect/>
          </a:stretch>
        </p:blipFill>
        <p:spPr>
          <a:xfrm>
            <a:off x="2160270" y="2983230"/>
            <a:ext cx="388620" cy="388620"/>
          </a:xfrm>
          <a:prstGeom prst="rect">
            <a:avLst/>
          </a:prstGeom>
        </p:spPr>
      </p:pic>
      <p:sp>
        <p:nvSpPr>
          <p:cNvPr id="9" name="Text 5"/>
          <p:cNvSpPr/>
          <p:nvPr/>
        </p:nvSpPr>
        <p:spPr>
          <a:xfrm>
            <a:off x="822960" y="3703320"/>
            <a:ext cx="3063240" cy="457200"/>
          </a:xfrm>
          <a:prstGeom prst="rect">
            <a:avLst/>
          </a:prstGeom>
          <a:noFill/>
          <a:ln/>
        </p:spPr>
        <p:txBody>
          <a:bodyPr wrap="square" lIns="0" tIns="0" rIns="0" bIns="0" rtlCol="0" anchor="ctr"/>
          <a:lstStyle/>
          <a:p>
            <a:pPr marL="0" indent="0" algn="ctr">
              <a:buNone/>
            </a:pPr>
            <a:r>
              <a:rPr lang="en-US" sz="1350" b="1" dirty="0">
                <a:solidFill>
                  <a:srgbClr val="1E293B"/>
                </a:solidFill>
                <a:latin typeface="Cambria" pitchFamily="34" charset="0"/>
                <a:ea typeface="Cambria" pitchFamily="34" charset="-122"/>
                <a:cs typeface="Cambria" pitchFamily="34" charset="-120"/>
              </a:rPr>
              <a:t>Relevant Recommendations</a:t>
            </a:r>
            <a:endParaRPr lang="en-US" sz="1350" dirty="0"/>
          </a:p>
        </p:txBody>
      </p:sp>
      <p:sp>
        <p:nvSpPr>
          <p:cNvPr id="10" name="Text 6"/>
          <p:cNvSpPr/>
          <p:nvPr/>
        </p:nvSpPr>
        <p:spPr>
          <a:xfrm>
            <a:off x="868680" y="4160520"/>
            <a:ext cx="2971800" cy="5943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Hybrid model surfaces items closely aligned with user interest.</a:t>
            </a:r>
            <a:endParaRPr lang="en-US" sz="1050" dirty="0"/>
          </a:p>
        </p:txBody>
      </p:sp>
      <p:sp>
        <p:nvSpPr>
          <p:cNvPr id="11" name="Shape 7"/>
          <p:cNvSpPr/>
          <p:nvPr/>
        </p:nvSpPr>
        <p:spPr>
          <a:xfrm>
            <a:off x="4389120" y="2514600"/>
            <a:ext cx="3429000" cy="2286000"/>
          </a:xfrm>
          <a:prstGeom prst="roundRect">
            <a:avLst>
              <a:gd name="adj" fmla="val 48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2" name="Shape 8"/>
          <p:cNvSpPr/>
          <p:nvPr/>
        </p:nvSpPr>
        <p:spPr>
          <a:xfrm>
            <a:off x="5715000" y="2788920"/>
            <a:ext cx="777240" cy="777240"/>
          </a:xfrm>
          <a:prstGeom prst="ellipse">
            <a:avLst/>
          </a:prstGeom>
          <a:solidFill>
            <a:srgbClr val="E5F7FA"/>
          </a:solidFill>
          <a:ln/>
        </p:spPr>
        <p:txBody>
          <a:bodyPr/>
          <a:lstStyle/>
          <a:p>
            <a:endParaRPr lang="en-US"/>
          </a:p>
        </p:txBody>
      </p:sp>
      <p:pic>
        <p:nvPicPr>
          <p:cNvPr id="13" name="Image 2" descr="/home/claude/aurora/icons/bolt_1E3FD6.png"/>
          <p:cNvPicPr>
            <a:picLocks noChangeAspect="1"/>
          </p:cNvPicPr>
          <p:nvPr/>
        </p:nvPicPr>
        <p:blipFill>
          <a:blip r:embed="rId5"/>
          <a:stretch>
            <a:fillRect/>
          </a:stretch>
        </p:blipFill>
        <p:spPr>
          <a:xfrm>
            <a:off x="5909310" y="2983230"/>
            <a:ext cx="388620" cy="388620"/>
          </a:xfrm>
          <a:prstGeom prst="rect">
            <a:avLst/>
          </a:prstGeom>
        </p:spPr>
      </p:pic>
      <p:sp>
        <p:nvSpPr>
          <p:cNvPr id="14" name="Text 9"/>
          <p:cNvSpPr/>
          <p:nvPr/>
        </p:nvSpPr>
        <p:spPr>
          <a:xfrm>
            <a:off x="4572000" y="3703320"/>
            <a:ext cx="3063240" cy="457200"/>
          </a:xfrm>
          <a:prstGeom prst="rect">
            <a:avLst/>
          </a:prstGeom>
          <a:noFill/>
          <a:ln/>
        </p:spPr>
        <p:txBody>
          <a:bodyPr wrap="square" lIns="0" tIns="0" rIns="0" bIns="0" rtlCol="0" anchor="ctr"/>
          <a:lstStyle/>
          <a:p>
            <a:pPr marL="0" indent="0" algn="ctr">
              <a:buNone/>
            </a:pPr>
            <a:r>
              <a:rPr lang="en-US" sz="1350" b="1" dirty="0">
                <a:solidFill>
                  <a:srgbClr val="1E293B"/>
                </a:solidFill>
                <a:latin typeface="Cambria" pitchFamily="34" charset="0"/>
                <a:ea typeface="Cambria" pitchFamily="34" charset="-122"/>
                <a:cs typeface="Cambria" pitchFamily="34" charset="-120"/>
              </a:rPr>
              <a:t>Fast Response</a:t>
            </a:r>
            <a:endParaRPr lang="en-US" sz="1350" dirty="0"/>
          </a:p>
        </p:txBody>
      </p:sp>
      <p:sp>
        <p:nvSpPr>
          <p:cNvPr id="15" name="Text 10"/>
          <p:cNvSpPr/>
          <p:nvPr/>
        </p:nvSpPr>
        <p:spPr>
          <a:xfrm>
            <a:off x="4617720" y="4160520"/>
            <a:ext cx="2971800" cy="5943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Recommendations are generated and returned with minimal delay.</a:t>
            </a:r>
            <a:endParaRPr lang="en-US" sz="1050" dirty="0"/>
          </a:p>
        </p:txBody>
      </p:sp>
      <p:sp>
        <p:nvSpPr>
          <p:cNvPr id="16" name="Shape 11"/>
          <p:cNvSpPr/>
          <p:nvPr/>
        </p:nvSpPr>
        <p:spPr>
          <a:xfrm>
            <a:off x="8138160" y="2514600"/>
            <a:ext cx="3429000" cy="2286000"/>
          </a:xfrm>
          <a:prstGeom prst="roundRect">
            <a:avLst>
              <a:gd name="adj" fmla="val 4800"/>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7" name="Shape 12"/>
          <p:cNvSpPr/>
          <p:nvPr/>
        </p:nvSpPr>
        <p:spPr>
          <a:xfrm>
            <a:off x="9464040" y="2788920"/>
            <a:ext cx="777240" cy="777240"/>
          </a:xfrm>
          <a:prstGeom prst="ellipse">
            <a:avLst/>
          </a:prstGeom>
          <a:solidFill>
            <a:srgbClr val="E5F7FA"/>
          </a:solidFill>
          <a:ln/>
        </p:spPr>
        <p:txBody>
          <a:bodyPr/>
          <a:lstStyle/>
          <a:p>
            <a:endParaRPr lang="en-US"/>
          </a:p>
        </p:txBody>
      </p:sp>
      <p:pic>
        <p:nvPicPr>
          <p:cNvPr id="18" name="Image 3" descr="/home/claude/aurora/icons/heart_1E3FD6.png"/>
          <p:cNvPicPr>
            <a:picLocks noChangeAspect="1"/>
          </p:cNvPicPr>
          <p:nvPr/>
        </p:nvPicPr>
        <p:blipFill>
          <a:blip r:embed="rId6"/>
          <a:stretch>
            <a:fillRect/>
          </a:stretch>
        </p:blipFill>
        <p:spPr>
          <a:xfrm>
            <a:off x="9658350" y="2983230"/>
            <a:ext cx="388620" cy="388620"/>
          </a:xfrm>
          <a:prstGeom prst="rect">
            <a:avLst/>
          </a:prstGeom>
        </p:spPr>
      </p:pic>
      <p:sp>
        <p:nvSpPr>
          <p:cNvPr id="19" name="Text 13"/>
          <p:cNvSpPr/>
          <p:nvPr/>
        </p:nvSpPr>
        <p:spPr>
          <a:xfrm>
            <a:off x="8321040" y="3703320"/>
            <a:ext cx="3063240" cy="457200"/>
          </a:xfrm>
          <a:prstGeom prst="rect">
            <a:avLst/>
          </a:prstGeom>
          <a:noFill/>
          <a:ln/>
        </p:spPr>
        <p:txBody>
          <a:bodyPr wrap="square" lIns="0" tIns="0" rIns="0" bIns="0" rtlCol="0" anchor="ctr"/>
          <a:lstStyle/>
          <a:p>
            <a:pPr marL="0" indent="0" algn="ctr">
              <a:buNone/>
            </a:pPr>
            <a:r>
              <a:rPr lang="en-US" sz="1350" b="1" dirty="0">
                <a:solidFill>
                  <a:srgbClr val="1E293B"/>
                </a:solidFill>
                <a:latin typeface="Cambria" pitchFamily="34" charset="0"/>
                <a:ea typeface="Cambria" pitchFamily="34" charset="-122"/>
                <a:cs typeface="Cambria" pitchFamily="34" charset="-120"/>
              </a:rPr>
              <a:t>Positive User Experience</a:t>
            </a:r>
            <a:endParaRPr lang="en-US" sz="1350" dirty="0"/>
          </a:p>
        </p:txBody>
      </p:sp>
      <p:sp>
        <p:nvSpPr>
          <p:cNvPr id="20" name="Text 14"/>
          <p:cNvSpPr/>
          <p:nvPr/>
        </p:nvSpPr>
        <p:spPr>
          <a:xfrm>
            <a:off x="8366760" y="4160520"/>
            <a:ext cx="2971800" cy="594360"/>
          </a:xfrm>
          <a:prstGeom prst="rect">
            <a:avLst/>
          </a:prstGeom>
          <a:noFill/>
          <a:ln/>
        </p:spPr>
        <p:txBody>
          <a:bodyPr wrap="square" lIns="0" tIns="0" rIns="0" bIns="0" rtlCol="0" anchor="ctr"/>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Testers reported an easier, more guided browsing experience.</a:t>
            </a:r>
            <a:endParaRPr lang="en-US" sz="1050" dirty="0"/>
          </a:p>
        </p:txBody>
      </p:sp>
      <p:sp>
        <p:nvSpPr>
          <p:cNvPr id="21" name="Shape 15"/>
          <p:cNvSpPr/>
          <p:nvPr/>
        </p:nvSpPr>
        <p:spPr>
          <a:xfrm>
            <a:off x="640080" y="5074920"/>
            <a:ext cx="10881360" cy="868680"/>
          </a:xfrm>
          <a:prstGeom prst="roundRect">
            <a:avLst>
              <a:gd name="adj" fmla="val 12632"/>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2" name="Shape 16"/>
          <p:cNvSpPr/>
          <p:nvPr/>
        </p:nvSpPr>
        <p:spPr>
          <a:xfrm>
            <a:off x="868680" y="5230368"/>
            <a:ext cx="502920" cy="502920"/>
          </a:xfrm>
          <a:prstGeom prst="ellipse">
            <a:avLst/>
          </a:prstGeom>
          <a:solidFill>
            <a:srgbClr val="FFFFFF"/>
          </a:solidFill>
          <a:ln/>
        </p:spPr>
        <p:txBody>
          <a:bodyPr/>
          <a:lstStyle/>
          <a:p>
            <a:endParaRPr lang="en-US"/>
          </a:p>
        </p:txBody>
      </p:sp>
      <p:pic>
        <p:nvPicPr>
          <p:cNvPr id="23" name="Image 4" descr="/home/claude/aurora/icons/triangleWarn_7C3AED.png"/>
          <p:cNvPicPr>
            <a:picLocks noChangeAspect="1"/>
          </p:cNvPicPr>
          <p:nvPr/>
        </p:nvPicPr>
        <p:blipFill>
          <a:blip r:embed="rId7"/>
          <a:stretch>
            <a:fillRect/>
          </a:stretch>
        </p:blipFill>
        <p:spPr>
          <a:xfrm>
            <a:off x="981837" y="5343525"/>
            <a:ext cx="276606" cy="276606"/>
          </a:xfrm>
          <a:prstGeom prst="rect">
            <a:avLst/>
          </a:prstGeom>
        </p:spPr>
      </p:pic>
      <p:sp>
        <p:nvSpPr>
          <p:cNvPr id="24" name="Text 17"/>
          <p:cNvSpPr/>
          <p:nvPr/>
        </p:nvSpPr>
        <p:spPr>
          <a:xfrm>
            <a:off x="1508760" y="5120640"/>
            <a:ext cx="9784080" cy="685800"/>
          </a:xfrm>
          <a:prstGeom prst="rect">
            <a:avLst/>
          </a:prstGeom>
          <a:noFill/>
          <a:ln/>
        </p:spPr>
        <p:txBody>
          <a:bodyPr wrap="square" lIns="0" tIns="0" rIns="0" bIns="0" rtlCol="0" anchor="ctr"/>
          <a:lstStyle/>
          <a:p>
            <a:pPr marL="0" indent="0">
              <a:buNone/>
            </a:pPr>
            <a:r>
              <a:rPr lang="en-US" sz="1150" i="1" dirty="0">
                <a:solidFill>
                  <a:srgbClr val="1E293B"/>
                </a:solidFill>
                <a:latin typeface="Calibri" pitchFamily="34" charset="0"/>
                <a:ea typeface="Calibri" pitchFamily="34" charset="-122"/>
                <a:cs typeface="Calibri" pitchFamily="34" charset="-120"/>
              </a:rPr>
              <a:t>Add your real evaluation numbers here (e.g. Precision@K, RMSE, average response time) before presenting to the panel.</a:t>
            </a:r>
            <a:endParaRPr lang="en-US" sz="1150" dirty="0"/>
          </a:p>
        </p:txBody>
      </p:sp>
      <p:sp>
        <p:nvSpPr>
          <p:cNvPr id="25" name="Text 18"/>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EVALUATION</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Advantages &amp; Limitations</a:t>
            </a:r>
            <a:endParaRPr lang="en-US" sz="3400" dirty="0"/>
          </a:p>
        </p:txBody>
      </p:sp>
      <p:sp>
        <p:nvSpPr>
          <p:cNvPr id="5" name="Shape 2"/>
          <p:cNvSpPr/>
          <p:nvPr/>
        </p:nvSpPr>
        <p:spPr>
          <a:xfrm>
            <a:off x="640080" y="1783080"/>
            <a:ext cx="5257800" cy="4160520"/>
          </a:xfrm>
          <a:prstGeom prst="roundRect">
            <a:avLst>
              <a:gd name="adj" fmla="val 2637"/>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914400" y="2011680"/>
            <a:ext cx="548640" cy="548640"/>
          </a:xfrm>
          <a:prstGeom prst="ellipse">
            <a:avLst/>
          </a:prstGeom>
          <a:solidFill>
            <a:srgbClr val="E5F7FA"/>
          </a:solidFill>
          <a:ln/>
        </p:spPr>
        <p:txBody>
          <a:bodyPr/>
          <a:lstStyle/>
          <a:p>
            <a:endParaRPr lang="en-US"/>
          </a:p>
        </p:txBody>
      </p:sp>
      <p:pic>
        <p:nvPicPr>
          <p:cNvPr id="7" name="Image 1" descr="/home/claude/aurora/icons/thumbsUp_1E3FD6.png"/>
          <p:cNvPicPr>
            <a:picLocks noChangeAspect="1"/>
          </p:cNvPicPr>
          <p:nvPr/>
        </p:nvPicPr>
        <p:blipFill>
          <a:blip r:embed="rId4"/>
          <a:stretch>
            <a:fillRect/>
          </a:stretch>
        </p:blipFill>
        <p:spPr>
          <a:xfrm>
            <a:off x="1037844" y="2135124"/>
            <a:ext cx="301752" cy="301752"/>
          </a:xfrm>
          <a:prstGeom prst="rect">
            <a:avLst/>
          </a:prstGeom>
        </p:spPr>
      </p:pic>
      <p:sp>
        <p:nvSpPr>
          <p:cNvPr id="8" name="Text 4"/>
          <p:cNvSpPr/>
          <p:nvPr/>
        </p:nvSpPr>
        <p:spPr>
          <a:xfrm>
            <a:off x="1600200" y="2084832"/>
            <a:ext cx="4023360" cy="411480"/>
          </a:xfrm>
          <a:prstGeom prst="rect">
            <a:avLst/>
          </a:prstGeom>
          <a:noFill/>
          <a:ln/>
        </p:spPr>
        <p:txBody>
          <a:bodyPr wrap="square" lIns="0" tIns="0" rIns="0" bIns="0" rtlCol="0" anchor="ctr"/>
          <a:lstStyle/>
          <a:p>
            <a:pPr marL="0" indent="0">
              <a:buNone/>
            </a:pPr>
            <a:r>
              <a:rPr lang="en-US" sz="1700" b="1" dirty="0">
                <a:solidFill>
                  <a:srgbClr val="1E293B"/>
                </a:solidFill>
                <a:latin typeface="Cambria" pitchFamily="34" charset="0"/>
                <a:ea typeface="Cambria" pitchFamily="34" charset="-122"/>
                <a:cs typeface="Cambria" pitchFamily="34" charset="-120"/>
              </a:rPr>
              <a:t>Advantages</a:t>
            </a:r>
            <a:endParaRPr lang="en-US" sz="1700" dirty="0"/>
          </a:p>
        </p:txBody>
      </p:sp>
      <p:sp>
        <p:nvSpPr>
          <p:cNvPr id="9" name="Shape 5"/>
          <p:cNvSpPr/>
          <p:nvPr/>
        </p:nvSpPr>
        <p:spPr>
          <a:xfrm>
            <a:off x="914400" y="2788920"/>
            <a:ext cx="365760" cy="365760"/>
          </a:xfrm>
          <a:prstGeom prst="ellipse">
            <a:avLst/>
          </a:prstGeom>
          <a:solidFill>
            <a:srgbClr val="F7F9FF"/>
          </a:solidFill>
          <a:ln/>
        </p:spPr>
        <p:txBody>
          <a:bodyPr/>
          <a:lstStyle/>
          <a:p>
            <a:endParaRPr lang="en-US"/>
          </a:p>
        </p:txBody>
      </p:sp>
      <p:pic>
        <p:nvPicPr>
          <p:cNvPr id="10" name="Image 2" descr="/home/claude/aurora/icons/plus_1E3FD6.png"/>
          <p:cNvPicPr>
            <a:picLocks noChangeAspect="1"/>
          </p:cNvPicPr>
          <p:nvPr/>
        </p:nvPicPr>
        <p:blipFill>
          <a:blip r:embed="rId5"/>
          <a:stretch>
            <a:fillRect/>
          </a:stretch>
        </p:blipFill>
        <p:spPr>
          <a:xfrm>
            <a:off x="987552" y="2862072"/>
            <a:ext cx="219456" cy="219456"/>
          </a:xfrm>
          <a:prstGeom prst="rect">
            <a:avLst/>
          </a:prstGeom>
        </p:spPr>
      </p:pic>
      <p:sp>
        <p:nvSpPr>
          <p:cNvPr id="11" name="Text 6"/>
          <p:cNvSpPr/>
          <p:nvPr/>
        </p:nvSpPr>
        <p:spPr>
          <a:xfrm>
            <a:off x="1417320" y="2743200"/>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Personalized results improve relevance for every user</a:t>
            </a:r>
            <a:endParaRPr lang="en-US" sz="1200" dirty="0"/>
          </a:p>
        </p:txBody>
      </p:sp>
      <p:sp>
        <p:nvSpPr>
          <p:cNvPr id="12" name="Shape 7"/>
          <p:cNvSpPr/>
          <p:nvPr/>
        </p:nvSpPr>
        <p:spPr>
          <a:xfrm>
            <a:off x="914400" y="3538728"/>
            <a:ext cx="365760" cy="365760"/>
          </a:xfrm>
          <a:prstGeom prst="ellipse">
            <a:avLst/>
          </a:prstGeom>
          <a:solidFill>
            <a:srgbClr val="F7F9FF"/>
          </a:solidFill>
          <a:ln/>
        </p:spPr>
        <p:txBody>
          <a:bodyPr/>
          <a:lstStyle/>
          <a:p>
            <a:endParaRPr lang="en-US"/>
          </a:p>
        </p:txBody>
      </p:sp>
      <p:pic>
        <p:nvPicPr>
          <p:cNvPr id="13" name="Image 3" descr="/home/claude/aurora/icons/plus_1E3FD6.png"/>
          <p:cNvPicPr>
            <a:picLocks noChangeAspect="1"/>
          </p:cNvPicPr>
          <p:nvPr/>
        </p:nvPicPr>
        <p:blipFill>
          <a:blip r:embed="rId5"/>
          <a:stretch>
            <a:fillRect/>
          </a:stretch>
        </p:blipFill>
        <p:spPr>
          <a:xfrm>
            <a:off x="987552" y="3611880"/>
            <a:ext cx="219456" cy="219456"/>
          </a:xfrm>
          <a:prstGeom prst="rect">
            <a:avLst/>
          </a:prstGeom>
        </p:spPr>
      </p:pic>
      <p:sp>
        <p:nvSpPr>
          <p:cNvPr id="14" name="Text 8"/>
          <p:cNvSpPr/>
          <p:nvPr/>
        </p:nvSpPr>
        <p:spPr>
          <a:xfrm>
            <a:off x="1417320" y="3493008"/>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Hybrid design overcomes weaknesses of a single method</a:t>
            </a:r>
            <a:endParaRPr lang="en-US" sz="1200" dirty="0"/>
          </a:p>
        </p:txBody>
      </p:sp>
      <p:sp>
        <p:nvSpPr>
          <p:cNvPr id="15" name="Shape 9"/>
          <p:cNvSpPr/>
          <p:nvPr/>
        </p:nvSpPr>
        <p:spPr>
          <a:xfrm>
            <a:off x="914400" y="4288536"/>
            <a:ext cx="365760" cy="365760"/>
          </a:xfrm>
          <a:prstGeom prst="ellipse">
            <a:avLst/>
          </a:prstGeom>
          <a:solidFill>
            <a:srgbClr val="F7F9FF"/>
          </a:solidFill>
          <a:ln/>
        </p:spPr>
        <p:txBody>
          <a:bodyPr/>
          <a:lstStyle/>
          <a:p>
            <a:endParaRPr lang="en-US"/>
          </a:p>
        </p:txBody>
      </p:sp>
      <p:pic>
        <p:nvPicPr>
          <p:cNvPr id="16" name="Image 4" descr="/home/claude/aurora/icons/plus_1E3FD6.png"/>
          <p:cNvPicPr>
            <a:picLocks noChangeAspect="1"/>
          </p:cNvPicPr>
          <p:nvPr/>
        </p:nvPicPr>
        <p:blipFill>
          <a:blip r:embed="rId5"/>
          <a:stretch>
            <a:fillRect/>
          </a:stretch>
        </p:blipFill>
        <p:spPr>
          <a:xfrm>
            <a:off x="987552" y="4361688"/>
            <a:ext cx="219456" cy="219456"/>
          </a:xfrm>
          <a:prstGeom prst="rect">
            <a:avLst/>
          </a:prstGeom>
        </p:spPr>
      </p:pic>
      <p:sp>
        <p:nvSpPr>
          <p:cNvPr id="17" name="Text 10"/>
          <p:cNvSpPr/>
          <p:nvPr/>
        </p:nvSpPr>
        <p:spPr>
          <a:xfrm>
            <a:off x="1417320" y="4242816"/>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Reduces search and decision time for shoppers</a:t>
            </a:r>
            <a:endParaRPr lang="en-US" sz="1200" dirty="0"/>
          </a:p>
        </p:txBody>
      </p:sp>
      <p:sp>
        <p:nvSpPr>
          <p:cNvPr id="18" name="Shape 11"/>
          <p:cNvSpPr/>
          <p:nvPr/>
        </p:nvSpPr>
        <p:spPr>
          <a:xfrm>
            <a:off x="914400" y="5038344"/>
            <a:ext cx="365760" cy="365760"/>
          </a:xfrm>
          <a:prstGeom prst="ellipse">
            <a:avLst/>
          </a:prstGeom>
          <a:solidFill>
            <a:srgbClr val="F7F9FF"/>
          </a:solidFill>
          <a:ln/>
        </p:spPr>
        <p:txBody>
          <a:bodyPr/>
          <a:lstStyle/>
          <a:p>
            <a:endParaRPr lang="en-US"/>
          </a:p>
        </p:txBody>
      </p:sp>
      <p:pic>
        <p:nvPicPr>
          <p:cNvPr id="19" name="Image 5" descr="/home/claude/aurora/icons/plus_1E3FD6.png"/>
          <p:cNvPicPr>
            <a:picLocks noChangeAspect="1"/>
          </p:cNvPicPr>
          <p:nvPr/>
        </p:nvPicPr>
        <p:blipFill>
          <a:blip r:embed="rId5"/>
          <a:stretch>
            <a:fillRect/>
          </a:stretch>
        </p:blipFill>
        <p:spPr>
          <a:xfrm>
            <a:off x="987552" y="5111496"/>
            <a:ext cx="219456" cy="219456"/>
          </a:xfrm>
          <a:prstGeom prst="rect">
            <a:avLst/>
          </a:prstGeom>
        </p:spPr>
      </p:pic>
      <p:sp>
        <p:nvSpPr>
          <p:cNvPr id="20" name="Text 12"/>
          <p:cNvSpPr/>
          <p:nvPr/>
        </p:nvSpPr>
        <p:spPr>
          <a:xfrm>
            <a:off x="1417320" y="4992624"/>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Scales to large, growing product catalogs</a:t>
            </a:r>
            <a:endParaRPr lang="en-US" sz="1200" dirty="0"/>
          </a:p>
        </p:txBody>
      </p:sp>
      <p:sp>
        <p:nvSpPr>
          <p:cNvPr id="21" name="Shape 13"/>
          <p:cNvSpPr/>
          <p:nvPr/>
        </p:nvSpPr>
        <p:spPr>
          <a:xfrm>
            <a:off x="6263640" y="1783080"/>
            <a:ext cx="5257800" cy="4160520"/>
          </a:xfrm>
          <a:prstGeom prst="roundRect">
            <a:avLst>
              <a:gd name="adj" fmla="val 2637"/>
            </a:avLst>
          </a:prstGeom>
          <a:solidFill>
            <a:srgbClr val="F7F9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2" name="Shape 14"/>
          <p:cNvSpPr/>
          <p:nvPr/>
        </p:nvSpPr>
        <p:spPr>
          <a:xfrm>
            <a:off x="6537960" y="2011680"/>
            <a:ext cx="548640" cy="548640"/>
          </a:xfrm>
          <a:prstGeom prst="ellipse">
            <a:avLst/>
          </a:prstGeom>
          <a:solidFill>
            <a:srgbClr val="FFFFFF"/>
          </a:solidFill>
          <a:ln/>
        </p:spPr>
        <p:txBody>
          <a:bodyPr/>
          <a:lstStyle/>
          <a:p>
            <a:endParaRPr lang="en-US"/>
          </a:p>
        </p:txBody>
      </p:sp>
      <p:pic>
        <p:nvPicPr>
          <p:cNvPr id="23" name="Image 6" descr="/home/claude/aurora/icons/triangleWarn_7C3AED.png"/>
          <p:cNvPicPr>
            <a:picLocks noChangeAspect="1"/>
          </p:cNvPicPr>
          <p:nvPr/>
        </p:nvPicPr>
        <p:blipFill>
          <a:blip r:embed="rId6"/>
          <a:stretch>
            <a:fillRect/>
          </a:stretch>
        </p:blipFill>
        <p:spPr>
          <a:xfrm>
            <a:off x="6661404" y="2135124"/>
            <a:ext cx="301752" cy="301752"/>
          </a:xfrm>
          <a:prstGeom prst="rect">
            <a:avLst/>
          </a:prstGeom>
        </p:spPr>
      </p:pic>
      <p:sp>
        <p:nvSpPr>
          <p:cNvPr id="24" name="Text 15"/>
          <p:cNvSpPr/>
          <p:nvPr/>
        </p:nvSpPr>
        <p:spPr>
          <a:xfrm>
            <a:off x="7223760" y="2084832"/>
            <a:ext cx="4023360" cy="411480"/>
          </a:xfrm>
          <a:prstGeom prst="rect">
            <a:avLst/>
          </a:prstGeom>
          <a:noFill/>
          <a:ln/>
        </p:spPr>
        <p:txBody>
          <a:bodyPr wrap="square" lIns="0" tIns="0" rIns="0" bIns="0" rtlCol="0" anchor="ctr"/>
          <a:lstStyle/>
          <a:p>
            <a:pPr marL="0" indent="0">
              <a:buNone/>
            </a:pPr>
            <a:r>
              <a:rPr lang="en-US" sz="1700" b="1" dirty="0">
                <a:solidFill>
                  <a:srgbClr val="1E293B"/>
                </a:solidFill>
                <a:latin typeface="Cambria" pitchFamily="34" charset="0"/>
                <a:ea typeface="Cambria" pitchFamily="34" charset="-122"/>
                <a:cs typeface="Cambria" pitchFamily="34" charset="-120"/>
              </a:rPr>
              <a:t>Limitations</a:t>
            </a:r>
            <a:endParaRPr lang="en-US" sz="1700" dirty="0"/>
          </a:p>
        </p:txBody>
      </p:sp>
      <p:sp>
        <p:nvSpPr>
          <p:cNvPr id="25" name="Shape 16"/>
          <p:cNvSpPr/>
          <p:nvPr/>
        </p:nvSpPr>
        <p:spPr>
          <a:xfrm>
            <a:off x="6537960" y="2788920"/>
            <a:ext cx="365760" cy="365760"/>
          </a:xfrm>
          <a:prstGeom prst="ellipse">
            <a:avLst/>
          </a:prstGeom>
          <a:solidFill>
            <a:srgbClr val="FFFFFF"/>
          </a:solidFill>
          <a:ln/>
        </p:spPr>
        <p:txBody>
          <a:bodyPr/>
          <a:lstStyle/>
          <a:p>
            <a:endParaRPr lang="en-US"/>
          </a:p>
        </p:txBody>
      </p:sp>
      <p:pic>
        <p:nvPicPr>
          <p:cNvPr id="26" name="Image 7" descr="/home/claude/aurora/icons/minus_7C3AED.png"/>
          <p:cNvPicPr>
            <a:picLocks noChangeAspect="1"/>
          </p:cNvPicPr>
          <p:nvPr/>
        </p:nvPicPr>
        <p:blipFill>
          <a:blip r:embed="rId7"/>
          <a:stretch>
            <a:fillRect/>
          </a:stretch>
        </p:blipFill>
        <p:spPr>
          <a:xfrm>
            <a:off x="6611112" y="2862072"/>
            <a:ext cx="219456" cy="219456"/>
          </a:xfrm>
          <a:prstGeom prst="rect">
            <a:avLst/>
          </a:prstGeom>
        </p:spPr>
      </p:pic>
      <p:sp>
        <p:nvSpPr>
          <p:cNvPr id="27" name="Text 17"/>
          <p:cNvSpPr/>
          <p:nvPr/>
        </p:nvSpPr>
        <p:spPr>
          <a:xfrm>
            <a:off x="7040880" y="2743200"/>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Cold-start problem for brand-new users or products</a:t>
            </a:r>
            <a:endParaRPr lang="en-US" sz="1200" dirty="0"/>
          </a:p>
        </p:txBody>
      </p:sp>
      <p:sp>
        <p:nvSpPr>
          <p:cNvPr id="28" name="Shape 18"/>
          <p:cNvSpPr/>
          <p:nvPr/>
        </p:nvSpPr>
        <p:spPr>
          <a:xfrm>
            <a:off x="6537960" y="3538728"/>
            <a:ext cx="365760" cy="365760"/>
          </a:xfrm>
          <a:prstGeom prst="ellipse">
            <a:avLst/>
          </a:prstGeom>
          <a:solidFill>
            <a:srgbClr val="FFFFFF"/>
          </a:solidFill>
          <a:ln/>
        </p:spPr>
        <p:txBody>
          <a:bodyPr/>
          <a:lstStyle/>
          <a:p>
            <a:endParaRPr lang="en-US"/>
          </a:p>
        </p:txBody>
      </p:sp>
      <p:pic>
        <p:nvPicPr>
          <p:cNvPr id="29" name="Image 8" descr="/home/claude/aurora/icons/minus_7C3AED.png"/>
          <p:cNvPicPr>
            <a:picLocks noChangeAspect="1"/>
          </p:cNvPicPr>
          <p:nvPr/>
        </p:nvPicPr>
        <p:blipFill>
          <a:blip r:embed="rId7"/>
          <a:stretch>
            <a:fillRect/>
          </a:stretch>
        </p:blipFill>
        <p:spPr>
          <a:xfrm>
            <a:off x="6611112" y="3611880"/>
            <a:ext cx="219456" cy="219456"/>
          </a:xfrm>
          <a:prstGeom prst="rect">
            <a:avLst/>
          </a:prstGeom>
        </p:spPr>
      </p:pic>
      <p:sp>
        <p:nvSpPr>
          <p:cNvPr id="30" name="Text 19"/>
          <p:cNvSpPr/>
          <p:nvPr/>
        </p:nvSpPr>
        <p:spPr>
          <a:xfrm>
            <a:off x="7040880" y="3493008"/>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Model quality depends heavily on rating data volume</a:t>
            </a:r>
            <a:endParaRPr lang="en-US" sz="1200" dirty="0"/>
          </a:p>
        </p:txBody>
      </p:sp>
      <p:sp>
        <p:nvSpPr>
          <p:cNvPr id="31" name="Shape 20"/>
          <p:cNvSpPr/>
          <p:nvPr/>
        </p:nvSpPr>
        <p:spPr>
          <a:xfrm>
            <a:off x="6537960" y="4288536"/>
            <a:ext cx="365760" cy="365760"/>
          </a:xfrm>
          <a:prstGeom prst="ellipse">
            <a:avLst/>
          </a:prstGeom>
          <a:solidFill>
            <a:srgbClr val="FFFFFF"/>
          </a:solidFill>
          <a:ln/>
        </p:spPr>
        <p:txBody>
          <a:bodyPr/>
          <a:lstStyle/>
          <a:p>
            <a:endParaRPr lang="en-US"/>
          </a:p>
        </p:txBody>
      </p:sp>
      <p:pic>
        <p:nvPicPr>
          <p:cNvPr id="32" name="Image 9" descr="/home/claude/aurora/icons/minus_7C3AED.png"/>
          <p:cNvPicPr>
            <a:picLocks noChangeAspect="1"/>
          </p:cNvPicPr>
          <p:nvPr/>
        </p:nvPicPr>
        <p:blipFill>
          <a:blip r:embed="rId7"/>
          <a:stretch>
            <a:fillRect/>
          </a:stretch>
        </p:blipFill>
        <p:spPr>
          <a:xfrm>
            <a:off x="6611112" y="4361688"/>
            <a:ext cx="219456" cy="219456"/>
          </a:xfrm>
          <a:prstGeom prst="rect">
            <a:avLst/>
          </a:prstGeom>
        </p:spPr>
      </p:pic>
      <p:sp>
        <p:nvSpPr>
          <p:cNvPr id="33" name="Text 21"/>
          <p:cNvSpPr/>
          <p:nvPr/>
        </p:nvSpPr>
        <p:spPr>
          <a:xfrm>
            <a:off x="7040880" y="4242816"/>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Periodic retraining is needed as the catalog changes</a:t>
            </a:r>
            <a:endParaRPr lang="en-US" sz="1200" dirty="0"/>
          </a:p>
        </p:txBody>
      </p:sp>
      <p:sp>
        <p:nvSpPr>
          <p:cNvPr id="34" name="Shape 22"/>
          <p:cNvSpPr/>
          <p:nvPr/>
        </p:nvSpPr>
        <p:spPr>
          <a:xfrm>
            <a:off x="6537960" y="5038344"/>
            <a:ext cx="365760" cy="365760"/>
          </a:xfrm>
          <a:prstGeom prst="ellipse">
            <a:avLst/>
          </a:prstGeom>
          <a:solidFill>
            <a:srgbClr val="FFFFFF"/>
          </a:solidFill>
          <a:ln/>
        </p:spPr>
        <p:txBody>
          <a:bodyPr/>
          <a:lstStyle/>
          <a:p>
            <a:endParaRPr lang="en-US"/>
          </a:p>
        </p:txBody>
      </p:sp>
      <p:pic>
        <p:nvPicPr>
          <p:cNvPr id="35" name="Image 10" descr="/home/claude/aurora/icons/minus_7C3AED.png"/>
          <p:cNvPicPr>
            <a:picLocks noChangeAspect="1"/>
          </p:cNvPicPr>
          <p:nvPr/>
        </p:nvPicPr>
        <p:blipFill>
          <a:blip r:embed="rId7"/>
          <a:stretch>
            <a:fillRect/>
          </a:stretch>
        </p:blipFill>
        <p:spPr>
          <a:xfrm>
            <a:off x="6611112" y="5111496"/>
            <a:ext cx="219456" cy="219456"/>
          </a:xfrm>
          <a:prstGeom prst="rect">
            <a:avLst/>
          </a:prstGeom>
        </p:spPr>
      </p:pic>
      <p:sp>
        <p:nvSpPr>
          <p:cNvPr id="36" name="Text 23"/>
          <p:cNvSpPr/>
          <p:nvPr/>
        </p:nvSpPr>
        <p:spPr>
          <a:xfrm>
            <a:off x="7040880" y="4992624"/>
            <a:ext cx="4297680" cy="502920"/>
          </a:xfrm>
          <a:prstGeom prst="rect">
            <a:avLst/>
          </a:prstGeom>
          <a:noFill/>
          <a:ln/>
        </p:spPr>
        <p:txBody>
          <a:bodyPr wrap="square" lIns="0" tIns="0" rIns="0" bIns="0" rtlCol="0" anchor="ctr"/>
          <a:lstStyle/>
          <a:p>
            <a:pPr marL="0" indent="0">
              <a:lnSpc>
                <a:spcPct val="115000"/>
              </a:lnSpc>
              <a:buNone/>
            </a:pPr>
            <a:r>
              <a:rPr lang="en-US" sz="1200" dirty="0">
                <a:solidFill>
                  <a:srgbClr val="1E293B"/>
                </a:solidFill>
                <a:latin typeface="Calibri" pitchFamily="34" charset="0"/>
                <a:ea typeface="Calibri" pitchFamily="34" charset="-122"/>
                <a:cs typeface="Calibri" pitchFamily="34" charset="-120"/>
              </a:rPr>
              <a:t>Content similarity alone cannot capture evolving taste</a:t>
            </a:r>
            <a:endParaRPr lang="en-US" sz="1200" dirty="0"/>
          </a:p>
        </p:txBody>
      </p:sp>
      <p:sp>
        <p:nvSpPr>
          <p:cNvPr id="37" name="Text 24"/>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WHAT'S NEXT</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400" b="1" dirty="0">
                <a:solidFill>
                  <a:srgbClr val="1E293B"/>
                </a:solidFill>
                <a:latin typeface="Cambria" pitchFamily="34" charset="0"/>
                <a:ea typeface="Cambria" pitchFamily="34" charset="-122"/>
                <a:cs typeface="Cambria" pitchFamily="34" charset="-120"/>
              </a:rPr>
              <a:t>Future Scope</a:t>
            </a:r>
            <a:endParaRPr lang="en-US" sz="3400" dirty="0"/>
          </a:p>
        </p:txBody>
      </p:sp>
      <p:sp>
        <p:nvSpPr>
          <p:cNvPr id="5" name="Shape 2"/>
          <p:cNvSpPr/>
          <p:nvPr/>
        </p:nvSpPr>
        <p:spPr>
          <a:xfrm>
            <a:off x="640080" y="182880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6" name="Shape 3"/>
          <p:cNvSpPr/>
          <p:nvPr/>
        </p:nvSpPr>
        <p:spPr>
          <a:xfrm>
            <a:off x="841248" y="2029968"/>
            <a:ext cx="548640" cy="548640"/>
          </a:xfrm>
          <a:prstGeom prst="ellipse">
            <a:avLst/>
          </a:prstGeom>
          <a:solidFill>
            <a:srgbClr val="E5F7FA"/>
          </a:solidFill>
          <a:ln/>
        </p:spPr>
        <p:txBody>
          <a:bodyPr/>
          <a:lstStyle/>
          <a:p>
            <a:endParaRPr lang="en-US"/>
          </a:p>
        </p:txBody>
      </p:sp>
      <p:pic>
        <p:nvPicPr>
          <p:cNvPr id="7" name="Image 1" descr="/home/claude/aurora/icons/chatbot_1E3FD6.png"/>
          <p:cNvPicPr>
            <a:picLocks noChangeAspect="1"/>
          </p:cNvPicPr>
          <p:nvPr/>
        </p:nvPicPr>
        <p:blipFill>
          <a:blip r:embed="rId4"/>
          <a:stretch>
            <a:fillRect/>
          </a:stretch>
        </p:blipFill>
        <p:spPr>
          <a:xfrm>
            <a:off x="964692" y="2153412"/>
            <a:ext cx="301752" cy="301752"/>
          </a:xfrm>
          <a:prstGeom prst="rect">
            <a:avLst/>
          </a:prstGeom>
        </p:spPr>
      </p:pic>
      <p:sp>
        <p:nvSpPr>
          <p:cNvPr id="8" name="Text 4"/>
          <p:cNvSpPr/>
          <p:nvPr/>
        </p:nvSpPr>
        <p:spPr>
          <a:xfrm>
            <a:off x="822960" y="267004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AI Chatbot</a:t>
            </a:r>
            <a:endParaRPr lang="en-US" sz="1150" dirty="0"/>
          </a:p>
        </p:txBody>
      </p:sp>
      <p:sp>
        <p:nvSpPr>
          <p:cNvPr id="9" name="Text 5"/>
          <p:cNvSpPr/>
          <p:nvPr/>
        </p:nvSpPr>
        <p:spPr>
          <a:xfrm>
            <a:off x="822960" y="297180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Conversational shopping assistant for guided discovery.</a:t>
            </a:r>
            <a:endParaRPr lang="en-US" sz="900" dirty="0"/>
          </a:p>
        </p:txBody>
      </p:sp>
      <p:sp>
        <p:nvSpPr>
          <p:cNvPr id="10" name="Shape 6"/>
          <p:cNvSpPr/>
          <p:nvPr/>
        </p:nvSpPr>
        <p:spPr>
          <a:xfrm>
            <a:off x="3447288" y="182880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1" name="Shape 7"/>
          <p:cNvSpPr/>
          <p:nvPr/>
        </p:nvSpPr>
        <p:spPr>
          <a:xfrm>
            <a:off x="3648456" y="2029968"/>
            <a:ext cx="548640" cy="548640"/>
          </a:xfrm>
          <a:prstGeom prst="ellipse">
            <a:avLst/>
          </a:prstGeom>
          <a:solidFill>
            <a:srgbClr val="E5F7FA"/>
          </a:solidFill>
          <a:ln/>
        </p:spPr>
        <p:txBody>
          <a:bodyPr/>
          <a:lstStyle/>
          <a:p>
            <a:endParaRPr lang="en-US"/>
          </a:p>
        </p:txBody>
      </p:sp>
      <p:pic>
        <p:nvPicPr>
          <p:cNvPr id="12" name="Image 2" descr="/home/claude/aurora/icons/voice_7C3AED.png"/>
          <p:cNvPicPr>
            <a:picLocks noChangeAspect="1"/>
          </p:cNvPicPr>
          <p:nvPr/>
        </p:nvPicPr>
        <p:blipFill>
          <a:blip r:embed="rId5"/>
          <a:stretch>
            <a:fillRect/>
          </a:stretch>
        </p:blipFill>
        <p:spPr>
          <a:xfrm>
            <a:off x="3771900" y="2153412"/>
            <a:ext cx="301752" cy="301752"/>
          </a:xfrm>
          <a:prstGeom prst="rect">
            <a:avLst/>
          </a:prstGeom>
        </p:spPr>
      </p:pic>
      <p:sp>
        <p:nvSpPr>
          <p:cNvPr id="13" name="Text 8"/>
          <p:cNvSpPr/>
          <p:nvPr/>
        </p:nvSpPr>
        <p:spPr>
          <a:xfrm>
            <a:off x="3630168" y="267004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Voice Search</a:t>
            </a:r>
            <a:endParaRPr lang="en-US" sz="1150" dirty="0"/>
          </a:p>
        </p:txBody>
      </p:sp>
      <p:sp>
        <p:nvSpPr>
          <p:cNvPr id="14" name="Text 9"/>
          <p:cNvSpPr/>
          <p:nvPr/>
        </p:nvSpPr>
        <p:spPr>
          <a:xfrm>
            <a:off x="3630168" y="297180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Hands-free product search using natural speech.</a:t>
            </a:r>
            <a:endParaRPr lang="en-US" sz="900" dirty="0"/>
          </a:p>
        </p:txBody>
      </p:sp>
      <p:sp>
        <p:nvSpPr>
          <p:cNvPr id="15" name="Shape 10"/>
          <p:cNvSpPr/>
          <p:nvPr/>
        </p:nvSpPr>
        <p:spPr>
          <a:xfrm>
            <a:off x="6254496" y="182880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16" name="Shape 11"/>
          <p:cNvSpPr/>
          <p:nvPr/>
        </p:nvSpPr>
        <p:spPr>
          <a:xfrm>
            <a:off x="6455664" y="2029968"/>
            <a:ext cx="548640" cy="548640"/>
          </a:xfrm>
          <a:prstGeom prst="ellipse">
            <a:avLst/>
          </a:prstGeom>
          <a:solidFill>
            <a:srgbClr val="E5F7FA"/>
          </a:solidFill>
          <a:ln/>
        </p:spPr>
        <p:txBody>
          <a:bodyPr/>
          <a:lstStyle/>
          <a:p>
            <a:endParaRPr lang="en-US"/>
          </a:p>
        </p:txBody>
      </p:sp>
      <p:pic>
        <p:nvPicPr>
          <p:cNvPr id="17" name="Image 3" descr="/home/claude/aurora/icons/mobileApp_0891B2.png"/>
          <p:cNvPicPr>
            <a:picLocks noChangeAspect="1"/>
          </p:cNvPicPr>
          <p:nvPr/>
        </p:nvPicPr>
        <p:blipFill>
          <a:blip r:embed="rId6"/>
          <a:stretch>
            <a:fillRect/>
          </a:stretch>
        </p:blipFill>
        <p:spPr>
          <a:xfrm>
            <a:off x="6579108" y="2153412"/>
            <a:ext cx="301752" cy="301752"/>
          </a:xfrm>
          <a:prstGeom prst="rect">
            <a:avLst/>
          </a:prstGeom>
        </p:spPr>
      </p:pic>
      <p:sp>
        <p:nvSpPr>
          <p:cNvPr id="18" name="Text 12"/>
          <p:cNvSpPr/>
          <p:nvPr/>
        </p:nvSpPr>
        <p:spPr>
          <a:xfrm>
            <a:off x="6437376" y="267004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Mobile App</a:t>
            </a:r>
            <a:endParaRPr lang="en-US" sz="1150" dirty="0"/>
          </a:p>
        </p:txBody>
      </p:sp>
      <p:sp>
        <p:nvSpPr>
          <p:cNvPr id="19" name="Text 13"/>
          <p:cNvSpPr/>
          <p:nvPr/>
        </p:nvSpPr>
        <p:spPr>
          <a:xfrm>
            <a:off x="6437376" y="297180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Native app for on-the-go personalized shopping.</a:t>
            </a:r>
            <a:endParaRPr lang="en-US" sz="900" dirty="0"/>
          </a:p>
        </p:txBody>
      </p:sp>
      <p:sp>
        <p:nvSpPr>
          <p:cNvPr id="20" name="Shape 14"/>
          <p:cNvSpPr/>
          <p:nvPr/>
        </p:nvSpPr>
        <p:spPr>
          <a:xfrm>
            <a:off x="9061704" y="182880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1" name="Shape 15"/>
          <p:cNvSpPr/>
          <p:nvPr/>
        </p:nvSpPr>
        <p:spPr>
          <a:xfrm>
            <a:off x="9262872" y="2029968"/>
            <a:ext cx="548640" cy="548640"/>
          </a:xfrm>
          <a:prstGeom prst="ellipse">
            <a:avLst/>
          </a:prstGeom>
          <a:solidFill>
            <a:srgbClr val="E5F7FA"/>
          </a:solidFill>
          <a:ln/>
        </p:spPr>
        <p:txBody>
          <a:bodyPr/>
          <a:lstStyle/>
          <a:p>
            <a:endParaRPr lang="en-US"/>
          </a:p>
        </p:txBody>
      </p:sp>
      <p:pic>
        <p:nvPicPr>
          <p:cNvPr id="22" name="Image 4" descr="/home/claude/aurora/icons/deepLearning_1E3FD6.png"/>
          <p:cNvPicPr>
            <a:picLocks noChangeAspect="1"/>
          </p:cNvPicPr>
          <p:nvPr/>
        </p:nvPicPr>
        <p:blipFill>
          <a:blip r:embed="rId7"/>
          <a:stretch>
            <a:fillRect/>
          </a:stretch>
        </p:blipFill>
        <p:spPr>
          <a:xfrm>
            <a:off x="9386316" y="2153412"/>
            <a:ext cx="301752" cy="301752"/>
          </a:xfrm>
          <a:prstGeom prst="rect">
            <a:avLst/>
          </a:prstGeom>
        </p:spPr>
      </p:pic>
      <p:sp>
        <p:nvSpPr>
          <p:cNvPr id="23" name="Text 16"/>
          <p:cNvSpPr/>
          <p:nvPr/>
        </p:nvSpPr>
        <p:spPr>
          <a:xfrm>
            <a:off x="9244584" y="267004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Deep Learning</a:t>
            </a:r>
            <a:endParaRPr lang="en-US" sz="1150" dirty="0"/>
          </a:p>
        </p:txBody>
      </p:sp>
      <p:sp>
        <p:nvSpPr>
          <p:cNvPr id="24" name="Text 17"/>
          <p:cNvSpPr/>
          <p:nvPr/>
        </p:nvSpPr>
        <p:spPr>
          <a:xfrm>
            <a:off x="9244584" y="297180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Neural models to capture richer taste signals.</a:t>
            </a:r>
            <a:endParaRPr lang="en-US" sz="900" dirty="0"/>
          </a:p>
        </p:txBody>
      </p:sp>
      <p:sp>
        <p:nvSpPr>
          <p:cNvPr id="25" name="Shape 18"/>
          <p:cNvSpPr/>
          <p:nvPr/>
        </p:nvSpPr>
        <p:spPr>
          <a:xfrm>
            <a:off x="640080" y="374904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26" name="Shape 19"/>
          <p:cNvSpPr/>
          <p:nvPr/>
        </p:nvSpPr>
        <p:spPr>
          <a:xfrm>
            <a:off x="841248" y="3950208"/>
            <a:ext cx="548640" cy="548640"/>
          </a:xfrm>
          <a:prstGeom prst="ellipse">
            <a:avLst/>
          </a:prstGeom>
          <a:solidFill>
            <a:srgbClr val="E5F7FA"/>
          </a:solidFill>
          <a:ln/>
        </p:spPr>
        <p:txBody>
          <a:bodyPr/>
          <a:lstStyle/>
          <a:p>
            <a:endParaRPr lang="en-US"/>
          </a:p>
        </p:txBody>
      </p:sp>
      <p:pic>
        <p:nvPicPr>
          <p:cNvPr id="27" name="Image 5" descr="/home/claude/aurora/icons/cloud_1E3FD6.png"/>
          <p:cNvPicPr>
            <a:picLocks noChangeAspect="1"/>
          </p:cNvPicPr>
          <p:nvPr/>
        </p:nvPicPr>
        <p:blipFill>
          <a:blip r:embed="rId8"/>
          <a:stretch>
            <a:fillRect/>
          </a:stretch>
        </p:blipFill>
        <p:spPr>
          <a:xfrm>
            <a:off x="964692" y="4073652"/>
            <a:ext cx="301752" cy="301752"/>
          </a:xfrm>
          <a:prstGeom prst="rect">
            <a:avLst/>
          </a:prstGeom>
        </p:spPr>
      </p:pic>
      <p:sp>
        <p:nvSpPr>
          <p:cNvPr id="28" name="Text 20"/>
          <p:cNvSpPr/>
          <p:nvPr/>
        </p:nvSpPr>
        <p:spPr>
          <a:xfrm>
            <a:off x="822960" y="459028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Cloud Deployment</a:t>
            </a:r>
            <a:endParaRPr lang="en-US" sz="1150" dirty="0"/>
          </a:p>
        </p:txBody>
      </p:sp>
      <p:sp>
        <p:nvSpPr>
          <p:cNvPr id="29" name="Text 21"/>
          <p:cNvSpPr/>
          <p:nvPr/>
        </p:nvSpPr>
        <p:spPr>
          <a:xfrm>
            <a:off x="822960" y="489204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Scalable hosting for real-world traffic loads.</a:t>
            </a:r>
            <a:endParaRPr lang="en-US" sz="900" dirty="0"/>
          </a:p>
        </p:txBody>
      </p:sp>
      <p:sp>
        <p:nvSpPr>
          <p:cNvPr id="30" name="Shape 22"/>
          <p:cNvSpPr/>
          <p:nvPr/>
        </p:nvSpPr>
        <p:spPr>
          <a:xfrm>
            <a:off x="3447288" y="374904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1" name="Shape 23"/>
          <p:cNvSpPr/>
          <p:nvPr/>
        </p:nvSpPr>
        <p:spPr>
          <a:xfrm>
            <a:off x="3648456" y="3950208"/>
            <a:ext cx="548640" cy="548640"/>
          </a:xfrm>
          <a:prstGeom prst="ellipse">
            <a:avLst/>
          </a:prstGeom>
          <a:solidFill>
            <a:srgbClr val="E5F7FA"/>
          </a:solidFill>
          <a:ln/>
        </p:spPr>
        <p:txBody>
          <a:bodyPr/>
          <a:lstStyle/>
          <a:p>
            <a:endParaRPr lang="en-US"/>
          </a:p>
        </p:txBody>
      </p:sp>
      <p:pic>
        <p:nvPicPr>
          <p:cNvPr id="32" name="Image 6" descr="/home/claude/aurora/icons/dashboard_7C3AED.png"/>
          <p:cNvPicPr>
            <a:picLocks noChangeAspect="1"/>
          </p:cNvPicPr>
          <p:nvPr/>
        </p:nvPicPr>
        <p:blipFill>
          <a:blip r:embed="rId9"/>
          <a:stretch>
            <a:fillRect/>
          </a:stretch>
        </p:blipFill>
        <p:spPr>
          <a:xfrm>
            <a:off x="3771900" y="4073652"/>
            <a:ext cx="301752" cy="301752"/>
          </a:xfrm>
          <a:prstGeom prst="rect">
            <a:avLst/>
          </a:prstGeom>
        </p:spPr>
      </p:pic>
      <p:sp>
        <p:nvSpPr>
          <p:cNvPr id="33" name="Text 24"/>
          <p:cNvSpPr/>
          <p:nvPr/>
        </p:nvSpPr>
        <p:spPr>
          <a:xfrm>
            <a:off x="3630168" y="459028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Admin Dashboard</a:t>
            </a:r>
            <a:endParaRPr lang="en-US" sz="1150" dirty="0"/>
          </a:p>
        </p:txBody>
      </p:sp>
      <p:sp>
        <p:nvSpPr>
          <p:cNvPr id="34" name="Text 25"/>
          <p:cNvSpPr/>
          <p:nvPr/>
        </p:nvSpPr>
        <p:spPr>
          <a:xfrm>
            <a:off x="3630168" y="489204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Analytics and control panel for store administrators.</a:t>
            </a:r>
            <a:endParaRPr lang="en-US" sz="900" dirty="0"/>
          </a:p>
        </p:txBody>
      </p:sp>
      <p:sp>
        <p:nvSpPr>
          <p:cNvPr id="35" name="Shape 26"/>
          <p:cNvSpPr/>
          <p:nvPr/>
        </p:nvSpPr>
        <p:spPr>
          <a:xfrm>
            <a:off x="6254496" y="3749040"/>
            <a:ext cx="2606040" cy="1691640"/>
          </a:xfrm>
          <a:prstGeom prst="roundRect">
            <a:avLst>
              <a:gd name="adj" fmla="val 6486"/>
            </a:avLst>
          </a:prstGeom>
          <a:solidFill>
            <a:srgbClr val="FFFFFF"/>
          </a:solidFill>
          <a:ln w="9525">
            <a:solidFill>
              <a:srgbClr val="E2E8F0"/>
            </a:solidFill>
            <a:prstDash val="solid"/>
          </a:ln>
          <a:effectLst>
            <a:outerShdw blurRad="127000" dist="38100" dir="5400000" algn="bl" rotWithShape="0">
              <a:srgbClr val="9AA5C7">
                <a:alpha val="25000"/>
              </a:srgbClr>
            </a:outerShdw>
          </a:effectLst>
        </p:spPr>
        <p:txBody>
          <a:bodyPr/>
          <a:lstStyle/>
          <a:p>
            <a:endParaRPr lang="en-US"/>
          </a:p>
        </p:txBody>
      </p:sp>
      <p:sp>
        <p:nvSpPr>
          <p:cNvPr id="36" name="Shape 27"/>
          <p:cNvSpPr/>
          <p:nvPr/>
        </p:nvSpPr>
        <p:spPr>
          <a:xfrm>
            <a:off x="6455664" y="3950208"/>
            <a:ext cx="548640" cy="548640"/>
          </a:xfrm>
          <a:prstGeom prst="ellipse">
            <a:avLst/>
          </a:prstGeom>
          <a:solidFill>
            <a:srgbClr val="E5F7FA"/>
          </a:solidFill>
          <a:ln/>
        </p:spPr>
        <p:txBody>
          <a:bodyPr/>
          <a:lstStyle/>
          <a:p>
            <a:endParaRPr lang="en-US"/>
          </a:p>
        </p:txBody>
      </p:sp>
      <p:pic>
        <p:nvPicPr>
          <p:cNvPr id="37" name="Image 7" descr="/home/claude/aurora/icons/realtime_0891B2.png"/>
          <p:cNvPicPr>
            <a:picLocks noChangeAspect="1"/>
          </p:cNvPicPr>
          <p:nvPr/>
        </p:nvPicPr>
        <p:blipFill>
          <a:blip r:embed="rId10"/>
          <a:stretch>
            <a:fillRect/>
          </a:stretch>
        </p:blipFill>
        <p:spPr>
          <a:xfrm>
            <a:off x="6579108" y="4073652"/>
            <a:ext cx="301752" cy="301752"/>
          </a:xfrm>
          <a:prstGeom prst="rect">
            <a:avLst/>
          </a:prstGeom>
        </p:spPr>
      </p:pic>
      <p:sp>
        <p:nvSpPr>
          <p:cNvPr id="38" name="Text 28"/>
          <p:cNvSpPr/>
          <p:nvPr/>
        </p:nvSpPr>
        <p:spPr>
          <a:xfrm>
            <a:off x="6437376" y="4590288"/>
            <a:ext cx="2240280" cy="32004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Real-Time Recommendation</a:t>
            </a:r>
            <a:endParaRPr lang="en-US" sz="1150" dirty="0"/>
          </a:p>
        </p:txBody>
      </p:sp>
      <p:sp>
        <p:nvSpPr>
          <p:cNvPr id="39" name="Text 29"/>
          <p:cNvSpPr/>
          <p:nvPr/>
        </p:nvSpPr>
        <p:spPr>
          <a:xfrm>
            <a:off x="6437376" y="4892040"/>
            <a:ext cx="2240280" cy="502920"/>
          </a:xfrm>
          <a:prstGeom prst="rect">
            <a:avLst/>
          </a:prstGeom>
          <a:noFill/>
          <a:ln/>
        </p:spPr>
        <p:txBody>
          <a:bodyPr wrap="square" lIns="0" tIns="0" rIns="0" bIns="0" rtlCol="0" anchor="ctr"/>
          <a:lstStyle/>
          <a:p>
            <a:pPr marL="0" indent="0">
              <a:lnSpc>
                <a:spcPct val="115000"/>
              </a:lnSpc>
              <a:buNone/>
            </a:pPr>
            <a:r>
              <a:rPr lang="en-US" sz="900" dirty="0">
                <a:solidFill>
                  <a:srgbClr val="64748B"/>
                </a:solidFill>
                <a:latin typeface="Calibri" pitchFamily="34" charset="0"/>
                <a:ea typeface="Calibri" pitchFamily="34" charset="-122"/>
                <a:cs typeface="Calibri" pitchFamily="34" charset="-120"/>
              </a:rPr>
              <a:t>Instant updates as user behaviour changes live.</a:t>
            </a:r>
            <a:endParaRPr lang="en-US" sz="900" dirty="0"/>
          </a:p>
        </p:txBody>
      </p:sp>
      <p:sp>
        <p:nvSpPr>
          <p:cNvPr id="40" name="Text 30"/>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aurora/icons/bg_content.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40080" y="457200"/>
            <a:ext cx="5486400" cy="320040"/>
          </a:xfrm>
          <a:prstGeom prst="rect">
            <a:avLst/>
          </a:prstGeom>
          <a:noFill/>
          <a:ln/>
        </p:spPr>
        <p:txBody>
          <a:bodyPr wrap="square" lIns="0" tIns="0" rIns="0" bIns="0" rtlCol="0" anchor="ctr"/>
          <a:lstStyle/>
          <a:p>
            <a:pPr marL="0" indent="0">
              <a:buNone/>
            </a:pPr>
            <a:r>
              <a:rPr lang="en-US" sz="1200" b="1" kern="0" spc="200" dirty="0">
                <a:solidFill>
                  <a:srgbClr val="0891B2"/>
                </a:solidFill>
                <a:latin typeface="Calibri" pitchFamily="34" charset="0"/>
                <a:ea typeface="Calibri" pitchFamily="34" charset="-122"/>
                <a:cs typeface="Calibri" pitchFamily="34" charset="-120"/>
              </a:rPr>
              <a:t>WRAPPING UP</a:t>
            </a:r>
            <a:endParaRPr lang="en-US" sz="1200" dirty="0"/>
          </a:p>
        </p:txBody>
      </p:sp>
      <p:sp>
        <p:nvSpPr>
          <p:cNvPr id="4" name="Text 1"/>
          <p:cNvSpPr/>
          <p:nvPr/>
        </p:nvSpPr>
        <p:spPr>
          <a:xfrm>
            <a:off x="640080" y="749808"/>
            <a:ext cx="8686800" cy="822960"/>
          </a:xfrm>
          <a:prstGeom prst="rect">
            <a:avLst/>
          </a:prstGeom>
          <a:noFill/>
          <a:ln/>
        </p:spPr>
        <p:txBody>
          <a:bodyPr wrap="square" lIns="0" tIns="0" rIns="0" bIns="0" rtlCol="0" anchor="ctr"/>
          <a:lstStyle/>
          <a:p>
            <a:pPr marL="0" indent="0" algn="l">
              <a:buNone/>
            </a:pPr>
            <a:r>
              <a:rPr lang="en-US" sz="3800" b="1" dirty="0">
                <a:solidFill>
                  <a:srgbClr val="1E293B"/>
                </a:solidFill>
                <a:latin typeface="Cambria" pitchFamily="34" charset="0"/>
                <a:ea typeface="Cambria" pitchFamily="34" charset="-122"/>
                <a:cs typeface="Cambria" pitchFamily="34" charset="-120"/>
              </a:rPr>
              <a:t>Conclusion</a:t>
            </a:r>
            <a:endParaRPr lang="en-US" sz="3800" dirty="0"/>
          </a:p>
        </p:txBody>
      </p:sp>
      <p:sp>
        <p:nvSpPr>
          <p:cNvPr id="5" name="Text 2"/>
          <p:cNvSpPr/>
          <p:nvPr/>
        </p:nvSpPr>
        <p:spPr>
          <a:xfrm>
            <a:off x="822960" y="2103120"/>
            <a:ext cx="7863840" cy="1737360"/>
          </a:xfrm>
          <a:prstGeom prst="rect">
            <a:avLst/>
          </a:prstGeom>
          <a:noFill/>
          <a:ln/>
        </p:spPr>
        <p:txBody>
          <a:bodyPr wrap="square" lIns="0" tIns="0" rIns="0" bIns="0" rtlCol="0" anchor="ctr"/>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Aurora AI demonstrates how combining content-based and collaborative filtering</a:t>
            </a:r>
            <a:endParaRPr lang="en-US" sz="1600" dirty="0"/>
          </a:p>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creates a recommendation engine that is more accurate and useful than either</a:t>
            </a:r>
            <a:endParaRPr lang="en-US" sz="1600" dirty="0"/>
          </a:p>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method alone — directly solving the decision fatigue and search-time problems</a:t>
            </a:r>
            <a:endParaRPr lang="en-US" sz="1600" dirty="0"/>
          </a:p>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faced by today’s online shoppers.</a:t>
            </a:r>
            <a:endParaRPr lang="en-US" sz="1600" dirty="0"/>
          </a:p>
        </p:txBody>
      </p:sp>
      <p:sp>
        <p:nvSpPr>
          <p:cNvPr id="6" name="Shape 3"/>
          <p:cNvSpPr/>
          <p:nvPr/>
        </p:nvSpPr>
        <p:spPr>
          <a:xfrm>
            <a:off x="822960" y="4114800"/>
            <a:ext cx="502920" cy="502920"/>
          </a:xfrm>
          <a:prstGeom prst="ellipse">
            <a:avLst/>
          </a:prstGeom>
          <a:solidFill>
            <a:srgbClr val="E5F7FA"/>
          </a:solidFill>
          <a:ln/>
        </p:spPr>
        <p:txBody>
          <a:bodyPr/>
          <a:lstStyle/>
          <a:p>
            <a:endParaRPr lang="en-US"/>
          </a:p>
        </p:txBody>
      </p:sp>
      <p:pic>
        <p:nvPicPr>
          <p:cNvPr id="7" name="Image 1" descr="/home/claude/aurora/icons/hybrid_1E3FD6.png"/>
          <p:cNvPicPr>
            <a:picLocks noChangeAspect="1"/>
          </p:cNvPicPr>
          <p:nvPr/>
        </p:nvPicPr>
        <p:blipFill>
          <a:blip r:embed="rId4"/>
          <a:stretch>
            <a:fillRect/>
          </a:stretch>
        </p:blipFill>
        <p:spPr>
          <a:xfrm>
            <a:off x="936117" y="4227957"/>
            <a:ext cx="276606" cy="276606"/>
          </a:xfrm>
          <a:prstGeom prst="rect">
            <a:avLst/>
          </a:prstGeom>
        </p:spPr>
      </p:pic>
      <p:sp>
        <p:nvSpPr>
          <p:cNvPr id="8" name="Text 4"/>
          <p:cNvSpPr/>
          <p:nvPr/>
        </p:nvSpPr>
        <p:spPr>
          <a:xfrm>
            <a:off x="1463040" y="4133088"/>
            <a:ext cx="685800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Hybrid modeling delivers stronger accuracy</a:t>
            </a:r>
            <a:endParaRPr lang="en-US" sz="1300" dirty="0"/>
          </a:p>
        </p:txBody>
      </p:sp>
      <p:sp>
        <p:nvSpPr>
          <p:cNvPr id="9" name="Shape 5"/>
          <p:cNvSpPr/>
          <p:nvPr/>
        </p:nvSpPr>
        <p:spPr>
          <a:xfrm>
            <a:off x="822960" y="4800600"/>
            <a:ext cx="502920" cy="502920"/>
          </a:xfrm>
          <a:prstGeom prst="ellipse">
            <a:avLst/>
          </a:prstGeom>
          <a:solidFill>
            <a:srgbClr val="E5F7FA"/>
          </a:solidFill>
          <a:ln/>
        </p:spPr>
        <p:txBody>
          <a:bodyPr/>
          <a:lstStyle/>
          <a:p>
            <a:endParaRPr lang="en-US"/>
          </a:p>
        </p:txBody>
      </p:sp>
      <p:pic>
        <p:nvPicPr>
          <p:cNvPr id="10" name="Image 2" descr="/home/claude/aurora/icons/experience_1E3FD6.png"/>
          <p:cNvPicPr>
            <a:picLocks noChangeAspect="1"/>
          </p:cNvPicPr>
          <p:nvPr/>
        </p:nvPicPr>
        <p:blipFill>
          <a:blip r:embed="rId5"/>
          <a:stretch>
            <a:fillRect/>
          </a:stretch>
        </p:blipFill>
        <p:spPr>
          <a:xfrm>
            <a:off x="936117" y="4913757"/>
            <a:ext cx="276606" cy="276606"/>
          </a:xfrm>
          <a:prstGeom prst="rect">
            <a:avLst/>
          </a:prstGeom>
        </p:spPr>
      </p:pic>
      <p:sp>
        <p:nvSpPr>
          <p:cNvPr id="11" name="Text 6"/>
          <p:cNvSpPr/>
          <p:nvPr/>
        </p:nvSpPr>
        <p:spPr>
          <a:xfrm>
            <a:off x="1463040" y="4818888"/>
            <a:ext cx="685800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Better, faster shopping experience</a:t>
            </a:r>
            <a:endParaRPr lang="en-US" sz="1300" dirty="0"/>
          </a:p>
        </p:txBody>
      </p:sp>
      <p:sp>
        <p:nvSpPr>
          <p:cNvPr id="12" name="Shape 7"/>
          <p:cNvSpPr/>
          <p:nvPr/>
        </p:nvSpPr>
        <p:spPr>
          <a:xfrm>
            <a:off x="822960" y="5486400"/>
            <a:ext cx="502920" cy="502920"/>
          </a:xfrm>
          <a:prstGeom prst="ellipse">
            <a:avLst/>
          </a:prstGeom>
          <a:solidFill>
            <a:srgbClr val="E5F7FA"/>
          </a:solidFill>
          <a:ln/>
        </p:spPr>
        <p:txBody>
          <a:bodyPr/>
          <a:lstStyle/>
          <a:p>
            <a:endParaRPr lang="en-US"/>
          </a:p>
        </p:txBody>
      </p:sp>
      <p:pic>
        <p:nvPicPr>
          <p:cNvPr id="13" name="Image 3" descr="/home/claude/aurora/icons/cloud_1E3FD6.png"/>
          <p:cNvPicPr>
            <a:picLocks noChangeAspect="1"/>
          </p:cNvPicPr>
          <p:nvPr/>
        </p:nvPicPr>
        <p:blipFill>
          <a:blip r:embed="rId6"/>
          <a:stretch>
            <a:fillRect/>
          </a:stretch>
        </p:blipFill>
        <p:spPr>
          <a:xfrm>
            <a:off x="936117" y="5599557"/>
            <a:ext cx="276606" cy="276606"/>
          </a:xfrm>
          <a:prstGeom prst="rect">
            <a:avLst/>
          </a:prstGeom>
        </p:spPr>
      </p:pic>
      <p:sp>
        <p:nvSpPr>
          <p:cNvPr id="14" name="Text 8"/>
          <p:cNvSpPr/>
          <p:nvPr/>
        </p:nvSpPr>
        <p:spPr>
          <a:xfrm>
            <a:off x="1463040" y="5504688"/>
            <a:ext cx="6858000" cy="45720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Built to extend into a production-ready platform</a:t>
            </a:r>
            <a:endParaRPr lang="en-US" sz="1300" dirty="0"/>
          </a:p>
        </p:txBody>
      </p:sp>
      <p:sp>
        <p:nvSpPr>
          <p:cNvPr id="15" name="Shape 9"/>
          <p:cNvSpPr/>
          <p:nvPr/>
        </p:nvSpPr>
        <p:spPr>
          <a:xfrm>
            <a:off x="9326880" y="2194560"/>
            <a:ext cx="1463040" cy="1463040"/>
          </a:xfrm>
          <a:prstGeom prst="ellipse">
            <a:avLst/>
          </a:prstGeom>
          <a:solidFill>
            <a:srgbClr val="1E3FD6"/>
          </a:solidFill>
          <a:ln/>
        </p:spPr>
        <p:txBody>
          <a:bodyPr/>
          <a:lstStyle/>
          <a:p>
            <a:endParaRPr lang="en-US"/>
          </a:p>
        </p:txBody>
      </p:sp>
      <p:pic>
        <p:nvPicPr>
          <p:cNvPr id="16" name="Image 4" descr="/home/claude/aurora/icons/ai_FFFFFF.png"/>
          <p:cNvPicPr>
            <a:picLocks noChangeAspect="1"/>
          </p:cNvPicPr>
          <p:nvPr/>
        </p:nvPicPr>
        <p:blipFill>
          <a:blip r:embed="rId7"/>
          <a:stretch>
            <a:fillRect/>
          </a:stretch>
        </p:blipFill>
        <p:spPr>
          <a:xfrm>
            <a:off x="9692640" y="2560320"/>
            <a:ext cx="731520" cy="731520"/>
          </a:xfrm>
          <a:prstGeom prst="rect">
            <a:avLst/>
          </a:prstGeom>
        </p:spPr>
      </p:pic>
      <p:sp>
        <p:nvSpPr>
          <p:cNvPr id="17" name="Shape 10"/>
          <p:cNvSpPr/>
          <p:nvPr/>
        </p:nvSpPr>
        <p:spPr>
          <a:xfrm>
            <a:off x="8778240" y="3794760"/>
            <a:ext cx="960120" cy="960120"/>
          </a:xfrm>
          <a:prstGeom prst="ellipse">
            <a:avLst/>
          </a:prstGeom>
          <a:solidFill>
            <a:srgbClr val="7C3AED"/>
          </a:solidFill>
          <a:ln/>
        </p:spPr>
        <p:txBody>
          <a:bodyPr/>
          <a:lstStyle/>
          <a:p>
            <a:endParaRPr lang="en-US"/>
          </a:p>
        </p:txBody>
      </p:sp>
      <p:pic>
        <p:nvPicPr>
          <p:cNvPr id="18" name="Image 5" descr="/home/claude/aurora/icons/recommend_FFFFFF.png"/>
          <p:cNvPicPr>
            <a:picLocks noChangeAspect="1"/>
          </p:cNvPicPr>
          <p:nvPr/>
        </p:nvPicPr>
        <p:blipFill>
          <a:blip r:embed="rId8"/>
          <a:stretch>
            <a:fillRect/>
          </a:stretch>
        </p:blipFill>
        <p:spPr>
          <a:xfrm>
            <a:off x="9018270" y="4034790"/>
            <a:ext cx="480060" cy="480060"/>
          </a:xfrm>
          <a:prstGeom prst="rect">
            <a:avLst/>
          </a:prstGeom>
        </p:spPr>
      </p:pic>
      <p:sp>
        <p:nvSpPr>
          <p:cNvPr id="19" name="Shape 11"/>
          <p:cNvSpPr/>
          <p:nvPr/>
        </p:nvSpPr>
        <p:spPr>
          <a:xfrm>
            <a:off x="9966960" y="4160520"/>
            <a:ext cx="868680" cy="868680"/>
          </a:xfrm>
          <a:prstGeom prst="ellipse">
            <a:avLst/>
          </a:prstGeom>
          <a:solidFill>
            <a:srgbClr val="0891B2"/>
          </a:solidFill>
          <a:ln/>
        </p:spPr>
        <p:txBody>
          <a:bodyPr/>
          <a:lstStyle/>
          <a:p>
            <a:endParaRPr lang="en-US"/>
          </a:p>
        </p:txBody>
      </p:sp>
      <p:pic>
        <p:nvPicPr>
          <p:cNvPr id="20" name="Image 6" descr="/home/claude/aurora/icons/cart_FFFFFF.png"/>
          <p:cNvPicPr>
            <a:picLocks noChangeAspect="1"/>
          </p:cNvPicPr>
          <p:nvPr/>
        </p:nvPicPr>
        <p:blipFill>
          <a:blip r:embed="rId9"/>
          <a:stretch>
            <a:fillRect/>
          </a:stretch>
        </p:blipFill>
        <p:spPr>
          <a:xfrm>
            <a:off x="10184130" y="4377690"/>
            <a:ext cx="434340" cy="434340"/>
          </a:xfrm>
          <a:prstGeom prst="rect">
            <a:avLst/>
          </a:prstGeom>
        </p:spPr>
      </p:pic>
      <p:sp>
        <p:nvSpPr>
          <p:cNvPr id="21" name="Text 12"/>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aurora/icons/bg_dark.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5547208" y="1417320"/>
            <a:ext cx="1097280" cy="1097280"/>
          </a:xfrm>
          <a:prstGeom prst="ellipse">
            <a:avLst/>
          </a:prstGeom>
          <a:solidFill>
            <a:srgbClr val="FFFFFF"/>
          </a:solidFill>
          <a:ln/>
        </p:spPr>
        <p:txBody>
          <a:bodyPr/>
          <a:lstStyle/>
          <a:p>
            <a:endParaRPr lang="en-US"/>
          </a:p>
        </p:txBody>
      </p:sp>
      <p:pic>
        <p:nvPicPr>
          <p:cNvPr id="4" name="Image 1" descr="/home/claude/aurora/icons/ai_1E3FD6.png"/>
          <p:cNvPicPr>
            <a:picLocks noChangeAspect="1"/>
          </p:cNvPicPr>
          <p:nvPr/>
        </p:nvPicPr>
        <p:blipFill>
          <a:blip r:embed="rId4"/>
          <a:stretch>
            <a:fillRect/>
          </a:stretch>
        </p:blipFill>
        <p:spPr>
          <a:xfrm>
            <a:off x="5821528" y="1691640"/>
            <a:ext cx="548640" cy="548640"/>
          </a:xfrm>
          <a:prstGeom prst="rect">
            <a:avLst/>
          </a:prstGeom>
        </p:spPr>
      </p:pic>
      <p:sp>
        <p:nvSpPr>
          <p:cNvPr id="5" name="Text 1"/>
          <p:cNvSpPr/>
          <p:nvPr/>
        </p:nvSpPr>
        <p:spPr>
          <a:xfrm>
            <a:off x="0" y="2743200"/>
            <a:ext cx="12191695" cy="100584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6" name="Text 2"/>
          <p:cNvSpPr/>
          <p:nvPr/>
        </p:nvSpPr>
        <p:spPr>
          <a:xfrm>
            <a:off x="0" y="3703320"/>
            <a:ext cx="12191695" cy="457200"/>
          </a:xfrm>
          <a:prstGeom prst="rect">
            <a:avLst/>
          </a:prstGeom>
          <a:noFill/>
          <a:ln/>
        </p:spPr>
        <p:txBody>
          <a:bodyPr wrap="square" lIns="0" tIns="0" rIns="0" bIns="0" rtlCol="0" anchor="ctr"/>
          <a:lstStyle/>
          <a:p>
            <a:pPr marL="0" indent="0" algn="ctr">
              <a:buNone/>
            </a:pPr>
            <a:r>
              <a:rPr lang="en-US" sz="1500" dirty="0">
                <a:solidFill>
                  <a:srgbClr val="BFD3FF"/>
                </a:solidFill>
                <a:latin typeface="Calibri" pitchFamily="34" charset="0"/>
                <a:ea typeface="Calibri" pitchFamily="34" charset="-122"/>
                <a:cs typeface="Calibri" pitchFamily="34" charset="-120"/>
              </a:rPr>
              <a:t>Aurora AI — Hybrid Product Recommendation System</a:t>
            </a:r>
            <a:endParaRPr lang="en-US" sz="1500" dirty="0"/>
          </a:p>
        </p:txBody>
      </p:sp>
      <p:sp>
        <p:nvSpPr>
          <p:cNvPr id="7" name="Shape 3"/>
          <p:cNvSpPr/>
          <p:nvPr/>
        </p:nvSpPr>
        <p:spPr>
          <a:xfrm>
            <a:off x="5775808" y="4434840"/>
            <a:ext cx="640080" cy="640080"/>
          </a:xfrm>
          <a:prstGeom prst="ellipse">
            <a:avLst/>
          </a:prstGeom>
          <a:solidFill>
            <a:srgbClr val="FFFFFF"/>
          </a:solidFill>
          <a:ln/>
        </p:spPr>
        <p:txBody>
          <a:bodyPr/>
          <a:lstStyle/>
          <a:p>
            <a:endParaRPr lang="en-US"/>
          </a:p>
        </p:txBody>
      </p:sp>
      <p:pic>
        <p:nvPicPr>
          <p:cNvPr id="8" name="Image 2" descr="/home/claude/aurora/icons/question_7C3AED.png"/>
          <p:cNvPicPr>
            <a:picLocks noChangeAspect="1"/>
          </p:cNvPicPr>
          <p:nvPr/>
        </p:nvPicPr>
        <p:blipFill>
          <a:blip r:embed="rId5"/>
          <a:stretch>
            <a:fillRect/>
          </a:stretch>
        </p:blipFill>
        <p:spPr>
          <a:xfrm>
            <a:off x="5935828" y="4594860"/>
            <a:ext cx="320040" cy="320040"/>
          </a:xfrm>
          <a:prstGeom prst="rect">
            <a:avLst/>
          </a:prstGeom>
        </p:spPr>
      </p:pic>
      <p:sp>
        <p:nvSpPr>
          <p:cNvPr id="9" name="Text 4"/>
          <p:cNvSpPr/>
          <p:nvPr/>
        </p:nvSpPr>
        <p:spPr>
          <a:xfrm>
            <a:off x="0" y="5166360"/>
            <a:ext cx="12191695"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Questions?</a:t>
            </a:r>
            <a:endParaRPr lang="en-US" sz="1800" dirty="0"/>
          </a:p>
        </p:txBody>
      </p:sp>
      <p:sp>
        <p:nvSpPr>
          <p:cNvPr id="10" name="Text 5"/>
          <p:cNvSpPr/>
          <p:nvPr/>
        </p:nvSpPr>
        <p:spPr>
          <a:xfrm>
            <a:off x="0" y="6263640"/>
            <a:ext cx="12191695" cy="320040"/>
          </a:xfrm>
          <a:prstGeom prst="rect">
            <a:avLst/>
          </a:prstGeom>
          <a:noFill/>
          <a:ln/>
        </p:spPr>
        <p:txBody>
          <a:bodyPr wrap="square" lIns="0" tIns="0" rIns="0" bIns="0" rtlCol="0" anchor="ctr"/>
          <a:lstStyle/>
          <a:p>
            <a:pPr marL="0" indent="0" algn="ctr">
              <a:buNone/>
            </a:pPr>
            <a:r>
              <a:rPr lang="en-US" sz="1100" dirty="0">
                <a:solidFill>
                  <a:srgbClr val="9FB3E8"/>
                </a:solidFill>
                <a:latin typeface="Calibri" pitchFamily="34" charset="0"/>
                <a:ea typeface="Calibri" pitchFamily="34" charset="-122"/>
                <a:cs typeface="Calibri" pitchFamily="34" charset="-120"/>
              </a:rPr>
              <a:t>[Student Name]   ·   [College / University Name]   ·   [Email / Contact]</a:t>
            </a:r>
            <a:endParaRPr lang="en-US" sz="1100" dirty="0"/>
          </a:p>
        </p:txBody>
      </p:sp>
      <p:sp>
        <p:nvSpPr>
          <p:cNvPr id="11" name="Text 6"/>
          <p:cNvSpPr/>
          <p:nvPr/>
        </p:nvSpPr>
        <p:spPr>
          <a:xfrm>
            <a:off x="11368735" y="6446520"/>
            <a:ext cx="548640" cy="27432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18</a:t>
            </a:r>
            <a:endParaRPr lang="en-US" sz="1000"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1909</Words>
  <Application>Microsoft Office PowerPoint</Application>
  <PresentationFormat>Widescreen</PresentationFormat>
  <Paragraphs>269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Krish Verma</cp:lastModifiedBy>
  <cp:revision>2</cp:revision>
  <dcterms:created xsi:type="dcterms:W3CDTF">2026-07-20T06:19:34Z</dcterms:created>
  <dcterms:modified xsi:type="dcterms:W3CDTF">2026-07-20T07:47:42Z</dcterms:modified>
</cp:coreProperties>
</file>